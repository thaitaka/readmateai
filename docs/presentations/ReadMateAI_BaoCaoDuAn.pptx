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tên dự án và định hướng: một nền tảng giúp học sinh lớp 1 tự luyện Tiếng Việt tại nhà, kết hợp hành trình khám phá. Hình trên là giao diện thật của bản chơi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các khó khăn thường gặp theo giọng tích cực: không phê phán học sinh, chỉ nói về nhu cầu cần được đồng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giá trị: học dễ hiểu, luyện tập thú vị, tiến bộ từng ngày. Ảnh là giao diện bản chơi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nhóm cùng tham gia. Góc phụ huynh chi tiết còn trong kế hoạch phát triển.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toàn bộ vòng lặp một lần luyện tập, từ vào trang học đến khám phá thế giới.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là trang chủ của học sinh trong bản chơi thử. Tên “Mây” và điểm 135 là dữ liệu minh họa hư cấu.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dạng bài, mỗi dạng một khuôn quen thuộc. Các ví dụ trên chỉ là minh họa; nội dung thật cần giáo viên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Hướng dẫn trực quan trên ảnh điện thoại: xem câu hỏi, chọn đáp án, bấm Kiểm tra, xem kết quả. Âm thanh đọc câu lệnh đang chờ triển khai nên các nút loa hiện ghi “Chưa có âm thanh”.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Triết lý: sai là cơ hội để học. Ảnh là màn hình thật của bản chơi thử khi chọn chưa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điểm chỉ để khuyến khích. Không đưa ra số liệu thành tích học tập vì chưa có dữ liệu nghiên cứu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đồ là hình vẽ riêng của dự án. Mỗi mốc 30 điểm tích lũy mở một thẻ khám phá. Chỉ Mê cung kho báu đang được xây dựng; các khu vực khác ghi rõ “Sắp ra mắt”.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lấy từ bản chơi thử của Mê cung kho báu. Bản thử nghiệm giúp làm quen cách đi; phần câu hỏi học tập trong mê cung đang được hoàn thiện.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Hướng dẫn điều khiển: bốn nút mũi tên trên điện thoại, phím mũi tên trên máy tính, nút Tạm dừng và Chơi tiếp. Tự lưu vị trí hoạt động ở chế độ học của học sinh đã liên kết thẻ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ý tưởng đang được hoàn thiện, KHÔNG phải tính năng đã chạy hoàn chỉnh. Đã xong: cơ chế chuẩn bị 7 cuộc chạm trán và 21 câu hỏi mỗi màn (R08.2). Chưa xong: kích hoạt chạm trán, chấm điểm trong game, kho báu (R08.3 trở đi). Hình quái vật là bản phác thảo tự vẽ, chờ giáo viên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Màn hình bên trái là hình minh họa ý tưởng vẽ riêng, không phải ảnh chụp dữ liệu thật. Quản lý lớp và hồ sơ học sinh đã có; theo dõi, duyệt học liệu và vinh danh vẫn đang hoàn thiện. Bảng xếp hạng chưa được bật cho học sinh.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góc phụ huynh chi tiết (xem tiến bộ của con) thuộc kế hoạch phát triển giai đoạn sau, chưa có trong bản hiện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ngắn gọn, không đi vào kỹ thuật: dữ liệu tối thiểu, có đồng ý, giao diện nhẹ nhàng.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nêu những kết quả có thật. Không khẳng định đã thí điểm với học sinh. Tiến độ hiện tại: đã hoàn thành R01–R07 và R08.1, R08.2; chưa làm R08.3–R08.6.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mini-game còn lại được hoãn sau khi nộp dự án, không phải một phần của bản nộp.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bằng thông điệp tích cực và lời cảm 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4773168"/>
            <a:ext cx="5486400" cy="228600"/>
          </a:xfrm>
          <a:prstGeom prst="rect">
            <a:avLst/>
          </a:prstGeom>
          <a:noFill/>
          <a:ln/>
        </p:spPr>
        <p:txBody>
          <a:bodyPr wrap="square" lIns="0" tIns="0" rIns="0" bIns="0" rtlCol="0" anchor="ctr"/>
          <a:lstStyle/>
          <a:p>
            <a:pPr indent="0" marL="0">
              <a:buNone/>
            </a:pPr>
            <a:r>
              <a:rPr lang="en-US" sz="1000" dirty="0">
                <a:solidFill>
                  <a:srgbClr val="566175"/>
                </a:solidFill>
                <a:latin typeface="Calibri" pitchFamily="34" charset="0"/>
                <a:ea typeface="Calibri" pitchFamily="34" charset="-122"/>
                <a:cs typeface="Calibri" pitchFamily="34" charset="-120"/>
              </a:rPr>
              <a:t>ReadMate AI  ·  Học Tiếng Việt qua hành trình khám phá</a:t>
            </a:r>
            <a:endParaRPr lang="en-US" sz="10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44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846320" y="-1097280"/>
            <a:ext cx="5943600" cy="5943600"/>
          </a:xfrm>
          <a:prstGeom prst="ellipse">
            <a:avLst/>
          </a:prstGeom>
          <a:solidFill>
            <a:srgbClr val="1D3B6E">
              <a:alpha val="60000"/>
            </a:srgbClr>
          </a:solidFill>
          <a:ln/>
        </p:spPr>
      </p:sp>
      <p:sp>
        <p:nvSpPr>
          <p:cNvPr id="3" name="Text 1"/>
          <p:cNvSpPr txBox="1"/>
          <p:nvPr/>
        </p:nvSpPr>
        <p:spPr>
          <a:xfrm>
            <a:off x="640080" y="822960"/>
            <a:ext cx="4572000" cy="274320"/>
          </a:xfrm>
          <a:prstGeom prst="rect">
            <a:avLst/>
          </a:prstGeom>
          <a:noFill/>
          <a:ln/>
        </p:spPr>
        <p:txBody>
          <a:bodyPr wrap="square" lIns="0" tIns="0" rIns="0" bIns="0" rtlCol="0" anchor="ctr"/>
          <a:lstStyle/>
          <a:p>
            <a:pPr indent="0" marL="0">
              <a:buNone/>
            </a:pPr>
            <a:r>
              <a:rPr lang="en-US" sz="1200" b="1" spc="400" kern="0" dirty="0">
                <a:solidFill>
                  <a:srgbClr val="C9A24A"/>
                </a:solidFill>
                <a:latin typeface="Calibri" pitchFamily="34" charset="0"/>
                <a:ea typeface="Calibri" pitchFamily="34" charset="-122"/>
                <a:cs typeface="Calibri" pitchFamily="34" charset="-120"/>
              </a:rPr>
              <a:t>BÁO CÁO DỰ ÁN GIÁO DỤC</a:t>
            </a:r>
            <a:endParaRPr lang="en-US" sz="1200" dirty="0"/>
          </a:p>
        </p:txBody>
      </p:sp>
      <p:sp>
        <p:nvSpPr>
          <p:cNvPr id="4" name="Text 2"/>
          <p:cNvSpPr txBox="1"/>
          <p:nvPr/>
        </p:nvSpPr>
        <p:spPr>
          <a:xfrm>
            <a:off x="640080" y="1188720"/>
            <a:ext cx="475488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READMATE AI</a:t>
            </a:r>
            <a:endParaRPr lang="en-US" sz="5000" dirty="0"/>
          </a:p>
        </p:txBody>
      </p:sp>
      <p:sp>
        <p:nvSpPr>
          <p:cNvPr id="5" name="Text 3"/>
          <p:cNvSpPr txBox="1"/>
          <p:nvPr/>
        </p:nvSpPr>
        <p:spPr>
          <a:xfrm>
            <a:off x="640080" y="2194560"/>
            <a:ext cx="4480560" cy="548640"/>
          </a:xfrm>
          <a:prstGeom prst="rect">
            <a:avLst/>
          </a:prstGeom>
          <a:noFill/>
          <a:ln/>
        </p:spPr>
        <p:txBody>
          <a:bodyPr wrap="square" lIns="0" tIns="0" rIns="0" bIns="0" rtlCol="0" anchor="ctr"/>
          <a:lstStyle/>
          <a:p>
            <a:pPr indent="0" marL="0">
              <a:buNone/>
            </a:pPr>
            <a:r>
              <a:rPr lang="en-US" sz="1400" b="1" spc="100" kern="0" dirty="0">
                <a:solidFill>
                  <a:srgbClr val="C9A24A"/>
                </a:solidFill>
                <a:latin typeface="Calibri" pitchFamily="34" charset="0"/>
                <a:ea typeface="Calibri" pitchFamily="34" charset="-122"/>
                <a:cs typeface="Calibri" pitchFamily="34" charset="-120"/>
              </a:rPr>
              <a:t>HỌC TIẾNG VIỆT QUA HÀNH TRÌNH KHÁM PHÁ</a:t>
            </a:r>
            <a:endParaRPr lang="en-US" sz="1400" dirty="0"/>
          </a:p>
        </p:txBody>
      </p:sp>
      <p:sp>
        <p:nvSpPr>
          <p:cNvPr id="6" name="Text 4"/>
          <p:cNvSpPr txBox="1"/>
          <p:nvPr/>
        </p:nvSpPr>
        <p:spPr>
          <a:xfrm>
            <a:off x="640080" y="2926080"/>
            <a:ext cx="4480560" cy="365760"/>
          </a:xfrm>
          <a:prstGeom prst="rect">
            <a:avLst/>
          </a:prstGeom>
          <a:noFill/>
          <a:ln/>
        </p:spPr>
        <p:txBody>
          <a:bodyPr wrap="square" lIns="0" tIns="0" rIns="0" bIns="0" rtlCol="0" anchor="ctr"/>
          <a:lstStyle/>
          <a:p>
            <a:pPr indent="0" marL="0">
              <a:buNone/>
            </a:pPr>
            <a:r>
              <a:rPr lang="en-US" sz="1800" i="1" dirty="0">
                <a:solidFill>
                  <a:srgbClr val="DCE6F5"/>
                </a:solidFill>
                <a:latin typeface="Cambria" pitchFamily="34" charset="0"/>
                <a:ea typeface="Cambria" pitchFamily="34" charset="-122"/>
                <a:cs typeface="Cambria" pitchFamily="34" charset="-120"/>
              </a:rPr>
              <a:t>Học vui mỗi ngày — Tự tin đọc tốt hơn.</a:t>
            </a:r>
            <a:endParaRPr lang="en-US" sz="1800" dirty="0"/>
          </a:p>
        </p:txBody>
      </p:sp>
      <p:sp>
        <p:nvSpPr>
          <p:cNvPr id="7" name="Text 5"/>
          <p:cNvSpPr txBox="1"/>
          <p:nvPr/>
        </p:nvSpPr>
        <p:spPr>
          <a:xfrm>
            <a:off x="640080" y="4114800"/>
            <a:ext cx="4389120" cy="457200"/>
          </a:xfrm>
          <a:prstGeom prst="rect">
            <a:avLst/>
          </a:prstGeom>
          <a:noFill/>
          <a:ln/>
        </p:spPr>
        <p:txBody>
          <a:bodyPr wrap="square" lIns="0" tIns="0" rIns="0" bIns="0" rtlCol="0" anchor="ctr"/>
          <a:lstStyle/>
          <a:p>
            <a:pPr indent="0" marL="0">
              <a:buNone/>
            </a:pPr>
            <a:r>
              <a:rPr lang="en-US" sz="1200" dirty="0">
                <a:solidFill>
                  <a:srgbClr val="AFC0DA"/>
                </a:solidFill>
                <a:latin typeface="Calibri" pitchFamily="34" charset="0"/>
                <a:ea typeface="Calibri" pitchFamily="34" charset="-122"/>
                <a:cs typeface="Calibri" pitchFamily="34" charset="-120"/>
              </a:rPr>
              <a:t>Nền tảng tự luyện Tiếng Việt tại nhà dành cho học sinh lớp 1</a:t>
            </a:r>
            <a:endParaRPr lang="en-US" sz="1200" dirty="0"/>
          </a:p>
        </p:txBody>
      </p:sp>
      <p:pic>
        <p:nvPicPr>
          <p:cNvPr id="8" name="Image 0" descr="Bạn nhỏ thám hiểm và Cú Bông trong thế giới phiêu lưu">    </p:cNvPr>
          <p:cNvPicPr>
            <a:picLocks noChangeAspect="1"/>
          </p:cNvPicPr>
          <p:nvPr/>
        </p:nvPicPr>
        <p:blipFill>
          <a:blip r:embed="rId1"/>
          <a:stretch>
            <a:fillRect/>
          </a:stretch>
        </p:blipFill>
        <p:spPr>
          <a:xfrm>
            <a:off x="5166360" y="868680"/>
            <a:ext cx="3520440" cy="3383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BỐI CẢNH</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Vì sao có ReadMate AI?</a:t>
            </a:r>
            <a:endParaRPr lang="en-US" sz="3000" dirty="0"/>
          </a:p>
        </p:txBody>
      </p:sp>
      <p:sp>
        <p:nvSpPr>
          <p:cNvPr id="4" name="Shape 2"/>
          <p:cNvSpPr/>
          <p:nvPr/>
        </p:nvSpPr>
        <p:spPr>
          <a:xfrm>
            <a:off x="548640" y="1371600"/>
            <a:ext cx="251460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5" name="Shape 3"/>
          <p:cNvSpPr/>
          <p:nvPr/>
        </p:nvSpPr>
        <p:spPr>
          <a:xfrm>
            <a:off x="731520" y="1554480"/>
            <a:ext cx="329184" cy="329184"/>
          </a:xfrm>
          <a:prstGeom prst="ellipse">
            <a:avLst/>
          </a:prstGeom>
          <a:solidFill>
            <a:srgbClr val="0E8A7D"/>
          </a:solidFill>
          <a:ln/>
        </p:spPr>
      </p:sp>
      <p:sp>
        <p:nvSpPr>
          <p:cNvPr id="6" name="Text 4"/>
          <p:cNvSpPr txBox="1"/>
          <p:nvPr/>
        </p:nvSpPr>
        <p:spPr>
          <a:xfrm>
            <a:off x="731520" y="155448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731520" y="1938528"/>
            <a:ext cx="2148840" cy="310896"/>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Luyện tập đều đặn</a:t>
            </a:r>
            <a:endParaRPr lang="en-US" sz="1400" dirty="0"/>
          </a:p>
        </p:txBody>
      </p:sp>
      <p:sp>
        <p:nvSpPr>
          <p:cNvPr id="8" name="Text 6"/>
          <p:cNvSpPr txBox="1"/>
          <p:nvPr/>
        </p:nvSpPr>
        <p:spPr>
          <a:xfrm>
            <a:off x="731520" y="2249424"/>
            <a:ext cx="2194560" cy="50292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Học sinh lớp 1 cần luyện chữ, vần và đọc trơn thường xuyên.</a:t>
            </a:r>
            <a:endParaRPr lang="en-US" sz="1200" dirty="0"/>
          </a:p>
        </p:txBody>
      </p:sp>
      <p:sp>
        <p:nvSpPr>
          <p:cNvPr id="9" name="Shape 7"/>
          <p:cNvSpPr/>
          <p:nvPr/>
        </p:nvSpPr>
        <p:spPr>
          <a:xfrm>
            <a:off x="3246120" y="1371600"/>
            <a:ext cx="251460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0" name="Shape 8"/>
          <p:cNvSpPr/>
          <p:nvPr/>
        </p:nvSpPr>
        <p:spPr>
          <a:xfrm>
            <a:off x="3429000" y="1554480"/>
            <a:ext cx="329184" cy="329184"/>
          </a:xfrm>
          <a:prstGeom prst="ellipse">
            <a:avLst/>
          </a:prstGeom>
          <a:solidFill>
            <a:srgbClr val="C9A24A"/>
          </a:solidFill>
          <a:ln/>
        </p:spPr>
      </p:sp>
      <p:sp>
        <p:nvSpPr>
          <p:cNvPr id="11" name="Text 9"/>
          <p:cNvSpPr txBox="1"/>
          <p:nvPr/>
        </p:nvSpPr>
        <p:spPr>
          <a:xfrm>
            <a:off x="3429000" y="155448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3429000" y="1938528"/>
            <a:ext cx="2148840" cy="310896"/>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Giữ được hứng thú</a:t>
            </a:r>
            <a:endParaRPr lang="en-US" sz="1400" dirty="0"/>
          </a:p>
        </p:txBody>
      </p:sp>
      <p:sp>
        <p:nvSpPr>
          <p:cNvPr id="13" name="Text 11"/>
          <p:cNvSpPr txBox="1"/>
          <p:nvPr/>
        </p:nvSpPr>
        <p:spPr>
          <a:xfrm>
            <a:off x="3429000" y="2249424"/>
            <a:ext cx="2194560" cy="50292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Bài luyện đơn điệu dễ khiến các em mau chán.</a:t>
            </a:r>
            <a:endParaRPr lang="en-US" sz="1200" dirty="0"/>
          </a:p>
        </p:txBody>
      </p:sp>
      <p:sp>
        <p:nvSpPr>
          <p:cNvPr id="14" name="Shape 12"/>
          <p:cNvSpPr/>
          <p:nvPr/>
        </p:nvSpPr>
        <p:spPr>
          <a:xfrm>
            <a:off x="548640" y="3017520"/>
            <a:ext cx="251460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5" name="Shape 13"/>
          <p:cNvSpPr/>
          <p:nvPr/>
        </p:nvSpPr>
        <p:spPr>
          <a:xfrm>
            <a:off x="731520" y="3200400"/>
            <a:ext cx="329184" cy="329184"/>
          </a:xfrm>
          <a:prstGeom prst="ellipse">
            <a:avLst/>
          </a:prstGeom>
          <a:solidFill>
            <a:srgbClr val="0E8A7D"/>
          </a:solidFill>
          <a:ln/>
        </p:spPr>
      </p:sp>
      <p:sp>
        <p:nvSpPr>
          <p:cNvPr id="16" name="Text 14"/>
          <p:cNvSpPr txBox="1"/>
          <p:nvPr/>
        </p:nvSpPr>
        <p:spPr>
          <a:xfrm>
            <a:off x="731520" y="320040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731520" y="3584448"/>
            <a:ext cx="2148840" cy="310896"/>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Phụ huynh cần đồng hành</a:t>
            </a:r>
            <a:endParaRPr lang="en-US" sz="1400" dirty="0"/>
          </a:p>
        </p:txBody>
      </p:sp>
      <p:sp>
        <p:nvSpPr>
          <p:cNvPr id="18" name="Text 16"/>
          <p:cNvSpPr txBox="1"/>
          <p:nvPr/>
        </p:nvSpPr>
        <p:spPr>
          <a:xfrm>
            <a:off x="731520" y="3895344"/>
            <a:ext cx="2194560" cy="50292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Đơn giản, rõ ràng, không đòi hỏi chuyên môn.</a:t>
            </a:r>
            <a:endParaRPr lang="en-US" sz="1200" dirty="0"/>
          </a:p>
        </p:txBody>
      </p:sp>
      <p:sp>
        <p:nvSpPr>
          <p:cNvPr id="19" name="Shape 17"/>
          <p:cNvSpPr/>
          <p:nvPr/>
        </p:nvSpPr>
        <p:spPr>
          <a:xfrm>
            <a:off x="3246120" y="3017520"/>
            <a:ext cx="251460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20" name="Shape 18"/>
          <p:cNvSpPr/>
          <p:nvPr/>
        </p:nvSpPr>
        <p:spPr>
          <a:xfrm>
            <a:off x="3429000" y="3200400"/>
            <a:ext cx="329184" cy="329184"/>
          </a:xfrm>
          <a:prstGeom prst="ellipse">
            <a:avLst/>
          </a:prstGeom>
          <a:solidFill>
            <a:srgbClr val="C9A24A"/>
          </a:solidFill>
          <a:ln/>
        </p:spPr>
      </p:sp>
      <p:sp>
        <p:nvSpPr>
          <p:cNvPr id="21" name="Text 19"/>
          <p:cNvSpPr txBox="1"/>
          <p:nvPr/>
        </p:nvSpPr>
        <p:spPr>
          <a:xfrm>
            <a:off x="3429000" y="320040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3429000" y="3584448"/>
            <a:ext cx="2148840" cy="310896"/>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Giáo viên cần theo dõi</a:t>
            </a:r>
            <a:endParaRPr lang="en-US" sz="1400" dirty="0"/>
          </a:p>
        </p:txBody>
      </p:sp>
      <p:sp>
        <p:nvSpPr>
          <p:cNvPr id="23" name="Text 21"/>
          <p:cNvSpPr txBox="1"/>
          <p:nvPr/>
        </p:nvSpPr>
        <p:spPr>
          <a:xfrm>
            <a:off x="3429000" y="3895344"/>
            <a:ext cx="2194560" cy="50292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Để động viên đúng lúc, đúng người.</a:t>
            </a:r>
            <a:endParaRPr lang="en-US" sz="1200" dirty="0"/>
          </a:p>
        </p:txBody>
      </p:sp>
      <p:sp>
        <p:nvSpPr>
          <p:cNvPr id="24" name="Shape 22"/>
          <p:cNvSpPr/>
          <p:nvPr/>
        </p:nvSpPr>
        <p:spPr>
          <a:xfrm>
            <a:off x="6172200" y="1371600"/>
            <a:ext cx="2423160" cy="3108960"/>
          </a:xfrm>
          <a:prstGeom prst="roundRect">
            <a:avLst>
              <a:gd name="adj" fmla="val 7547"/>
            </a:avLst>
          </a:prstGeom>
          <a:solidFill>
            <a:srgbClr val="DDF1EE"/>
          </a:solidFill>
          <a:ln/>
        </p:spPr>
      </p:sp>
      <p:pic>
        <p:nvPicPr>
          <p:cNvPr id="25" name="Image 0" descr="Bạn nhỏ thám hiểm">    </p:cNvPr>
          <p:cNvPicPr>
            <a:picLocks noChangeAspect="1"/>
          </p:cNvPicPr>
          <p:nvPr/>
        </p:nvPicPr>
        <p:blipFill>
          <a:blip r:embed="rId1"/>
          <a:stretch>
            <a:fillRect/>
          </a:stretch>
        </p:blipFill>
        <p:spPr>
          <a:xfrm>
            <a:off x="6217920" y="1600200"/>
            <a:ext cx="2331720" cy="2331720"/>
          </a:xfrm>
          <a:prstGeom prst="rect">
            <a:avLst/>
          </a:prstGeom>
        </p:spPr>
      </p:pic>
      <p:sp>
        <p:nvSpPr>
          <p:cNvPr id="26" name="Text 23"/>
          <p:cNvSpPr txBox="1"/>
          <p:nvPr/>
        </p:nvSpPr>
        <p:spPr>
          <a:xfrm>
            <a:off x="6309360" y="3886200"/>
            <a:ext cx="2148840" cy="457200"/>
          </a:xfrm>
          <a:prstGeom prst="rect">
            <a:avLst/>
          </a:prstGeom>
          <a:noFill/>
          <a:ln/>
        </p:spPr>
        <p:txBody>
          <a:bodyPr wrap="square" lIns="0" tIns="0" rIns="0" bIns="0" rtlCol="0" anchor="ctr"/>
          <a:lstStyle/>
          <a:p>
            <a:pPr algn="ctr" indent="0" marL="0">
              <a:buNone/>
            </a:pPr>
            <a:r>
              <a:rPr lang="en-US" sz="1400" b="1" dirty="0">
                <a:solidFill>
                  <a:srgbClr val="0F2447"/>
                </a:solidFill>
                <a:latin typeface="Cambria" pitchFamily="34" charset="0"/>
                <a:ea typeface="Cambria" pitchFamily="34" charset="-122"/>
                <a:cs typeface="Cambria" pitchFamily="34" charset="-120"/>
              </a:rPr>
              <a:t>Luyện đọc nên là một niềm vui</a:t>
            </a:r>
            <a:endParaRPr lang="en-US" sz="14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GIÁ TRỊ CỐT LÕI</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ReadMate AI mang lại điều gì?</a:t>
            </a:r>
            <a:endParaRPr lang="en-US" sz="3000" dirty="0"/>
          </a:p>
        </p:txBody>
      </p:sp>
      <p:sp>
        <p:nvSpPr>
          <p:cNvPr id="4" name="Shape 2"/>
          <p:cNvSpPr/>
          <p:nvPr/>
        </p:nvSpPr>
        <p:spPr>
          <a:xfrm>
            <a:off x="548640" y="1325880"/>
            <a:ext cx="2560320" cy="3200400"/>
          </a:xfrm>
          <a:prstGeom prst="roundRect">
            <a:avLst>
              <a:gd name="adj" fmla="val 4286"/>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pic>
        <p:nvPicPr>
          <p:cNvPr id="5" name="Image 0" descr="Học dễ hiểu">    </p:cNvPr>
          <p:cNvPicPr>
            <a:picLocks noChangeAspect="1"/>
          </p:cNvPicPr>
          <p:nvPr/>
        </p:nvPicPr>
        <p:blipFill>
          <a:blip r:embed="rId1"/>
          <a:stretch>
            <a:fillRect/>
          </a:stretch>
        </p:blipFill>
        <p:spPr>
          <a:xfrm>
            <a:off x="658368" y="1435608"/>
            <a:ext cx="2340864" cy="1600200"/>
          </a:xfrm>
          <a:prstGeom prst="rect">
            <a:avLst/>
          </a:prstGeom>
        </p:spPr>
      </p:pic>
      <p:sp>
        <p:nvSpPr>
          <p:cNvPr id="6" name="Text 3"/>
          <p:cNvSpPr txBox="1"/>
          <p:nvPr/>
        </p:nvSpPr>
        <p:spPr>
          <a:xfrm>
            <a:off x="731520" y="3154680"/>
            <a:ext cx="2194560" cy="347472"/>
          </a:xfrm>
          <a:prstGeom prst="rect">
            <a:avLst/>
          </a:prstGeom>
          <a:noFill/>
          <a:ln/>
        </p:spPr>
        <p:txBody>
          <a:bodyPr wrap="square" lIns="0" tIns="0" rIns="0" bIns="0" rtlCol="0" anchor="ctr"/>
          <a:lstStyle/>
          <a:p>
            <a:pPr indent="0" marL="0">
              <a:buNone/>
            </a:pPr>
            <a:r>
              <a:rPr lang="en-US" sz="1700" b="1" dirty="0">
                <a:solidFill>
                  <a:srgbClr val="0F2447"/>
                </a:solidFill>
                <a:latin typeface="Cambria" pitchFamily="34" charset="0"/>
                <a:ea typeface="Cambria" pitchFamily="34" charset="-122"/>
                <a:cs typeface="Cambria" pitchFamily="34" charset="-120"/>
              </a:rPr>
              <a:t>Học dễ hiểu</a:t>
            </a:r>
            <a:endParaRPr lang="en-US" sz="1700" dirty="0"/>
          </a:p>
        </p:txBody>
      </p:sp>
      <p:sp>
        <p:nvSpPr>
          <p:cNvPr id="7" name="Text 4"/>
          <p:cNvSpPr txBox="1"/>
          <p:nvPr/>
        </p:nvSpPr>
        <p:spPr>
          <a:xfrm>
            <a:off x="731520" y="3547872"/>
            <a:ext cx="2194560" cy="822960"/>
          </a:xfrm>
          <a:prstGeom prst="rect">
            <a:avLst/>
          </a:prstGeom>
          <a:noFill/>
          <a:ln/>
        </p:spPr>
        <p:txBody>
          <a:bodyPr wrap="square" lIns="0" tIns="0" rIns="0" bIns="0" rtlCol="0" anchor="t"/>
          <a:lstStyle/>
          <a:p>
            <a:pPr indent="0" marL="0">
              <a:buNone/>
            </a:pPr>
            <a:r>
              <a:rPr lang="en-US" sz="1300" dirty="0">
                <a:solidFill>
                  <a:srgbClr val="566175"/>
                </a:solidFill>
                <a:latin typeface="Calibri" pitchFamily="34" charset="0"/>
                <a:ea typeface="Calibri" pitchFamily="34" charset="-122"/>
                <a:cs typeface="Calibri" pitchFamily="34" charset="-120"/>
              </a:rPr>
              <a:t>Mỗi bài một nhiệm vụ, nút bấm lớn, câu lệnh ngắn gọn.</a:t>
            </a:r>
            <a:endParaRPr lang="en-US" sz="1300" dirty="0"/>
          </a:p>
        </p:txBody>
      </p:sp>
      <p:sp>
        <p:nvSpPr>
          <p:cNvPr id="8" name="Shape 5"/>
          <p:cNvSpPr/>
          <p:nvPr/>
        </p:nvSpPr>
        <p:spPr>
          <a:xfrm>
            <a:off x="3291840" y="1325880"/>
            <a:ext cx="2560320" cy="3200400"/>
          </a:xfrm>
          <a:prstGeom prst="roundRect">
            <a:avLst>
              <a:gd name="adj" fmla="val 4286"/>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pic>
        <p:nvPicPr>
          <p:cNvPr id="9" name="Image 1" descr="Luyện tập thú vị">    </p:cNvPr>
          <p:cNvPicPr>
            <a:picLocks noChangeAspect="1"/>
          </p:cNvPicPr>
          <p:nvPr/>
        </p:nvPicPr>
        <p:blipFill>
          <a:blip r:embed="rId2"/>
          <a:stretch>
            <a:fillRect/>
          </a:stretch>
        </p:blipFill>
        <p:spPr>
          <a:xfrm>
            <a:off x="3401568" y="1435608"/>
            <a:ext cx="2340864" cy="1600200"/>
          </a:xfrm>
          <a:prstGeom prst="rect">
            <a:avLst/>
          </a:prstGeom>
        </p:spPr>
      </p:pic>
      <p:sp>
        <p:nvSpPr>
          <p:cNvPr id="10" name="Text 6"/>
          <p:cNvSpPr txBox="1"/>
          <p:nvPr/>
        </p:nvSpPr>
        <p:spPr>
          <a:xfrm>
            <a:off x="3474720" y="3154680"/>
            <a:ext cx="2194560" cy="347472"/>
          </a:xfrm>
          <a:prstGeom prst="rect">
            <a:avLst/>
          </a:prstGeom>
          <a:noFill/>
          <a:ln/>
        </p:spPr>
        <p:txBody>
          <a:bodyPr wrap="square" lIns="0" tIns="0" rIns="0" bIns="0" rtlCol="0" anchor="ctr"/>
          <a:lstStyle/>
          <a:p>
            <a:pPr indent="0" marL="0">
              <a:buNone/>
            </a:pPr>
            <a:r>
              <a:rPr lang="en-US" sz="1700" b="1" dirty="0">
                <a:solidFill>
                  <a:srgbClr val="0F2447"/>
                </a:solidFill>
                <a:latin typeface="Cambria" pitchFamily="34" charset="0"/>
                <a:ea typeface="Cambria" pitchFamily="34" charset="-122"/>
                <a:cs typeface="Cambria" pitchFamily="34" charset="-120"/>
              </a:rPr>
              <a:t>Luyện tập thú vị</a:t>
            </a:r>
            <a:endParaRPr lang="en-US" sz="1700" dirty="0"/>
          </a:p>
        </p:txBody>
      </p:sp>
      <p:sp>
        <p:nvSpPr>
          <p:cNvPr id="11" name="Text 7"/>
          <p:cNvSpPr txBox="1"/>
          <p:nvPr/>
        </p:nvSpPr>
        <p:spPr>
          <a:xfrm>
            <a:off x="3474720" y="3547872"/>
            <a:ext cx="2194560" cy="822960"/>
          </a:xfrm>
          <a:prstGeom prst="rect">
            <a:avLst/>
          </a:prstGeom>
          <a:noFill/>
          <a:ln/>
        </p:spPr>
        <p:txBody>
          <a:bodyPr wrap="square" lIns="0" tIns="0" rIns="0" bIns="0" rtlCol="0" anchor="t"/>
          <a:lstStyle/>
          <a:p>
            <a:pPr indent="0" marL="0">
              <a:buNone/>
            </a:pPr>
            <a:r>
              <a:rPr lang="en-US" sz="1300" dirty="0">
                <a:solidFill>
                  <a:srgbClr val="566175"/>
                </a:solidFill>
                <a:latin typeface="Calibri" pitchFamily="34" charset="0"/>
                <a:ea typeface="Calibri" pitchFamily="34" charset="-122"/>
                <a:cs typeface="Calibri" pitchFamily="34" charset="-120"/>
              </a:rPr>
              <a:t>Trò chơi phiêu lưu và điểm thưởng giữ cho các em hào hứng.</a:t>
            </a:r>
            <a:endParaRPr lang="en-US" sz="1300" dirty="0"/>
          </a:p>
        </p:txBody>
      </p:sp>
      <p:sp>
        <p:nvSpPr>
          <p:cNvPr id="12" name="Shape 8"/>
          <p:cNvSpPr/>
          <p:nvPr/>
        </p:nvSpPr>
        <p:spPr>
          <a:xfrm>
            <a:off x="6035040" y="1325880"/>
            <a:ext cx="2560320" cy="3200400"/>
          </a:xfrm>
          <a:prstGeom prst="roundRect">
            <a:avLst>
              <a:gd name="adj" fmla="val 4286"/>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pic>
        <p:nvPicPr>
          <p:cNvPr id="13" name="Image 2" descr="Tiến bộ từng ngày">    </p:cNvPr>
          <p:cNvPicPr>
            <a:picLocks noChangeAspect="1"/>
          </p:cNvPicPr>
          <p:nvPr/>
        </p:nvPicPr>
        <p:blipFill>
          <a:blip r:embed="rId3"/>
          <a:stretch>
            <a:fillRect/>
          </a:stretch>
        </p:blipFill>
        <p:spPr>
          <a:xfrm>
            <a:off x="6144768" y="1435608"/>
            <a:ext cx="2340864" cy="1600200"/>
          </a:xfrm>
          <a:prstGeom prst="rect">
            <a:avLst/>
          </a:prstGeom>
        </p:spPr>
      </p:pic>
      <p:sp>
        <p:nvSpPr>
          <p:cNvPr id="14" name="Text 9"/>
          <p:cNvSpPr txBox="1"/>
          <p:nvPr/>
        </p:nvSpPr>
        <p:spPr>
          <a:xfrm>
            <a:off x="6217920" y="3154680"/>
            <a:ext cx="2194560" cy="347472"/>
          </a:xfrm>
          <a:prstGeom prst="rect">
            <a:avLst/>
          </a:prstGeom>
          <a:noFill/>
          <a:ln/>
        </p:spPr>
        <p:txBody>
          <a:bodyPr wrap="square" lIns="0" tIns="0" rIns="0" bIns="0" rtlCol="0" anchor="ctr"/>
          <a:lstStyle/>
          <a:p>
            <a:pPr indent="0" marL="0">
              <a:buNone/>
            </a:pPr>
            <a:r>
              <a:rPr lang="en-US" sz="1700" b="1" dirty="0">
                <a:solidFill>
                  <a:srgbClr val="0F2447"/>
                </a:solidFill>
                <a:latin typeface="Cambria" pitchFamily="34" charset="0"/>
                <a:ea typeface="Cambria" pitchFamily="34" charset="-122"/>
                <a:cs typeface="Cambria" pitchFamily="34" charset="-120"/>
              </a:rPr>
              <a:t>Tiến bộ từng ngày</a:t>
            </a:r>
            <a:endParaRPr lang="en-US" sz="1700" dirty="0"/>
          </a:p>
        </p:txBody>
      </p:sp>
      <p:sp>
        <p:nvSpPr>
          <p:cNvPr id="15" name="Text 10"/>
          <p:cNvSpPr txBox="1"/>
          <p:nvPr/>
        </p:nvSpPr>
        <p:spPr>
          <a:xfrm>
            <a:off x="6217920" y="3547872"/>
            <a:ext cx="2194560" cy="822960"/>
          </a:xfrm>
          <a:prstGeom prst="rect">
            <a:avLst/>
          </a:prstGeom>
          <a:noFill/>
          <a:ln/>
        </p:spPr>
        <p:txBody>
          <a:bodyPr wrap="square" lIns="0" tIns="0" rIns="0" bIns="0" rtlCol="0" anchor="t"/>
          <a:lstStyle/>
          <a:p>
            <a:pPr indent="0" marL="0">
              <a:buNone/>
            </a:pPr>
            <a:r>
              <a:rPr lang="en-US" sz="1300" dirty="0">
                <a:solidFill>
                  <a:srgbClr val="566175"/>
                </a:solidFill>
                <a:latin typeface="Calibri" pitchFamily="34" charset="0"/>
                <a:ea typeface="Calibri" pitchFamily="34" charset="-122"/>
                <a:cs typeface="Calibri" pitchFamily="34" charset="-120"/>
              </a:rPr>
              <a:t>Các mốc khám phá cho các em thấy hành trình của mình.</a:t>
            </a:r>
            <a:endParaRPr lang="en-US" sz="13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NGƯỜI DÙNG</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Ai sử dụng ReadMate AI?</a:t>
            </a:r>
            <a:endParaRPr lang="en-US" sz="3000" dirty="0"/>
          </a:p>
        </p:txBody>
      </p:sp>
      <p:sp>
        <p:nvSpPr>
          <p:cNvPr id="4" name="Shape 2"/>
          <p:cNvSpPr/>
          <p:nvPr/>
        </p:nvSpPr>
        <p:spPr>
          <a:xfrm>
            <a:off x="548640" y="1325880"/>
            <a:ext cx="2560320" cy="3200400"/>
          </a:xfrm>
          <a:prstGeom prst="roundRect">
            <a:avLst>
              <a:gd name="adj" fmla="val 4286"/>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5" name="Shape 3"/>
          <p:cNvSpPr/>
          <p:nvPr/>
        </p:nvSpPr>
        <p:spPr>
          <a:xfrm>
            <a:off x="1188720" y="1508760"/>
            <a:ext cx="1280160" cy="1280160"/>
          </a:xfrm>
          <a:prstGeom prst="ellipse">
            <a:avLst/>
          </a:prstGeom>
          <a:solidFill>
            <a:srgbClr val="DDF1EE"/>
          </a:solidFill>
          <a:ln/>
        </p:spPr>
      </p:sp>
      <p:pic>
        <p:nvPicPr>
          <p:cNvPr id="6" name="Image 0" descr="Học sinh">    </p:cNvPr>
          <p:cNvPicPr>
            <a:picLocks noChangeAspect="1"/>
          </p:cNvPicPr>
          <p:nvPr/>
        </p:nvPicPr>
        <p:blipFill>
          <a:blip r:embed="rId1"/>
          <a:stretch>
            <a:fillRect/>
          </a:stretch>
        </p:blipFill>
        <p:spPr>
          <a:xfrm>
            <a:off x="1207008" y="1527048"/>
            <a:ext cx="1243584" cy="1243584"/>
          </a:xfrm>
          <a:prstGeom prst="rect">
            <a:avLst/>
          </a:prstGeom>
        </p:spPr>
      </p:pic>
      <p:sp>
        <p:nvSpPr>
          <p:cNvPr id="7" name="Text 4"/>
          <p:cNvSpPr txBox="1"/>
          <p:nvPr/>
        </p:nvSpPr>
        <p:spPr>
          <a:xfrm>
            <a:off x="731520" y="2926080"/>
            <a:ext cx="2194560" cy="365760"/>
          </a:xfrm>
          <a:prstGeom prst="rect">
            <a:avLst/>
          </a:prstGeom>
          <a:noFill/>
          <a:ln/>
        </p:spPr>
        <p:txBody>
          <a:bodyPr wrap="square" lIns="0" tIns="0" rIns="0" bIns="0" rtlCol="0" anchor="ctr"/>
          <a:lstStyle/>
          <a:p>
            <a:pPr algn="ctr" indent="0" marL="0">
              <a:buNone/>
            </a:pPr>
            <a:r>
              <a:rPr lang="en-US" sz="1800" b="1" dirty="0">
                <a:solidFill>
                  <a:srgbClr val="0F2447"/>
                </a:solidFill>
                <a:latin typeface="Cambria" pitchFamily="34" charset="0"/>
                <a:ea typeface="Cambria" pitchFamily="34" charset="-122"/>
                <a:cs typeface="Cambria" pitchFamily="34" charset="-120"/>
              </a:rPr>
              <a:t>Học sinh lớp 1</a:t>
            </a:r>
            <a:endParaRPr lang="en-US" sz="1800" dirty="0"/>
          </a:p>
        </p:txBody>
      </p:sp>
      <p:sp>
        <p:nvSpPr>
          <p:cNvPr id="8" name="Text 5"/>
          <p:cNvSpPr txBox="1"/>
          <p:nvPr/>
        </p:nvSpPr>
        <p:spPr>
          <a:xfrm>
            <a:off x="777240" y="3337560"/>
            <a:ext cx="2103120" cy="1005840"/>
          </a:xfrm>
          <a:prstGeom prst="rect">
            <a:avLst/>
          </a:prstGeom>
          <a:noFill/>
          <a:ln/>
        </p:spPr>
        <p:txBody>
          <a:bodyPr wrap="square" lIns="0" tIns="0" rIns="0" bIns="0" rtlCol="0" anchor="t"/>
          <a:lstStyle/>
          <a:p>
            <a:pPr algn="ctr" indent="0" marL="0">
              <a:buNone/>
            </a:pPr>
            <a:r>
              <a:rPr lang="en-US" sz="1300" dirty="0">
                <a:solidFill>
                  <a:srgbClr val="566175"/>
                </a:solidFill>
                <a:latin typeface="Calibri" pitchFamily="34" charset="0"/>
                <a:ea typeface="Calibri" pitchFamily="34" charset="-122"/>
                <a:cs typeface="Calibri" pitchFamily="34" charset="-120"/>
              </a:rPr>
              <a:t>Luyện chữ, vần, đọc trơn qua trò chơi và phần thưởng — ngay tại nhà.</a:t>
            </a:r>
            <a:endParaRPr lang="en-US" sz="1300" dirty="0"/>
          </a:p>
        </p:txBody>
      </p:sp>
      <p:sp>
        <p:nvSpPr>
          <p:cNvPr id="9" name="Shape 6"/>
          <p:cNvSpPr/>
          <p:nvPr/>
        </p:nvSpPr>
        <p:spPr>
          <a:xfrm>
            <a:off x="3291840" y="1325880"/>
            <a:ext cx="2560320" cy="3200400"/>
          </a:xfrm>
          <a:prstGeom prst="roundRect">
            <a:avLst>
              <a:gd name="adj" fmla="val 4286"/>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0" name="Shape 7"/>
          <p:cNvSpPr/>
          <p:nvPr/>
        </p:nvSpPr>
        <p:spPr>
          <a:xfrm>
            <a:off x="3931920" y="1508760"/>
            <a:ext cx="1280160" cy="1280160"/>
          </a:xfrm>
          <a:prstGeom prst="ellipse">
            <a:avLst/>
          </a:prstGeom>
          <a:solidFill>
            <a:srgbClr val="F5EBCF"/>
          </a:solidFill>
          <a:ln/>
        </p:spPr>
      </p:sp>
      <p:sp>
        <p:nvSpPr>
          <p:cNvPr id="11" name="Shape 8"/>
          <p:cNvSpPr/>
          <p:nvPr/>
        </p:nvSpPr>
        <p:spPr>
          <a:xfrm>
            <a:off x="4160520" y="1828800"/>
            <a:ext cx="822960" cy="594360"/>
          </a:xfrm>
          <a:prstGeom prst="roundRect">
            <a:avLst>
              <a:gd name="adj" fmla="val 7692"/>
            </a:avLst>
          </a:prstGeom>
          <a:solidFill>
            <a:srgbClr val="0F2447"/>
          </a:solidFill>
          <a:ln/>
        </p:spPr>
      </p:sp>
      <p:sp>
        <p:nvSpPr>
          <p:cNvPr id="12" name="Shape 9"/>
          <p:cNvSpPr/>
          <p:nvPr/>
        </p:nvSpPr>
        <p:spPr>
          <a:xfrm>
            <a:off x="4251960" y="1920240"/>
            <a:ext cx="640080" cy="45720"/>
          </a:xfrm>
          <a:prstGeom prst="rect">
            <a:avLst/>
          </a:prstGeom>
          <a:solidFill>
            <a:srgbClr val="FFFFFF"/>
          </a:solidFill>
          <a:ln/>
        </p:spPr>
      </p:sp>
      <p:sp>
        <p:nvSpPr>
          <p:cNvPr id="13" name="Shape 10"/>
          <p:cNvSpPr/>
          <p:nvPr/>
        </p:nvSpPr>
        <p:spPr>
          <a:xfrm>
            <a:off x="4251960" y="2057400"/>
            <a:ext cx="640080" cy="45720"/>
          </a:xfrm>
          <a:prstGeom prst="rect">
            <a:avLst/>
          </a:prstGeom>
          <a:solidFill>
            <a:srgbClr val="FFFFFF"/>
          </a:solidFill>
          <a:ln/>
        </p:spPr>
      </p:sp>
      <p:sp>
        <p:nvSpPr>
          <p:cNvPr id="14" name="Shape 11"/>
          <p:cNvSpPr/>
          <p:nvPr/>
        </p:nvSpPr>
        <p:spPr>
          <a:xfrm>
            <a:off x="4251960" y="2194560"/>
            <a:ext cx="365760" cy="45720"/>
          </a:xfrm>
          <a:prstGeom prst="rect">
            <a:avLst/>
          </a:prstGeom>
          <a:solidFill>
            <a:srgbClr val="FFFFFF"/>
          </a:solidFill>
          <a:ln/>
        </p:spPr>
      </p:sp>
      <p:sp>
        <p:nvSpPr>
          <p:cNvPr id="15" name="Shape 12"/>
          <p:cNvSpPr/>
          <p:nvPr/>
        </p:nvSpPr>
        <p:spPr>
          <a:xfrm>
            <a:off x="4526280" y="2423160"/>
            <a:ext cx="91440" cy="182880"/>
          </a:xfrm>
          <a:prstGeom prst="rect">
            <a:avLst/>
          </a:prstGeom>
          <a:solidFill>
            <a:srgbClr val="0F2447"/>
          </a:solidFill>
          <a:ln/>
        </p:spPr>
      </p:sp>
      <p:sp>
        <p:nvSpPr>
          <p:cNvPr id="16" name="Text 13"/>
          <p:cNvSpPr txBox="1"/>
          <p:nvPr/>
        </p:nvSpPr>
        <p:spPr>
          <a:xfrm>
            <a:off x="3474720" y="2926080"/>
            <a:ext cx="2194560" cy="365760"/>
          </a:xfrm>
          <a:prstGeom prst="rect">
            <a:avLst/>
          </a:prstGeom>
          <a:noFill/>
          <a:ln/>
        </p:spPr>
        <p:txBody>
          <a:bodyPr wrap="square" lIns="0" tIns="0" rIns="0" bIns="0" rtlCol="0" anchor="ctr"/>
          <a:lstStyle/>
          <a:p>
            <a:pPr algn="ctr" indent="0" marL="0">
              <a:buNone/>
            </a:pPr>
            <a:r>
              <a:rPr lang="en-US" sz="1800" b="1" dirty="0">
                <a:solidFill>
                  <a:srgbClr val="0F2447"/>
                </a:solidFill>
                <a:latin typeface="Cambria" pitchFamily="34" charset="0"/>
                <a:ea typeface="Cambria" pitchFamily="34" charset="-122"/>
                <a:cs typeface="Cambria" pitchFamily="34" charset="-120"/>
              </a:rPr>
              <a:t>Giáo viên</a:t>
            </a:r>
            <a:endParaRPr lang="en-US" sz="1800" dirty="0"/>
          </a:p>
        </p:txBody>
      </p:sp>
      <p:sp>
        <p:nvSpPr>
          <p:cNvPr id="17" name="Text 14"/>
          <p:cNvSpPr txBox="1"/>
          <p:nvPr/>
        </p:nvSpPr>
        <p:spPr>
          <a:xfrm>
            <a:off x="3520440" y="3337560"/>
            <a:ext cx="2103120" cy="1005840"/>
          </a:xfrm>
          <a:prstGeom prst="rect">
            <a:avLst/>
          </a:prstGeom>
          <a:noFill/>
          <a:ln/>
        </p:spPr>
        <p:txBody>
          <a:bodyPr wrap="square" lIns="0" tIns="0" rIns="0" bIns="0" rtlCol="0" anchor="t"/>
          <a:lstStyle/>
          <a:p>
            <a:pPr algn="ctr" indent="0" marL="0">
              <a:buNone/>
            </a:pPr>
            <a:r>
              <a:rPr lang="en-US" sz="1300" dirty="0">
                <a:solidFill>
                  <a:srgbClr val="566175"/>
                </a:solidFill>
                <a:latin typeface="Calibri" pitchFamily="34" charset="0"/>
                <a:ea typeface="Calibri" pitchFamily="34" charset="-122"/>
                <a:cs typeface="Calibri" pitchFamily="34" charset="-120"/>
              </a:rPr>
              <a:t>Quản lý lớp, chuẩn bị học liệu, theo dõi và động viên học sinh.</a:t>
            </a:r>
            <a:endParaRPr lang="en-US" sz="1300" dirty="0"/>
          </a:p>
        </p:txBody>
      </p:sp>
      <p:sp>
        <p:nvSpPr>
          <p:cNvPr id="18" name="Shape 15"/>
          <p:cNvSpPr/>
          <p:nvPr/>
        </p:nvSpPr>
        <p:spPr>
          <a:xfrm>
            <a:off x="6035040" y="1325880"/>
            <a:ext cx="2560320" cy="3200400"/>
          </a:xfrm>
          <a:prstGeom prst="roundRect">
            <a:avLst>
              <a:gd name="adj" fmla="val 4286"/>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9" name="Shape 16"/>
          <p:cNvSpPr/>
          <p:nvPr/>
        </p:nvSpPr>
        <p:spPr>
          <a:xfrm>
            <a:off x="6675120" y="1508760"/>
            <a:ext cx="1280160" cy="1280160"/>
          </a:xfrm>
          <a:prstGeom prst="ellipse">
            <a:avLst/>
          </a:prstGeom>
          <a:solidFill>
            <a:srgbClr val="E4EAF6"/>
          </a:solidFill>
          <a:ln/>
        </p:spPr>
      </p:sp>
      <p:sp>
        <p:nvSpPr>
          <p:cNvPr id="20" name="Shape 17"/>
          <p:cNvSpPr/>
          <p:nvPr/>
        </p:nvSpPr>
        <p:spPr>
          <a:xfrm>
            <a:off x="6903720" y="1828800"/>
            <a:ext cx="822960" cy="731520"/>
          </a:xfrm>
          <a:prstGeom prst="heart">
            <a:avLst/>
          </a:prstGeom>
          <a:solidFill>
            <a:srgbClr val="D9694F"/>
          </a:solidFill>
          <a:ln/>
        </p:spPr>
      </p:sp>
      <p:sp>
        <p:nvSpPr>
          <p:cNvPr id="21" name="Text 18"/>
          <p:cNvSpPr txBox="1"/>
          <p:nvPr/>
        </p:nvSpPr>
        <p:spPr>
          <a:xfrm>
            <a:off x="6217920" y="2926080"/>
            <a:ext cx="2194560" cy="365760"/>
          </a:xfrm>
          <a:prstGeom prst="rect">
            <a:avLst/>
          </a:prstGeom>
          <a:noFill/>
          <a:ln/>
        </p:spPr>
        <p:txBody>
          <a:bodyPr wrap="square" lIns="0" tIns="0" rIns="0" bIns="0" rtlCol="0" anchor="ctr"/>
          <a:lstStyle/>
          <a:p>
            <a:pPr algn="ctr" indent="0" marL="0">
              <a:buNone/>
            </a:pPr>
            <a:r>
              <a:rPr lang="en-US" sz="1800" b="1" dirty="0">
                <a:solidFill>
                  <a:srgbClr val="0F2447"/>
                </a:solidFill>
                <a:latin typeface="Cambria" pitchFamily="34" charset="0"/>
                <a:ea typeface="Cambria" pitchFamily="34" charset="-122"/>
                <a:cs typeface="Cambria" pitchFamily="34" charset="-120"/>
              </a:rPr>
              <a:t>Phụ huynh</a:t>
            </a:r>
            <a:endParaRPr lang="en-US" sz="1800" dirty="0"/>
          </a:p>
        </p:txBody>
      </p:sp>
      <p:sp>
        <p:nvSpPr>
          <p:cNvPr id="22" name="Text 19"/>
          <p:cNvSpPr txBox="1"/>
          <p:nvPr/>
        </p:nvSpPr>
        <p:spPr>
          <a:xfrm>
            <a:off x="6263640" y="3337560"/>
            <a:ext cx="2103120" cy="1005840"/>
          </a:xfrm>
          <a:prstGeom prst="rect">
            <a:avLst/>
          </a:prstGeom>
          <a:noFill/>
          <a:ln/>
        </p:spPr>
        <p:txBody>
          <a:bodyPr wrap="square" lIns="0" tIns="0" rIns="0" bIns="0" rtlCol="0" anchor="t"/>
          <a:lstStyle/>
          <a:p>
            <a:pPr algn="ctr" indent="0" marL="0">
              <a:buNone/>
            </a:pPr>
            <a:r>
              <a:rPr lang="en-US" sz="1300" dirty="0">
                <a:solidFill>
                  <a:srgbClr val="566175"/>
                </a:solidFill>
                <a:latin typeface="Calibri" pitchFamily="34" charset="0"/>
                <a:ea typeface="Calibri" pitchFamily="34" charset="-122"/>
                <a:cs typeface="Calibri" pitchFamily="34" charset="-120"/>
              </a:rPr>
              <a:t>Đồng hành, nhắc nhở và chia sẻ niềm vui tiến bộ cùng con.</a:t>
            </a:r>
            <a:endParaRPr lang="en-US" sz="13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HÀNH TRÌNH HỌC TẬP</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Một ngày luyện tập của học sinh</a:t>
            </a:r>
            <a:endParaRPr lang="en-US" sz="3000" dirty="0"/>
          </a:p>
        </p:txBody>
      </p:sp>
      <p:sp>
        <p:nvSpPr>
          <p:cNvPr id="4" name="Shape 2"/>
          <p:cNvSpPr/>
          <p:nvPr/>
        </p:nvSpPr>
        <p:spPr>
          <a:xfrm>
            <a:off x="548640" y="1325880"/>
            <a:ext cx="1188720" cy="1325880"/>
          </a:xfrm>
          <a:prstGeom prst="roundRect">
            <a:avLst>
              <a:gd name="adj" fmla="val 9231"/>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5" name="Shape 3"/>
          <p:cNvSpPr/>
          <p:nvPr/>
        </p:nvSpPr>
        <p:spPr>
          <a:xfrm>
            <a:off x="950976" y="1463040"/>
            <a:ext cx="384048" cy="384048"/>
          </a:xfrm>
          <a:prstGeom prst="ellipse">
            <a:avLst/>
          </a:prstGeom>
          <a:solidFill>
            <a:srgbClr val="0E8A7D"/>
          </a:solidFill>
          <a:ln/>
        </p:spPr>
      </p:sp>
      <p:sp>
        <p:nvSpPr>
          <p:cNvPr id="6" name="Text 4"/>
          <p:cNvSpPr txBox="1"/>
          <p:nvPr/>
        </p:nvSpPr>
        <p:spPr>
          <a:xfrm>
            <a:off x="950976"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603504" y="1920240"/>
            <a:ext cx="1078992" cy="640080"/>
          </a:xfrm>
          <a:prstGeom prst="rect">
            <a:avLst/>
          </a:prstGeom>
          <a:noFill/>
          <a:ln/>
        </p:spPr>
        <p:txBody>
          <a:bodyPr wrap="square" lIns="0" tIns="0" rIns="0" bIns="0" rtlCol="0" anchor="ctr"/>
          <a:lstStyle/>
          <a:p>
            <a:pPr algn="ctr" indent="0" marL="0">
              <a:buNone/>
            </a:pPr>
            <a:r>
              <a:rPr lang="en-US" sz="1400" b="1" dirty="0">
                <a:solidFill>
                  <a:srgbClr val="0F2447"/>
                </a:solidFill>
                <a:latin typeface="Cambria" pitchFamily="34" charset="0"/>
                <a:ea typeface="Cambria" pitchFamily="34" charset="-122"/>
                <a:cs typeface="Cambria" pitchFamily="34" charset="-120"/>
              </a:rPr>
              <a:t>Vào trang học</a:t>
            </a:r>
            <a:endParaRPr lang="en-US" sz="1400" dirty="0"/>
          </a:p>
        </p:txBody>
      </p:sp>
      <p:sp>
        <p:nvSpPr>
          <p:cNvPr id="8" name="Shape 6"/>
          <p:cNvSpPr/>
          <p:nvPr/>
        </p:nvSpPr>
        <p:spPr>
          <a:xfrm rot="5400000">
            <a:off x="1764792" y="1874520"/>
            <a:ext cx="128016" cy="182880"/>
          </a:xfrm>
          <a:prstGeom prst="triangle">
            <a:avLst/>
          </a:prstGeom>
          <a:solidFill>
            <a:srgbClr val="C9A24A"/>
          </a:solidFill>
          <a:ln/>
        </p:spPr>
      </p:sp>
      <p:sp>
        <p:nvSpPr>
          <p:cNvPr id="9" name="Shape 7"/>
          <p:cNvSpPr/>
          <p:nvPr/>
        </p:nvSpPr>
        <p:spPr>
          <a:xfrm>
            <a:off x="1920240" y="1325880"/>
            <a:ext cx="1188720" cy="1325880"/>
          </a:xfrm>
          <a:prstGeom prst="roundRect">
            <a:avLst>
              <a:gd name="adj" fmla="val 9231"/>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0" name="Shape 8"/>
          <p:cNvSpPr/>
          <p:nvPr/>
        </p:nvSpPr>
        <p:spPr>
          <a:xfrm>
            <a:off x="2322576" y="1463040"/>
            <a:ext cx="384048" cy="384048"/>
          </a:xfrm>
          <a:prstGeom prst="ellipse">
            <a:avLst/>
          </a:prstGeom>
          <a:solidFill>
            <a:srgbClr val="0E8A7D"/>
          </a:solidFill>
          <a:ln/>
        </p:spPr>
      </p:sp>
      <p:sp>
        <p:nvSpPr>
          <p:cNvPr id="11" name="Text 9"/>
          <p:cNvSpPr txBox="1"/>
          <p:nvPr/>
        </p:nvSpPr>
        <p:spPr>
          <a:xfrm>
            <a:off x="2322576"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975104" y="1920240"/>
            <a:ext cx="1078992" cy="640080"/>
          </a:xfrm>
          <a:prstGeom prst="rect">
            <a:avLst/>
          </a:prstGeom>
          <a:noFill/>
          <a:ln/>
        </p:spPr>
        <p:txBody>
          <a:bodyPr wrap="square" lIns="0" tIns="0" rIns="0" bIns="0" rtlCol="0" anchor="ctr"/>
          <a:lstStyle/>
          <a:p>
            <a:pPr algn="ctr" indent="0" marL="0">
              <a:buNone/>
            </a:pPr>
            <a:r>
              <a:rPr lang="en-US" sz="1400" b="1" dirty="0">
                <a:solidFill>
                  <a:srgbClr val="0F2447"/>
                </a:solidFill>
                <a:latin typeface="Cambria" pitchFamily="34" charset="0"/>
                <a:ea typeface="Cambria" pitchFamily="34" charset="-122"/>
                <a:cs typeface="Cambria" pitchFamily="34" charset="-120"/>
              </a:rPr>
              <a:t>Chọn bài luyện</a:t>
            </a:r>
            <a:endParaRPr lang="en-US" sz="1400" dirty="0"/>
          </a:p>
        </p:txBody>
      </p:sp>
      <p:sp>
        <p:nvSpPr>
          <p:cNvPr id="13" name="Shape 11"/>
          <p:cNvSpPr/>
          <p:nvPr/>
        </p:nvSpPr>
        <p:spPr>
          <a:xfrm rot="5400000">
            <a:off x="3136392" y="1874520"/>
            <a:ext cx="128016" cy="182880"/>
          </a:xfrm>
          <a:prstGeom prst="triangle">
            <a:avLst/>
          </a:prstGeom>
          <a:solidFill>
            <a:srgbClr val="C9A24A"/>
          </a:solidFill>
          <a:ln/>
        </p:spPr>
      </p:sp>
      <p:sp>
        <p:nvSpPr>
          <p:cNvPr id="14" name="Shape 12"/>
          <p:cNvSpPr/>
          <p:nvPr/>
        </p:nvSpPr>
        <p:spPr>
          <a:xfrm>
            <a:off x="3291840" y="1325880"/>
            <a:ext cx="1188720" cy="1325880"/>
          </a:xfrm>
          <a:prstGeom prst="roundRect">
            <a:avLst>
              <a:gd name="adj" fmla="val 9231"/>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5" name="Shape 13"/>
          <p:cNvSpPr/>
          <p:nvPr/>
        </p:nvSpPr>
        <p:spPr>
          <a:xfrm>
            <a:off x="3694176" y="1463040"/>
            <a:ext cx="384048" cy="384048"/>
          </a:xfrm>
          <a:prstGeom prst="ellipse">
            <a:avLst/>
          </a:prstGeom>
          <a:solidFill>
            <a:srgbClr val="0E8A7D"/>
          </a:solidFill>
          <a:ln/>
        </p:spPr>
      </p:sp>
      <p:sp>
        <p:nvSpPr>
          <p:cNvPr id="16" name="Text 14"/>
          <p:cNvSpPr txBox="1"/>
          <p:nvPr/>
        </p:nvSpPr>
        <p:spPr>
          <a:xfrm>
            <a:off x="3694176"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3346704" y="1920240"/>
            <a:ext cx="1078992" cy="640080"/>
          </a:xfrm>
          <a:prstGeom prst="rect">
            <a:avLst/>
          </a:prstGeom>
          <a:noFill/>
          <a:ln/>
        </p:spPr>
        <p:txBody>
          <a:bodyPr wrap="square" lIns="0" tIns="0" rIns="0" bIns="0" rtlCol="0" anchor="ctr"/>
          <a:lstStyle/>
          <a:p>
            <a:pPr algn="ctr" indent="0" marL="0">
              <a:buNone/>
            </a:pPr>
            <a:r>
              <a:rPr lang="en-US" sz="1400" b="1" dirty="0">
                <a:solidFill>
                  <a:srgbClr val="0F2447"/>
                </a:solidFill>
                <a:latin typeface="Cambria" pitchFamily="34" charset="0"/>
                <a:ea typeface="Cambria" pitchFamily="34" charset="-122"/>
                <a:cs typeface="Cambria" pitchFamily="34" charset="-120"/>
              </a:rPr>
              <a:t>Làm bài</a:t>
            </a:r>
            <a:endParaRPr lang="en-US" sz="1400" dirty="0"/>
          </a:p>
        </p:txBody>
      </p:sp>
      <p:sp>
        <p:nvSpPr>
          <p:cNvPr id="18" name="Shape 16"/>
          <p:cNvSpPr/>
          <p:nvPr/>
        </p:nvSpPr>
        <p:spPr>
          <a:xfrm rot="5400000">
            <a:off x="4507992" y="1874520"/>
            <a:ext cx="128016" cy="182880"/>
          </a:xfrm>
          <a:prstGeom prst="triangle">
            <a:avLst/>
          </a:prstGeom>
          <a:solidFill>
            <a:srgbClr val="C9A24A"/>
          </a:solidFill>
          <a:ln/>
        </p:spPr>
      </p:sp>
      <p:sp>
        <p:nvSpPr>
          <p:cNvPr id="19" name="Shape 17"/>
          <p:cNvSpPr/>
          <p:nvPr/>
        </p:nvSpPr>
        <p:spPr>
          <a:xfrm>
            <a:off x="4663440" y="1325880"/>
            <a:ext cx="1188720" cy="1325880"/>
          </a:xfrm>
          <a:prstGeom prst="roundRect">
            <a:avLst>
              <a:gd name="adj" fmla="val 9231"/>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20" name="Shape 18"/>
          <p:cNvSpPr/>
          <p:nvPr/>
        </p:nvSpPr>
        <p:spPr>
          <a:xfrm>
            <a:off x="5065776" y="1463040"/>
            <a:ext cx="384048" cy="384048"/>
          </a:xfrm>
          <a:prstGeom prst="ellipse">
            <a:avLst/>
          </a:prstGeom>
          <a:solidFill>
            <a:srgbClr val="0E8A7D"/>
          </a:solidFill>
          <a:ln/>
        </p:spPr>
      </p:sp>
      <p:sp>
        <p:nvSpPr>
          <p:cNvPr id="21" name="Text 19"/>
          <p:cNvSpPr txBox="1"/>
          <p:nvPr/>
        </p:nvSpPr>
        <p:spPr>
          <a:xfrm>
            <a:off x="5065776"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4718304" y="1920240"/>
            <a:ext cx="1078992" cy="640080"/>
          </a:xfrm>
          <a:prstGeom prst="rect">
            <a:avLst/>
          </a:prstGeom>
          <a:noFill/>
          <a:ln/>
        </p:spPr>
        <p:txBody>
          <a:bodyPr wrap="square" lIns="0" tIns="0" rIns="0" bIns="0" rtlCol="0" anchor="ctr"/>
          <a:lstStyle/>
          <a:p>
            <a:pPr algn="ctr" indent="0" marL="0">
              <a:buNone/>
            </a:pPr>
            <a:r>
              <a:rPr lang="en-US" sz="1400" b="1" dirty="0">
                <a:solidFill>
                  <a:srgbClr val="0F2447"/>
                </a:solidFill>
                <a:latin typeface="Cambria" pitchFamily="34" charset="0"/>
                <a:ea typeface="Cambria" pitchFamily="34" charset="-122"/>
                <a:cs typeface="Cambria" pitchFamily="34" charset="-120"/>
              </a:rPr>
              <a:t>Nhận phản hồi</a:t>
            </a:r>
            <a:endParaRPr lang="en-US" sz="1400" dirty="0"/>
          </a:p>
        </p:txBody>
      </p:sp>
      <p:sp>
        <p:nvSpPr>
          <p:cNvPr id="23" name="Shape 21"/>
          <p:cNvSpPr/>
          <p:nvPr/>
        </p:nvSpPr>
        <p:spPr>
          <a:xfrm rot="5400000">
            <a:off x="5879592" y="1874520"/>
            <a:ext cx="128016" cy="182880"/>
          </a:xfrm>
          <a:prstGeom prst="triangle">
            <a:avLst/>
          </a:prstGeom>
          <a:solidFill>
            <a:srgbClr val="C9A24A"/>
          </a:solidFill>
          <a:ln/>
        </p:spPr>
      </p:sp>
      <p:sp>
        <p:nvSpPr>
          <p:cNvPr id="24" name="Shape 22"/>
          <p:cNvSpPr/>
          <p:nvPr/>
        </p:nvSpPr>
        <p:spPr>
          <a:xfrm>
            <a:off x="6035040" y="1325880"/>
            <a:ext cx="1188720" cy="1325880"/>
          </a:xfrm>
          <a:prstGeom prst="roundRect">
            <a:avLst>
              <a:gd name="adj" fmla="val 9231"/>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25" name="Shape 23"/>
          <p:cNvSpPr/>
          <p:nvPr/>
        </p:nvSpPr>
        <p:spPr>
          <a:xfrm>
            <a:off x="6437376" y="1463040"/>
            <a:ext cx="384048" cy="384048"/>
          </a:xfrm>
          <a:prstGeom prst="ellipse">
            <a:avLst/>
          </a:prstGeom>
          <a:solidFill>
            <a:srgbClr val="0E8A7D"/>
          </a:solidFill>
          <a:ln/>
        </p:spPr>
      </p:sp>
      <p:sp>
        <p:nvSpPr>
          <p:cNvPr id="26" name="Text 24"/>
          <p:cNvSpPr txBox="1"/>
          <p:nvPr/>
        </p:nvSpPr>
        <p:spPr>
          <a:xfrm>
            <a:off x="6437376"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6089904" y="1920240"/>
            <a:ext cx="1078992" cy="640080"/>
          </a:xfrm>
          <a:prstGeom prst="rect">
            <a:avLst/>
          </a:prstGeom>
          <a:noFill/>
          <a:ln/>
        </p:spPr>
        <p:txBody>
          <a:bodyPr wrap="square" lIns="0" tIns="0" rIns="0" bIns="0" rtlCol="0" anchor="ctr"/>
          <a:lstStyle/>
          <a:p>
            <a:pPr algn="ctr" indent="0" marL="0">
              <a:buNone/>
            </a:pPr>
            <a:r>
              <a:rPr lang="en-US" sz="1400" b="1" dirty="0">
                <a:solidFill>
                  <a:srgbClr val="0F2447"/>
                </a:solidFill>
                <a:latin typeface="Cambria" pitchFamily="34" charset="0"/>
                <a:ea typeface="Cambria" pitchFamily="34" charset="-122"/>
                <a:cs typeface="Cambria" pitchFamily="34" charset="-120"/>
              </a:rPr>
              <a:t>Tích điểm</a:t>
            </a:r>
            <a:endParaRPr lang="en-US" sz="1400" dirty="0"/>
          </a:p>
        </p:txBody>
      </p:sp>
      <p:sp>
        <p:nvSpPr>
          <p:cNvPr id="28" name="Shape 26"/>
          <p:cNvSpPr/>
          <p:nvPr/>
        </p:nvSpPr>
        <p:spPr>
          <a:xfrm rot="5400000">
            <a:off x="7251192" y="1874520"/>
            <a:ext cx="128016" cy="182880"/>
          </a:xfrm>
          <a:prstGeom prst="triangle">
            <a:avLst/>
          </a:prstGeom>
          <a:solidFill>
            <a:srgbClr val="C9A24A"/>
          </a:solidFill>
          <a:ln/>
        </p:spPr>
      </p:sp>
      <p:sp>
        <p:nvSpPr>
          <p:cNvPr id="29" name="Shape 27"/>
          <p:cNvSpPr/>
          <p:nvPr/>
        </p:nvSpPr>
        <p:spPr>
          <a:xfrm>
            <a:off x="7406640" y="1325880"/>
            <a:ext cx="1188720" cy="1325880"/>
          </a:xfrm>
          <a:prstGeom prst="roundRect">
            <a:avLst>
              <a:gd name="adj" fmla="val 9231"/>
            </a:avLst>
          </a:prstGeom>
          <a:solidFill>
            <a:srgbClr val="F5EBC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30" name="Shape 28"/>
          <p:cNvSpPr/>
          <p:nvPr/>
        </p:nvSpPr>
        <p:spPr>
          <a:xfrm>
            <a:off x="7808976" y="1463040"/>
            <a:ext cx="384048" cy="384048"/>
          </a:xfrm>
          <a:prstGeom prst="ellipse">
            <a:avLst/>
          </a:prstGeom>
          <a:solidFill>
            <a:srgbClr val="C9A24A"/>
          </a:solidFill>
          <a:ln/>
        </p:spPr>
      </p:sp>
      <p:sp>
        <p:nvSpPr>
          <p:cNvPr id="31" name="Text 29"/>
          <p:cNvSpPr txBox="1"/>
          <p:nvPr/>
        </p:nvSpPr>
        <p:spPr>
          <a:xfrm>
            <a:off x="7808976"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txBox="1"/>
          <p:nvPr/>
        </p:nvSpPr>
        <p:spPr>
          <a:xfrm>
            <a:off x="7461504" y="1920240"/>
            <a:ext cx="1078992" cy="640080"/>
          </a:xfrm>
          <a:prstGeom prst="rect">
            <a:avLst/>
          </a:prstGeom>
          <a:noFill/>
          <a:ln/>
        </p:spPr>
        <p:txBody>
          <a:bodyPr wrap="square" lIns="0" tIns="0" rIns="0" bIns="0" rtlCol="0" anchor="ctr"/>
          <a:lstStyle/>
          <a:p>
            <a:pPr algn="ctr" indent="0" marL="0">
              <a:buNone/>
            </a:pPr>
            <a:r>
              <a:rPr lang="en-US" sz="1400" b="1" dirty="0">
                <a:solidFill>
                  <a:srgbClr val="0F2447"/>
                </a:solidFill>
                <a:latin typeface="Cambria" pitchFamily="34" charset="0"/>
                <a:ea typeface="Cambria" pitchFamily="34" charset="-122"/>
                <a:cs typeface="Cambria" pitchFamily="34" charset="-120"/>
              </a:rPr>
              <a:t>Khám phá thế giới</a:t>
            </a:r>
            <a:endParaRPr lang="en-US" sz="1400" dirty="0"/>
          </a:p>
        </p:txBody>
      </p:sp>
      <p:pic>
        <p:nvPicPr>
          <p:cNvPr id="33" name="Image 0" descr="Bản đồ thế giới phiêu lưu">    </p:cNvPr>
          <p:cNvPicPr>
            <a:picLocks noChangeAspect="1"/>
          </p:cNvPicPr>
          <p:nvPr/>
        </p:nvPicPr>
        <p:blipFill>
          <a:blip r:embed="rId1"/>
          <a:stretch>
            <a:fillRect/>
          </a:stretch>
        </p:blipFill>
        <p:spPr>
          <a:xfrm>
            <a:off x="548640" y="2880360"/>
            <a:ext cx="2743200" cy="1664208"/>
          </a:xfrm>
          <a:prstGeom prst="rect">
            <a:avLst/>
          </a:prstGeom>
        </p:spPr>
      </p:pic>
      <p:pic>
        <p:nvPicPr>
          <p:cNvPr id="34" name="Image 1" descr="Các mốc khám phá">    </p:cNvPr>
          <p:cNvPicPr>
            <a:picLocks noChangeAspect="1"/>
          </p:cNvPicPr>
          <p:nvPr/>
        </p:nvPicPr>
        <p:blipFill>
          <a:blip r:embed="rId2"/>
          <a:stretch>
            <a:fillRect/>
          </a:stretch>
        </p:blipFill>
        <p:spPr>
          <a:xfrm>
            <a:off x="3429000" y="2880360"/>
            <a:ext cx="5166360" cy="850392"/>
          </a:xfrm>
          <a:prstGeom prst="rect">
            <a:avLst/>
          </a:prstGeom>
        </p:spPr>
      </p:pic>
      <p:sp>
        <p:nvSpPr>
          <p:cNvPr id="35" name="Shape 31"/>
          <p:cNvSpPr/>
          <p:nvPr/>
        </p:nvSpPr>
        <p:spPr>
          <a:xfrm>
            <a:off x="3429000" y="3858768"/>
            <a:ext cx="5166360" cy="685800"/>
          </a:xfrm>
          <a:prstGeom prst="roundRect">
            <a:avLst>
              <a:gd name="adj" fmla="val 13333"/>
            </a:avLst>
          </a:prstGeom>
          <a:solidFill>
            <a:srgbClr val="F5EBCF"/>
          </a:solidFill>
          <a:ln/>
        </p:spPr>
      </p:sp>
      <p:sp>
        <p:nvSpPr>
          <p:cNvPr id="36" name="Text 32"/>
          <p:cNvSpPr txBox="1"/>
          <p:nvPr/>
        </p:nvSpPr>
        <p:spPr>
          <a:xfrm>
            <a:off x="3611880" y="3858768"/>
            <a:ext cx="4846320" cy="685800"/>
          </a:xfrm>
          <a:prstGeom prst="rect">
            <a:avLst/>
          </a:prstGeom>
          <a:noFill/>
          <a:ln/>
        </p:spPr>
        <p:txBody>
          <a:bodyPr wrap="square" lIns="0" tIns="0" rIns="0" bIns="0" rtlCol="0" anchor="ctr"/>
          <a:lstStyle/>
          <a:p>
            <a:pPr indent="0" marL="0">
              <a:buNone/>
            </a:pPr>
            <a:r>
              <a:rPr lang="en-US" sz="1400" dirty="0">
                <a:solidFill>
                  <a:srgbClr val="1F2A3C"/>
                </a:solidFill>
                <a:latin typeface="Calibri" pitchFamily="34" charset="0"/>
                <a:ea typeface="Calibri" pitchFamily="34" charset="-122"/>
                <a:cs typeface="Calibri" pitchFamily="34" charset="-120"/>
              </a:rPr>
              <a:t>Mỗi 30 điểm tích lũy mở thêm một mốc khám phá mới.</a:t>
            </a:r>
            <a:endParaRPr lang="en-US" sz="1400" dirty="0"/>
          </a:p>
        </p:txBody>
      </p:sp>
      <p:sp>
        <p:nvSpPr>
          <p:cNvPr id="37" name="Text 33"/>
          <p:cNvSpPr txBox="1"/>
          <p:nvPr/>
        </p:nvSpPr>
        <p:spPr>
          <a:xfrm>
            <a:off x="548640" y="4553712"/>
            <a:ext cx="4572000" cy="219456"/>
          </a:xfrm>
          <a:prstGeom prst="rect">
            <a:avLst/>
          </a:prstGeom>
          <a:noFill/>
          <a:ln/>
        </p:spPr>
        <p:txBody>
          <a:bodyPr wrap="square" lIns="0" tIns="0" rIns="0" bIns="0" rtlCol="0" anchor="ctr"/>
          <a:lstStyle/>
          <a:p>
            <a:pPr algn="l" indent="0" marL="0">
              <a:buNone/>
            </a:pPr>
            <a:r>
              <a:rPr lang="en-US" sz="1000" i="1" dirty="0">
                <a:solidFill>
                  <a:srgbClr val="566175"/>
                </a:solidFill>
                <a:latin typeface="Calibri" pitchFamily="34" charset="0"/>
                <a:ea typeface="Calibri" pitchFamily="34" charset="-122"/>
                <a:cs typeface="Calibri" pitchFamily="34" charset="-120"/>
              </a:rPr>
              <a:t>Ảnh chụp bản chơi thử — dữ liệu minh họa</a:t>
            </a:r>
            <a:endParaRPr lang="en-US" sz="10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BƯỚC 1</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Học sinh bắt đầu như thế nào?</a:t>
            </a:r>
            <a:endParaRPr lang="en-US" sz="3000" dirty="0"/>
          </a:p>
        </p:txBody>
      </p:sp>
      <p:sp>
        <p:nvSpPr>
          <p:cNvPr id="4" name="Shape 2"/>
          <p:cNvSpPr/>
          <p:nvPr/>
        </p:nvSpPr>
        <p:spPr>
          <a:xfrm>
            <a:off x="548640" y="1371600"/>
            <a:ext cx="420624" cy="420624"/>
          </a:xfrm>
          <a:prstGeom prst="ellipse">
            <a:avLst/>
          </a:prstGeom>
          <a:solidFill>
            <a:srgbClr val="0E8A7D"/>
          </a:solidFill>
          <a:ln/>
        </p:spPr>
      </p:sp>
      <p:sp>
        <p:nvSpPr>
          <p:cNvPr id="5" name="Text 3"/>
          <p:cNvSpPr txBox="1"/>
          <p:nvPr/>
        </p:nvSpPr>
        <p:spPr>
          <a:xfrm>
            <a:off x="548640" y="13716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43000" y="1353312"/>
            <a:ext cx="3108960" cy="310896"/>
          </a:xfrm>
          <a:prstGeom prst="rect">
            <a:avLst/>
          </a:prstGeom>
          <a:noFill/>
          <a:ln/>
        </p:spPr>
        <p:txBody>
          <a:bodyPr wrap="square" lIns="0" tIns="0" rIns="0" bIns="0" rtlCol="0" anchor="ctr"/>
          <a:lstStyle/>
          <a:p>
            <a:pPr indent="0" marL="0">
              <a:buNone/>
            </a:pPr>
            <a:r>
              <a:rPr lang="en-US" sz="1600" b="1" dirty="0">
                <a:solidFill>
                  <a:srgbClr val="0F2447"/>
                </a:solidFill>
                <a:latin typeface="Cambria" pitchFamily="34" charset="0"/>
                <a:ea typeface="Cambria" pitchFamily="34" charset="-122"/>
                <a:cs typeface="Cambria" pitchFamily="34" charset="-120"/>
              </a:rPr>
              <a:t>Mở ReadMate AI</a:t>
            </a:r>
            <a:endParaRPr lang="en-US" sz="1600" dirty="0"/>
          </a:p>
        </p:txBody>
      </p:sp>
      <p:sp>
        <p:nvSpPr>
          <p:cNvPr id="7" name="Text 5"/>
          <p:cNvSpPr txBox="1"/>
          <p:nvPr/>
        </p:nvSpPr>
        <p:spPr>
          <a:xfrm>
            <a:off x="1143000" y="1664208"/>
            <a:ext cx="3108960" cy="548640"/>
          </a:xfrm>
          <a:prstGeom prst="rect">
            <a:avLst/>
          </a:prstGeom>
          <a:noFill/>
          <a:ln/>
        </p:spPr>
        <p:txBody>
          <a:bodyPr wrap="square" lIns="0" tIns="0" rIns="0" bIns="0" rtlCol="0" anchor="t"/>
          <a:lstStyle/>
          <a:p>
            <a:pPr indent="0" marL="0">
              <a:buNone/>
            </a:pPr>
            <a:r>
              <a:rPr lang="en-US" sz="1300" dirty="0">
                <a:solidFill>
                  <a:srgbClr val="566175"/>
                </a:solidFill>
                <a:latin typeface="Calibri" pitchFamily="34" charset="0"/>
                <a:ea typeface="Calibri" pitchFamily="34" charset="-122"/>
                <a:cs typeface="Calibri" pitchFamily="34" charset="-120"/>
              </a:rPr>
              <a:t>Dùng thẻ học do giáo viên cấp để vào đúng trang của con.</a:t>
            </a:r>
            <a:endParaRPr lang="en-US" sz="1300" dirty="0"/>
          </a:p>
        </p:txBody>
      </p:sp>
      <p:sp>
        <p:nvSpPr>
          <p:cNvPr id="8" name="Shape 6"/>
          <p:cNvSpPr/>
          <p:nvPr/>
        </p:nvSpPr>
        <p:spPr>
          <a:xfrm>
            <a:off x="548640" y="2423160"/>
            <a:ext cx="420624" cy="420624"/>
          </a:xfrm>
          <a:prstGeom prst="ellipse">
            <a:avLst/>
          </a:prstGeom>
          <a:solidFill>
            <a:srgbClr val="0E8A7D"/>
          </a:solidFill>
          <a:ln/>
        </p:spPr>
      </p:sp>
      <p:sp>
        <p:nvSpPr>
          <p:cNvPr id="9" name="Text 7"/>
          <p:cNvSpPr txBox="1"/>
          <p:nvPr/>
        </p:nvSpPr>
        <p:spPr>
          <a:xfrm>
            <a:off x="548640" y="24231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43000" y="2404872"/>
            <a:ext cx="3108960" cy="310896"/>
          </a:xfrm>
          <a:prstGeom prst="rect">
            <a:avLst/>
          </a:prstGeom>
          <a:noFill/>
          <a:ln/>
        </p:spPr>
        <p:txBody>
          <a:bodyPr wrap="square" lIns="0" tIns="0" rIns="0" bIns="0" rtlCol="0" anchor="ctr"/>
          <a:lstStyle/>
          <a:p>
            <a:pPr indent="0" marL="0">
              <a:buNone/>
            </a:pPr>
            <a:r>
              <a:rPr lang="en-US" sz="1600" b="1" dirty="0">
                <a:solidFill>
                  <a:srgbClr val="0F2447"/>
                </a:solidFill>
                <a:latin typeface="Cambria" pitchFamily="34" charset="0"/>
                <a:ea typeface="Cambria" pitchFamily="34" charset="-122"/>
                <a:cs typeface="Cambria" pitchFamily="34" charset="-120"/>
              </a:rPr>
              <a:t>Vào trang của mình</a:t>
            </a:r>
            <a:endParaRPr lang="en-US" sz="1600" dirty="0"/>
          </a:p>
        </p:txBody>
      </p:sp>
      <p:sp>
        <p:nvSpPr>
          <p:cNvPr id="11" name="Text 9"/>
          <p:cNvSpPr txBox="1"/>
          <p:nvPr/>
        </p:nvSpPr>
        <p:spPr>
          <a:xfrm>
            <a:off x="1143000" y="2715768"/>
            <a:ext cx="3108960" cy="548640"/>
          </a:xfrm>
          <a:prstGeom prst="rect">
            <a:avLst/>
          </a:prstGeom>
          <a:noFill/>
          <a:ln/>
        </p:spPr>
        <p:txBody>
          <a:bodyPr wrap="square" lIns="0" tIns="0" rIns="0" bIns="0" rtlCol="0" anchor="t"/>
          <a:lstStyle/>
          <a:p>
            <a:pPr indent="0" marL="0">
              <a:buNone/>
            </a:pPr>
            <a:r>
              <a:rPr lang="en-US" sz="1300" dirty="0">
                <a:solidFill>
                  <a:srgbClr val="566175"/>
                </a:solidFill>
                <a:latin typeface="Calibri" pitchFamily="34" charset="0"/>
                <a:ea typeface="Calibri" pitchFamily="34" charset="-122"/>
                <a:cs typeface="Calibri" pitchFamily="34" charset="-120"/>
              </a:rPr>
              <a:t>Con thấy tên, ảnh đại diện và điểm thưởng của riêng mình.</a:t>
            </a:r>
            <a:endParaRPr lang="en-US" sz="1300" dirty="0"/>
          </a:p>
        </p:txBody>
      </p:sp>
      <p:sp>
        <p:nvSpPr>
          <p:cNvPr id="12" name="Shape 10"/>
          <p:cNvSpPr/>
          <p:nvPr/>
        </p:nvSpPr>
        <p:spPr>
          <a:xfrm>
            <a:off x="548640" y="3474720"/>
            <a:ext cx="420624" cy="420624"/>
          </a:xfrm>
          <a:prstGeom prst="ellipse">
            <a:avLst/>
          </a:prstGeom>
          <a:solidFill>
            <a:srgbClr val="0E8A7D"/>
          </a:solidFill>
          <a:ln/>
        </p:spPr>
      </p:sp>
      <p:sp>
        <p:nvSpPr>
          <p:cNvPr id="13" name="Text 11"/>
          <p:cNvSpPr txBox="1"/>
          <p:nvPr/>
        </p:nvSpPr>
        <p:spPr>
          <a:xfrm>
            <a:off x="548640" y="34747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456432"/>
            <a:ext cx="3108960" cy="310896"/>
          </a:xfrm>
          <a:prstGeom prst="rect">
            <a:avLst/>
          </a:prstGeom>
          <a:noFill/>
          <a:ln/>
        </p:spPr>
        <p:txBody>
          <a:bodyPr wrap="square" lIns="0" tIns="0" rIns="0" bIns="0" rtlCol="0" anchor="ctr"/>
          <a:lstStyle/>
          <a:p>
            <a:pPr indent="0" marL="0">
              <a:buNone/>
            </a:pPr>
            <a:r>
              <a:rPr lang="en-US" sz="1600" b="1" dirty="0">
                <a:solidFill>
                  <a:srgbClr val="0F2447"/>
                </a:solidFill>
                <a:latin typeface="Cambria" pitchFamily="34" charset="0"/>
                <a:ea typeface="Cambria" pitchFamily="34" charset="-122"/>
                <a:cs typeface="Cambria" pitchFamily="34" charset="-120"/>
              </a:rPr>
              <a:t>Chạm vào khu vực học tập</a:t>
            </a:r>
            <a:endParaRPr lang="en-US" sz="1600" dirty="0"/>
          </a:p>
        </p:txBody>
      </p:sp>
      <p:sp>
        <p:nvSpPr>
          <p:cNvPr id="15" name="Text 13"/>
          <p:cNvSpPr txBox="1"/>
          <p:nvPr/>
        </p:nvSpPr>
        <p:spPr>
          <a:xfrm>
            <a:off x="1143000" y="3767328"/>
            <a:ext cx="3108960" cy="548640"/>
          </a:xfrm>
          <a:prstGeom prst="rect">
            <a:avLst/>
          </a:prstGeom>
          <a:noFill/>
          <a:ln/>
        </p:spPr>
        <p:txBody>
          <a:bodyPr wrap="square" lIns="0" tIns="0" rIns="0" bIns="0" rtlCol="0" anchor="t"/>
          <a:lstStyle/>
          <a:p>
            <a:pPr indent="0" marL="0">
              <a:buNone/>
            </a:pPr>
            <a:r>
              <a:rPr lang="en-US" sz="1300" dirty="0">
                <a:solidFill>
                  <a:srgbClr val="566175"/>
                </a:solidFill>
                <a:latin typeface="Calibri" pitchFamily="34" charset="0"/>
                <a:ea typeface="Calibri" pitchFamily="34" charset="-122"/>
                <a:cs typeface="Calibri" pitchFamily="34" charset="-120"/>
              </a:rPr>
              <a:t>Chọn “Luyện bài” hoặc “Khám phá Game World”.</a:t>
            </a:r>
            <a:endParaRPr lang="en-US" sz="1300" dirty="0"/>
          </a:p>
        </p:txBody>
      </p:sp>
      <p:sp>
        <p:nvSpPr>
          <p:cNvPr id="16" name="Shape 14"/>
          <p:cNvSpPr/>
          <p:nvPr/>
        </p:nvSpPr>
        <p:spPr>
          <a:xfrm>
            <a:off x="4526280" y="1325880"/>
            <a:ext cx="4160520" cy="2834640"/>
          </a:xfrm>
          <a:prstGeom prst="roundRect">
            <a:avLst>
              <a:gd name="adj" fmla="val 3871"/>
            </a:avLst>
          </a:prstGeom>
          <a:solidFill>
            <a:srgbClr val="E9E4D8"/>
          </a:solidFill>
          <a:ln/>
          <a:effectLst>
            <a:outerShdw sx="100000" sy="100000" kx="0" ky="0" algn="bl" rotWithShape="0" blurRad="101600" dist="25400" dir="5400000">
              <a:srgbClr val="1F2A3C">
                <a:alpha val="14000"/>
              </a:srgbClr>
            </a:outerShdw>
          </a:effectLst>
        </p:spPr>
      </p:sp>
      <p:sp>
        <p:nvSpPr>
          <p:cNvPr id="17" name="Shape 15"/>
          <p:cNvSpPr/>
          <p:nvPr/>
        </p:nvSpPr>
        <p:spPr>
          <a:xfrm>
            <a:off x="4663440" y="1426464"/>
            <a:ext cx="91440" cy="91440"/>
          </a:xfrm>
          <a:prstGeom prst="ellipse">
            <a:avLst/>
          </a:prstGeom>
          <a:solidFill>
            <a:srgbClr val="E07A6B"/>
          </a:solidFill>
          <a:ln/>
        </p:spPr>
      </p:sp>
      <p:sp>
        <p:nvSpPr>
          <p:cNvPr id="18" name="Shape 16"/>
          <p:cNvSpPr/>
          <p:nvPr/>
        </p:nvSpPr>
        <p:spPr>
          <a:xfrm>
            <a:off x="4818888" y="1426464"/>
            <a:ext cx="91440" cy="91440"/>
          </a:xfrm>
          <a:prstGeom prst="ellipse">
            <a:avLst/>
          </a:prstGeom>
          <a:solidFill>
            <a:srgbClr val="E8C15A"/>
          </a:solidFill>
          <a:ln/>
        </p:spPr>
      </p:sp>
      <p:sp>
        <p:nvSpPr>
          <p:cNvPr id="19" name="Shape 17"/>
          <p:cNvSpPr/>
          <p:nvPr/>
        </p:nvSpPr>
        <p:spPr>
          <a:xfrm>
            <a:off x="4974336" y="1426464"/>
            <a:ext cx="91440" cy="91440"/>
          </a:xfrm>
          <a:prstGeom prst="ellipse">
            <a:avLst/>
          </a:prstGeom>
          <a:solidFill>
            <a:srgbClr val="7DC49B"/>
          </a:solidFill>
          <a:ln/>
        </p:spPr>
      </p:sp>
      <p:pic>
        <p:nvPicPr>
          <p:cNvPr id="20" name="Image 0" descr="Ảnh chụp bản chơi thử">    </p:cNvPr>
          <p:cNvPicPr>
            <a:picLocks noChangeAspect="1"/>
          </p:cNvPicPr>
          <p:nvPr/>
        </p:nvPicPr>
        <p:blipFill>
          <a:blip r:embed="rId1"/>
          <a:stretch>
            <a:fillRect/>
          </a:stretch>
        </p:blipFill>
        <p:spPr>
          <a:xfrm>
            <a:off x="4581144" y="1600200"/>
            <a:ext cx="4050792" cy="2505456"/>
          </a:xfrm>
          <a:prstGeom prst="rect">
            <a:avLst/>
          </a:prstGeom>
        </p:spPr>
      </p:pic>
      <p:sp>
        <p:nvSpPr>
          <p:cNvPr id="21" name="Shape 18"/>
          <p:cNvSpPr/>
          <p:nvPr/>
        </p:nvSpPr>
        <p:spPr>
          <a:xfrm>
            <a:off x="4526280" y="4297680"/>
            <a:ext cx="1207008" cy="256032"/>
          </a:xfrm>
          <a:prstGeom prst="roundRect">
            <a:avLst>
              <a:gd name="adj" fmla="val 50000"/>
            </a:avLst>
          </a:prstGeom>
          <a:solidFill>
            <a:srgbClr val="FFFFFF"/>
          </a:solidFill>
          <a:ln w="15875">
            <a:solidFill>
              <a:srgbClr val="9A7416"/>
            </a:solidFill>
            <a:prstDash val="solid"/>
          </a:ln>
        </p:spPr>
      </p:sp>
      <p:sp>
        <p:nvSpPr>
          <p:cNvPr id="22" name="Text 19"/>
          <p:cNvSpPr txBox="1"/>
          <p:nvPr/>
        </p:nvSpPr>
        <p:spPr>
          <a:xfrm>
            <a:off x="4526280" y="4297680"/>
            <a:ext cx="1207008" cy="256032"/>
          </a:xfrm>
          <a:prstGeom prst="rect">
            <a:avLst/>
          </a:prstGeom>
          <a:noFill/>
          <a:ln/>
        </p:spPr>
        <p:txBody>
          <a:bodyPr wrap="square" lIns="0" tIns="0" rIns="0" bIns="0" rtlCol="0" anchor="ctr"/>
          <a:lstStyle/>
          <a:p>
            <a:pPr algn="ctr" indent="0" marL="0">
              <a:buNone/>
            </a:pPr>
            <a:r>
              <a:rPr lang="en-US" sz="1000" b="1" dirty="0">
                <a:solidFill>
                  <a:srgbClr val="9A7416"/>
                </a:solidFill>
                <a:latin typeface="Calibri" pitchFamily="34" charset="0"/>
                <a:ea typeface="Calibri" pitchFamily="34" charset="-122"/>
                <a:cs typeface="Calibri" pitchFamily="34" charset="-120"/>
              </a:rPr>
              <a:t>BẢN CHƠI THỬ</a:t>
            </a:r>
            <a:endParaRPr lang="en-US" sz="1000" dirty="0"/>
          </a:p>
        </p:txBody>
      </p:sp>
      <p:sp>
        <p:nvSpPr>
          <p:cNvPr id="23" name="Text 20"/>
          <p:cNvSpPr txBox="1"/>
          <p:nvPr/>
        </p:nvSpPr>
        <p:spPr>
          <a:xfrm>
            <a:off x="5989320" y="4334256"/>
            <a:ext cx="2743200" cy="219456"/>
          </a:xfrm>
          <a:prstGeom prst="rect">
            <a:avLst/>
          </a:prstGeom>
          <a:noFill/>
          <a:ln/>
        </p:spPr>
        <p:txBody>
          <a:bodyPr wrap="square" lIns="0" tIns="0" rIns="0" bIns="0" rtlCol="0" anchor="ctr"/>
          <a:lstStyle/>
          <a:p>
            <a:pPr algn="l" indent="0" marL="0">
              <a:buNone/>
            </a:pPr>
            <a:r>
              <a:rPr lang="en-US" sz="1000" i="1" dirty="0">
                <a:solidFill>
                  <a:srgbClr val="566175"/>
                </a:solidFill>
                <a:latin typeface="Calibri" pitchFamily="34" charset="0"/>
                <a:ea typeface="Calibri" pitchFamily="34" charset="-122"/>
                <a:cs typeface="Calibri" pitchFamily="34" charset="-120"/>
              </a:rPr>
              <a:t>Ảnh chụp trang của học sinh — tên và điểm là dữ liệu minh họa</a:t>
            </a:r>
            <a:endParaRPr lang="en-US" sz="10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BƯỚC 2</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Chọn bài luyện Tiếng Việt</a:t>
            </a:r>
            <a:endParaRPr lang="en-US" sz="3000" dirty="0"/>
          </a:p>
        </p:txBody>
      </p:sp>
      <p:sp>
        <p:nvSpPr>
          <p:cNvPr id="4" name="Shape 2"/>
          <p:cNvSpPr/>
          <p:nvPr/>
        </p:nvSpPr>
        <p:spPr>
          <a:xfrm>
            <a:off x="548640" y="1325880"/>
            <a:ext cx="256032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5" name="Shape 3"/>
          <p:cNvSpPr/>
          <p:nvPr/>
        </p:nvSpPr>
        <p:spPr>
          <a:xfrm>
            <a:off x="685800" y="1463040"/>
            <a:ext cx="2286000" cy="685800"/>
          </a:xfrm>
          <a:prstGeom prst="roundRect">
            <a:avLst>
              <a:gd name="adj" fmla="val 13333"/>
            </a:avLst>
          </a:prstGeom>
          <a:solidFill>
            <a:srgbClr val="0F2447"/>
          </a:solidFill>
          <a:ln/>
        </p:spPr>
      </p:sp>
      <p:sp>
        <p:nvSpPr>
          <p:cNvPr id="6" name="Text 4"/>
          <p:cNvSpPr txBox="1"/>
          <p:nvPr/>
        </p:nvSpPr>
        <p:spPr>
          <a:xfrm>
            <a:off x="685800" y="1463040"/>
            <a:ext cx="22860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b</a:t>
            </a:r>
            <a:endParaRPr lang="en-US" sz="2600" dirty="0"/>
          </a:p>
        </p:txBody>
      </p:sp>
      <p:sp>
        <p:nvSpPr>
          <p:cNvPr id="7" name="Text 5"/>
          <p:cNvSpPr txBox="1"/>
          <p:nvPr/>
        </p:nvSpPr>
        <p:spPr>
          <a:xfrm>
            <a:off x="713232" y="2221992"/>
            <a:ext cx="2240280" cy="256032"/>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Nhận biết chữ</a:t>
            </a:r>
            <a:endParaRPr lang="en-US" sz="1400" dirty="0"/>
          </a:p>
        </p:txBody>
      </p:sp>
      <p:sp>
        <p:nvSpPr>
          <p:cNvPr id="8" name="Text 6"/>
          <p:cNvSpPr txBox="1"/>
          <p:nvPr/>
        </p:nvSpPr>
        <p:spPr>
          <a:xfrm>
            <a:off x="713232" y="2478024"/>
            <a:ext cx="2240280" cy="237744"/>
          </a:xfrm>
          <a:prstGeom prst="rect">
            <a:avLst/>
          </a:prstGeom>
          <a:noFill/>
          <a:ln/>
        </p:spPr>
        <p:txBody>
          <a:bodyPr wrap="square" lIns="0" tIns="0" rIns="0" bIns="0" rtlCol="0" anchor="ctr"/>
          <a:lstStyle/>
          <a:p>
            <a:pPr indent="0" marL="0">
              <a:buNone/>
            </a:pPr>
            <a:r>
              <a:rPr lang="en-US" sz="1200" dirty="0">
                <a:solidFill>
                  <a:srgbClr val="566175"/>
                </a:solidFill>
                <a:latin typeface="Calibri" pitchFamily="34" charset="0"/>
                <a:ea typeface="Calibri" pitchFamily="34" charset="-122"/>
                <a:cs typeface="Calibri" pitchFamily="34" charset="-120"/>
              </a:rPr>
              <a:t>Làm quen chữ cái và âm.</a:t>
            </a:r>
            <a:endParaRPr lang="en-US" sz="1200" dirty="0"/>
          </a:p>
        </p:txBody>
      </p:sp>
      <p:sp>
        <p:nvSpPr>
          <p:cNvPr id="9" name="Shape 7"/>
          <p:cNvSpPr/>
          <p:nvPr/>
        </p:nvSpPr>
        <p:spPr>
          <a:xfrm>
            <a:off x="3291840" y="1325880"/>
            <a:ext cx="256032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0" name="Shape 8"/>
          <p:cNvSpPr/>
          <p:nvPr/>
        </p:nvSpPr>
        <p:spPr>
          <a:xfrm>
            <a:off x="3429000" y="1463040"/>
            <a:ext cx="2286000" cy="685800"/>
          </a:xfrm>
          <a:prstGeom prst="roundRect">
            <a:avLst>
              <a:gd name="adj" fmla="val 13333"/>
            </a:avLst>
          </a:prstGeom>
          <a:solidFill>
            <a:srgbClr val="0F2447"/>
          </a:solidFill>
          <a:ln/>
        </p:spPr>
      </p:sp>
      <p:sp>
        <p:nvSpPr>
          <p:cNvPr id="11" name="Text 9"/>
          <p:cNvSpPr txBox="1"/>
          <p:nvPr/>
        </p:nvSpPr>
        <p:spPr>
          <a:xfrm>
            <a:off x="3429000" y="1463040"/>
            <a:ext cx="22860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ng + ang</a:t>
            </a:r>
            <a:endParaRPr lang="en-US" sz="2600" dirty="0"/>
          </a:p>
        </p:txBody>
      </p:sp>
      <p:sp>
        <p:nvSpPr>
          <p:cNvPr id="12" name="Text 10"/>
          <p:cNvSpPr txBox="1"/>
          <p:nvPr/>
        </p:nvSpPr>
        <p:spPr>
          <a:xfrm>
            <a:off x="3456432" y="2221992"/>
            <a:ext cx="2240280" cy="256032"/>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Ghép âm, ghép vần</a:t>
            </a:r>
            <a:endParaRPr lang="en-US" sz="1400" dirty="0"/>
          </a:p>
        </p:txBody>
      </p:sp>
      <p:sp>
        <p:nvSpPr>
          <p:cNvPr id="13" name="Text 11"/>
          <p:cNvSpPr txBox="1"/>
          <p:nvPr/>
        </p:nvSpPr>
        <p:spPr>
          <a:xfrm>
            <a:off x="3456432" y="2478024"/>
            <a:ext cx="2240280" cy="237744"/>
          </a:xfrm>
          <a:prstGeom prst="rect">
            <a:avLst/>
          </a:prstGeom>
          <a:noFill/>
          <a:ln/>
        </p:spPr>
        <p:txBody>
          <a:bodyPr wrap="square" lIns="0" tIns="0" rIns="0" bIns="0" rtlCol="0" anchor="ctr"/>
          <a:lstStyle/>
          <a:p>
            <a:pPr indent="0" marL="0">
              <a:buNone/>
            </a:pPr>
            <a:r>
              <a:rPr lang="en-US" sz="1200" dirty="0">
                <a:solidFill>
                  <a:srgbClr val="566175"/>
                </a:solidFill>
                <a:latin typeface="Calibri" pitchFamily="34" charset="0"/>
                <a:ea typeface="Calibri" pitchFamily="34" charset="-122"/>
                <a:cs typeface="Calibri" pitchFamily="34" charset="-120"/>
              </a:rPr>
              <a:t>Ghép thành tiếng đúng.</a:t>
            </a:r>
            <a:endParaRPr lang="en-US" sz="1200" dirty="0"/>
          </a:p>
        </p:txBody>
      </p:sp>
      <p:sp>
        <p:nvSpPr>
          <p:cNvPr id="14" name="Shape 12"/>
          <p:cNvSpPr/>
          <p:nvPr/>
        </p:nvSpPr>
        <p:spPr>
          <a:xfrm>
            <a:off x="6035040" y="1325880"/>
            <a:ext cx="256032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5" name="Shape 13"/>
          <p:cNvSpPr/>
          <p:nvPr/>
        </p:nvSpPr>
        <p:spPr>
          <a:xfrm>
            <a:off x="6172200" y="1463040"/>
            <a:ext cx="2286000" cy="685800"/>
          </a:xfrm>
          <a:prstGeom prst="roundRect">
            <a:avLst>
              <a:gd name="adj" fmla="val 13333"/>
            </a:avLst>
          </a:prstGeom>
          <a:solidFill>
            <a:srgbClr val="0F2447"/>
          </a:solidFill>
          <a:ln/>
        </p:spPr>
      </p:sp>
      <p:sp>
        <p:nvSpPr>
          <p:cNvPr id="16" name="Text 14"/>
          <p:cNvSpPr txBox="1"/>
          <p:nvPr/>
        </p:nvSpPr>
        <p:spPr>
          <a:xfrm>
            <a:off x="6172200" y="1463040"/>
            <a:ext cx="22860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vàng</a:t>
            </a:r>
            <a:endParaRPr lang="en-US" sz="2600" dirty="0"/>
          </a:p>
        </p:txBody>
      </p:sp>
      <p:sp>
        <p:nvSpPr>
          <p:cNvPr id="17" name="Text 15"/>
          <p:cNvSpPr txBox="1"/>
          <p:nvPr/>
        </p:nvSpPr>
        <p:spPr>
          <a:xfrm>
            <a:off x="6199632" y="2221992"/>
            <a:ext cx="2240280" cy="256032"/>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Nhận biết tiếng</a:t>
            </a:r>
            <a:endParaRPr lang="en-US" sz="1400" dirty="0"/>
          </a:p>
        </p:txBody>
      </p:sp>
      <p:sp>
        <p:nvSpPr>
          <p:cNvPr id="18" name="Text 16"/>
          <p:cNvSpPr txBox="1"/>
          <p:nvPr/>
        </p:nvSpPr>
        <p:spPr>
          <a:xfrm>
            <a:off x="6199632" y="2478024"/>
            <a:ext cx="2240280" cy="237744"/>
          </a:xfrm>
          <a:prstGeom prst="rect">
            <a:avLst/>
          </a:prstGeom>
          <a:noFill/>
          <a:ln/>
        </p:spPr>
        <p:txBody>
          <a:bodyPr wrap="square" lIns="0" tIns="0" rIns="0" bIns="0" rtlCol="0" anchor="ctr"/>
          <a:lstStyle/>
          <a:p>
            <a:pPr indent="0" marL="0">
              <a:buNone/>
            </a:pPr>
            <a:r>
              <a:rPr lang="en-US" sz="1200" dirty="0">
                <a:solidFill>
                  <a:srgbClr val="566175"/>
                </a:solidFill>
                <a:latin typeface="Calibri" pitchFamily="34" charset="0"/>
                <a:ea typeface="Calibri" pitchFamily="34" charset="-122"/>
                <a:cs typeface="Calibri" pitchFamily="34" charset="-120"/>
              </a:rPr>
              <a:t>Tìm vần, âm, thanh của tiếng.</a:t>
            </a:r>
            <a:endParaRPr lang="en-US" sz="1200" dirty="0"/>
          </a:p>
        </p:txBody>
      </p:sp>
      <p:sp>
        <p:nvSpPr>
          <p:cNvPr id="19" name="Shape 17"/>
          <p:cNvSpPr/>
          <p:nvPr/>
        </p:nvSpPr>
        <p:spPr>
          <a:xfrm>
            <a:off x="548640" y="2971800"/>
            <a:ext cx="256032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20" name="Shape 18"/>
          <p:cNvSpPr/>
          <p:nvPr/>
        </p:nvSpPr>
        <p:spPr>
          <a:xfrm>
            <a:off x="685800" y="3108960"/>
            <a:ext cx="2286000" cy="685800"/>
          </a:xfrm>
          <a:prstGeom prst="roundRect">
            <a:avLst>
              <a:gd name="adj" fmla="val 13333"/>
            </a:avLst>
          </a:prstGeom>
          <a:solidFill>
            <a:srgbClr val="0F2447"/>
          </a:solidFill>
          <a:ln/>
        </p:spPr>
      </p:sp>
      <p:sp>
        <p:nvSpPr>
          <p:cNvPr id="21" name="Text 19"/>
          <p:cNvSpPr txBox="1"/>
          <p:nvPr/>
        </p:nvSpPr>
        <p:spPr>
          <a:xfrm>
            <a:off x="685800" y="3108960"/>
            <a:ext cx="22860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m _ o</a:t>
            </a:r>
            <a:endParaRPr lang="en-US" sz="2600" dirty="0"/>
          </a:p>
        </p:txBody>
      </p:sp>
      <p:sp>
        <p:nvSpPr>
          <p:cNvPr id="22" name="Text 20"/>
          <p:cNvSpPr txBox="1"/>
          <p:nvPr/>
        </p:nvSpPr>
        <p:spPr>
          <a:xfrm>
            <a:off x="713232" y="3867912"/>
            <a:ext cx="2240280" cy="256032"/>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Điền chữ còn thiếu</a:t>
            </a:r>
            <a:endParaRPr lang="en-US" sz="1400" dirty="0"/>
          </a:p>
        </p:txBody>
      </p:sp>
      <p:sp>
        <p:nvSpPr>
          <p:cNvPr id="23" name="Text 21"/>
          <p:cNvSpPr txBox="1"/>
          <p:nvPr/>
        </p:nvSpPr>
        <p:spPr>
          <a:xfrm>
            <a:off x="713232" y="4123944"/>
            <a:ext cx="2240280" cy="237744"/>
          </a:xfrm>
          <a:prstGeom prst="rect">
            <a:avLst/>
          </a:prstGeom>
          <a:noFill/>
          <a:ln/>
        </p:spPr>
        <p:txBody>
          <a:bodyPr wrap="square" lIns="0" tIns="0" rIns="0" bIns="0" rtlCol="0" anchor="ctr"/>
          <a:lstStyle/>
          <a:p>
            <a:pPr indent="0" marL="0">
              <a:buNone/>
            </a:pPr>
            <a:r>
              <a:rPr lang="en-US" sz="1200" dirty="0">
                <a:solidFill>
                  <a:srgbClr val="566175"/>
                </a:solidFill>
                <a:latin typeface="Calibri" pitchFamily="34" charset="0"/>
                <a:ea typeface="Calibri" pitchFamily="34" charset="-122"/>
                <a:cs typeface="Calibri" pitchFamily="34" charset="-120"/>
              </a:rPr>
              <a:t>Hoàn thiện tiếng, từ.</a:t>
            </a:r>
            <a:endParaRPr lang="en-US" sz="1200" dirty="0"/>
          </a:p>
        </p:txBody>
      </p:sp>
      <p:sp>
        <p:nvSpPr>
          <p:cNvPr id="24" name="Shape 22"/>
          <p:cNvSpPr/>
          <p:nvPr/>
        </p:nvSpPr>
        <p:spPr>
          <a:xfrm>
            <a:off x="3291840" y="2971800"/>
            <a:ext cx="256032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25" name="Shape 23"/>
          <p:cNvSpPr/>
          <p:nvPr/>
        </p:nvSpPr>
        <p:spPr>
          <a:xfrm>
            <a:off x="3429000" y="3108960"/>
            <a:ext cx="2286000" cy="685800"/>
          </a:xfrm>
          <a:prstGeom prst="roundRect">
            <a:avLst>
              <a:gd name="adj" fmla="val 13333"/>
            </a:avLst>
          </a:prstGeom>
          <a:solidFill>
            <a:srgbClr val="0F2447"/>
          </a:solidFill>
          <a:ln/>
        </p:spPr>
      </p:sp>
      <p:sp>
        <p:nvSpPr>
          <p:cNvPr id="26" name="Text 24"/>
          <p:cNvSpPr txBox="1"/>
          <p:nvPr/>
        </p:nvSpPr>
        <p:spPr>
          <a:xfrm>
            <a:off x="3429000" y="3108960"/>
            <a:ext cx="22860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từ + hình</a:t>
            </a:r>
            <a:endParaRPr lang="en-US" sz="1800" dirty="0"/>
          </a:p>
        </p:txBody>
      </p:sp>
      <p:sp>
        <p:nvSpPr>
          <p:cNvPr id="27" name="Text 25"/>
          <p:cNvSpPr txBox="1"/>
          <p:nvPr/>
        </p:nvSpPr>
        <p:spPr>
          <a:xfrm>
            <a:off x="3456432" y="3867912"/>
            <a:ext cx="2240280" cy="256032"/>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Kết hợp từ với tranh</a:t>
            </a:r>
            <a:endParaRPr lang="en-US" sz="1400" dirty="0"/>
          </a:p>
        </p:txBody>
      </p:sp>
      <p:sp>
        <p:nvSpPr>
          <p:cNvPr id="28" name="Text 26"/>
          <p:cNvSpPr txBox="1"/>
          <p:nvPr/>
        </p:nvSpPr>
        <p:spPr>
          <a:xfrm>
            <a:off x="3456432" y="4123944"/>
            <a:ext cx="2240280" cy="237744"/>
          </a:xfrm>
          <a:prstGeom prst="rect">
            <a:avLst/>
          </a:prstGeom>
          <a:noFill/>
          <a:ln/>
        </p:spPr>
        <p:txBody>
          <a:bodyPr wrap="square" lIns="0" tIns="0" rIns="0" bIns="0" rtlCol="0" anchor="ctr"/>
          <a:lstStyle/>
          <a:p>
            <a:pPr indent="0" marL="0">
              <a:buNone/>
            </a:pPr>
            <a:r>
              <a:rPr lang="en-US" sz="1200" dirty="0">
                <a:solidFill>
                  <a:srgbClr val="566175"/>
                </a:solidFill>
                <a:latin typeface="Calibri" pitchFamily="34" charset="0"/>
                <a:ea typeface="Calibri" pitchFamily="34" charset="-122"/>
                <a:cs typeface="Calibri" pitchFamily="34" charset="-120"/>
              </a:rPr>
              <a:t>Chọn từ khớp với hình.</a:t>
            </a:r>
            <a:endParaRPr lang="en-US" sz="1200" dirty="0"/>
          </a:p>
        </p:txBody>
      </p:sp>
      <p:sp>
        <p:nvSpPr>
          <p:cNvPr id="29" name="Shape 27"/>
          <p:cNvSpPr/>
          <p:nvPr/>
        </p:nvSpPr>
        <p:spPr>
          <a:xfrm>
            <a:off x="6035040" y="2971800"/>
            <a:ext cx="256032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30" name="Shape 28"/>
          <p:cNvSpPr/>
          <p:nvPr/>
        </p:nvSpPr>
        <p:spPr>
          <a:xfrm>
            <a:off x="6172200" y="3108960"/>
            <a:ext cx="2286000" cy="685800"/>
          </a:xfrm>
          <a:prstGeom prst="roundRect">
            <a:avLst>
              <a:gd name="adj" fmla="val 13333"/>
            </a:avLst>
          </a:prstGeom>
          <a:solidFill>
            <a:srgbClr val="0F2447"/>
          </a:solidFill>
          <a:ln/>
        </p:spPr>
      </p:sp>
      <p:sp>
        <p:nvSpPr>
          <p:cNvPr id="31" name="Text 29"/>
          <p:cNvSpPr txBox="1"/>
          <p:nvPr/>
        </p:nvSpPr>
        <p:spPr>
          <a:xfrm>
            <a:off x="6172200" y="3108960"/>
            <a:ext cx="22860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Bé đọc sách.</a:t>
            </a:r>
            <a:endParaRPr lang="en-US" sz="1800" dirty="0"/>
          </a:p>
        </p:txBody>
      </p:sp>
      <p:sp>
        <p:nvSpPr>
          <p:cNvPr id="32" name="Text 30"/>
          <p:cNvSpPr txBox="1"/>
          <p:nvPr/>
        </p:nvSpPr>
        <p:spPr>
          <a:xfrm>
            <a:off x="6199632" y="3867912"/>
            <a:ext cx="2240280" cy="256032"/>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Luyện đọc từ và câu</a:t>
            </a:r>
            <a:endParaRPr lang="en-US" sz="1400" dirty="0"/>
          </a:p>
        </p:txBody>
      </p:sp>
      <p:sp>
        <p:nvSpPr>
          <p:cNvPr id="33" name="Text 31"/>
          <p:cNvSpPr txBox="1"/>
          <p:nvPr/>
        </p:nvSpPr>
        <p:spPr>
          <a:xfrm>
            <a:off x="6199632" y="4123944"/>
            <a:ext cx="2240280" cy="237744"/>
          </a:xfrm>
          <a:prstGeom prst="rect">
            <a:avLst/>
          </a:prstGeom>
          <a:noFill/>
          <a:ln/>
        </p:spPr>
        <p:txBody>
          <a:bodyPr wrap="square" lIns="0" tIns="0" rIns="0" bIns="0" rtlCol="0" anchor="ctr"/>
          <a:lstStyle/>
          <a:p>
            <a:pPr indent="0" marL="0">
              <a:buNone/>
            </a:pPr>
            <a:r>
              <a:rPr lang="en-US" sz="1200" dirty="0">
                <a:solidFill>
                  <a:srgbClr val="566175"/>
                </a:solidFill>
                <a:latin typeface="Calibri" pitchFamily="34" charset="0"/>
                <a:ea typeface="Calibri" pitchFamily="34" charset="-122"/>
                <a:cs typeface="Calibri" pitchFamily="34" charset="-120"/>
              </a:rPr>
              <a:t>Đọc trơn, hiểu nghĩa.</a:t>
            </a:r>
            <a:endParaRPr lang="en-US" sz="1200" dirty="0"/>
          </a:p>
        </p:txBody>
      </p:sp>
      <p:sp>
        <p:nvSpPr>
          <p:cNvPr id="34" name="Shape 32"/>
          <p:cNvSpPr/>
          <p:nvPr/>
        </p:nvSpPr>
        <p:spPr>
          <a:xfrm>
            <a:off x="548640" y="4462272"/>
            <a:ext cx="1207008" cy="256032"/>
          </a:xfrm>
          <a:prstGeom prst="roundRect">
            <a:avLst>
              <a:gd name="adj" fmla="val 50000"/>
            </a:avLst>
          </a:prstGeom>
          <a:solidFill>
            <a:srgbClr val="FFFFFF"/>
          </a:solidFill>
          <a:ln w="15875">
            <a:solidFill>
              <a:srgbClr val="9A7416"/>
            </a:solidFill>
            <a:prstDash val="solid"/>
          </a:ln>
        </p:spPr>
      </p:sp>
      <p:sp>
        <p:nvSpPr>
          <p:cNvPr id="35" name="Text 33"/>
          <p:cNvSpPr txBox="1"/>
          <p:nvPr/>
        </p:nvSpPr>
        <p:spPr>
          <a:xfrm>
            <a:off x="548640" y="4462272"/>
            <a:ext cx="1207008" cy="256032"/>
          </a:xfrm>
          <a:prstGeom prst="rect">
            <a:avLst/>
          </a:prstGeom>
          <a:noFill/>
          <a:ln/>
        </p:spPr>
        <p:txBody>
          <a:bodyPr wrap="square" lIns="0" tIns="0" rIns="0" bIns="0" rtlCol="0" anchor="ctr"/>
          <a:lstStyle/>
          <a:p>
            <a:pPr algn="ctr" indent="0" marL="0">
              <a:buNone/>
            </a:pPr>
            <a:r>
              <a:rPr lang="en-US" sz="1000" b="1" dirty="0">
                <a:solidFill>
                  <a:srgbClr val="9A7416"/>
                </a:solidFill>
                <a:latin typeface="Calibri" pitchFamily="34" charset="0"/>
                <a:ea typeface="Calibri" pitchFamily="34" charset="-122"/>
                <a:cs typeface="Calibri" pitchFamily="34" charset="-120"/>
              </a:rPr>
              <a:t>BẢN CHƠI THỬ</a:t>
            </a:r>
            <a:endParaRPr lang="en-US" sz="1000" dirty="0"/>
          </a:p>
        </p:txBody>
      </p:sp>
      <p:sp>
        <p:nvSpPr>
          <p:cNvPr id="36" name="Text 34"/>
          <p:cNvSpPr txBox="1"/>
          <p:nvPr/>
        </p:nvSpPr>
        <p:spPr>
          <a:xfrm>
            <a:off x="2194560" y="4498848"/>
            <a:ext cx="6309360" cy="219456"/>
          </a:xfrm>
          <a:prstGeom prst="rect">
            <a:avLst/>
          </a:prstGeom>
          <a:noFill/>
          <a:ln/>
        </p:spPr>
        <p:txBody>
          <a:bodyPr wrap="square" lIns="0" tIns="0" rIns="0" bIns="0" rtlCol="0" anchor="ctr"/>
          <a:lstStyle/>
          <a:p>
            <a:pPr algn="l" indent="0" marL="0">
              <a:buNone/>
            </a:pPr>
            <a:r>
              <a:rPr lang="en-US" sz="1000" i="1" dirty="0">
                <a:solidFill>
                  <a:srgbClr val="566175"/>
                </a:solidFill>
                <a:latin typeface="Calibri" pitchFamily="34" charset="0"/>
                <a:ea typeface="Calibri" pitchFamily="34" charset="-122"/>
                <a:cs typeface="Calibri" pitchFamily="34" charset="-120"/>
              </a:rPr>
              <a:t>Ví dụ minh họa. Học liệu thật sẽ do giáo viên duyệt trước khi đến tay học sinh.</a:t>
            </a:r>
            <a:endParaRPr lang="en-US" sz="10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BƯỚC 3</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Học sinh làm bài như thế nào?</a:t>
            </a:r>
            <a:endParaRPr lang="en-US" sz="3000" dirty="0"/>
          </a:p>
        </p:txBody>
      </p:sp>
      <p:sp>
        <p:nvSpPr>
          <p:cNvPr id="4" name="Shape 2"/>
          <p:cNvSpPr/>
          <p:nvPr/>
        </p:nvSpPr>
        <p:spPr>
          <a:xfrm>
            <a:off x="2788920" y="1170432"/>
            <a:ext cx="1737360" cy="3474720"/>
          </a:xfrm>
          <a:prstGeom prst="roundRect">
            <a:avLst>
              <a:gd name="adj" fmla="val 11579"/>
            </a:avLst>
          </a:prstGeom>
          <a:solidFill>
            <a:srgbClr val="0F2447"/>
          </a:solidFill>
          <a:ln/>
          <a:effectLst>
            <a:outerShdw sx="100000" sy="100000" kx="0" ky="0" algn="bl" rotWithShape="0" blurRad="101600" dist="25400" dir="5400000">
              <a:srgbClr val="1F2A3C">
                <a:alpha val="14000"/>
              </a:srgbClr>
            </a:outerShdw>
          </a:effectLst>
        </p:spPr>
      </p:sp>
      <p:pic>
        <p:nvPicPr>
          <p:cNvPr id="5" name="Image 0" descr="Màn hình bản chơi thử trên điện thoại">    </p:cNvPr>
          <p:cNvPicPr>
            <a:picLocks noChangeAspect="1"/>
          </p:cNvPicPr>
          <p:nvPr/>
        </p:nvPicPr>
        <p:blipFill>
          <a:blip r:embed="rId1"/>
          <a:stretch>
            <a:fillRect/>
          </a:stretch>
        </p:blipFill>
        <p:spPr>
          <a:xfrm>
            <a:off x="2843784" y="1225296"/>
            <a:ext cx="1627632" cy="3364992"/>
          </a:xfrm>
          <a:prstGeom prst="rect">
            <a:avLst/>
          </a:prstGeom>
        </p:spPr>
      </p:pic>
      <p:sp>
        <p:nvSpPr>
          <p:cNvPr id="6" name="Shape 3"/>
          <p:cNvSpPr/>
          <p:nvPr/>
        </p:nvSpPr>
        <p:spPr>
          <a:xfrm>
            <a:off x="4846320" y="1170432"/>
            <a:ext cx="1737360" cy="3474720"/>
          </a:xfrm>
          <a:prstGeom prst="roundRect">
            <a:avLst>
              <a:gd name="adj" fmla="val 11579"/>
            </a:avLst>
          </a:prstGeom>
          <a:solidFill>
            <a:srgbClr val="0F2447"/>
          </a:solidFill>
          <a:ln/>
          <a:effectLst>
            <a:outerShdw sx="100000" sy="100000" kx="0" ky="0" algn="bl" rotWithShape="0" blurRad="101600" dist="25400" dir="5400000">
              <a:srgbClr val="1F2A3C">
                <a:alpha val="14000"/>
              </a:srgbClr>
            </a:outerShdw>
          </a:effectLst>
        </p:spPr>
      </p:sp>
      <p:pic>
        <p:nvPicPr>
          <p:cNvPr id="7" name="Image 1" descr="Màn hình bản chơi thử trên điện thoại">    </p:cNvPr>
          <p:cNvPicPr>
            <a:picLocks noChangeAspect="1"/>
          </p:cNvPicPr>
          <p:nvPr/>
        </p:nvPicPr>
        <p:blipFill>
          <a:blip r:embed="rId2"/>
          <a:stretch>
            <a:fillRect/>
          </a:stretch>
        </p:blipFill>
        <p:spPr>
          <a:xfrm>
            <a:off x="4901184" y="1225296"/>
            <a:ext cx="1627632" cy="3364992"/>
          </a:xfrm>
          <a:prstGeom prst="rect">
            <a:avLst/>
          </a:prstGeom>
        </p:spPr>
      </p:pic>
      <p:sp>
        <p:nvSpPr>
          <p:cNvPr id="8" name="Shape 4"/>
          <p:cNvSpPr/>
          <p:nvPr/>
        </p:nvSpPr>
        <p:spPr>
          <a:xfrm>
            <a:off x="2829702" y="1809105"/>
            <a:ext cx="256032" cy="256032"/>
          </a:xfrm>
          <a:prstGeom prst="ellipse">
            <a:avLst/>
          </a:prstGeom>
          <a:solidFill>
            <a:srgbClr val="B8561F"/>
          </a:solidFill>
          <a:ln/>
        </p:spPr>
      </p:sp>
      <p:sp>
        <p:nvSpPr>
          <p:cNvPr id="9" name="Text 5"/>
          <p:cNvSpPr txBox="1"/>
          <p:nvPr/>
        </p:nvSpPr>
        <p:spPr>
          <a:xfrm>
            <a:off x="2829702" y="1809105"/>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Shape 6"/>
          <p:cNvSpPr/>
          <p:nvPr/>
        </p:nvSpPr>
        <p:spPr>
          <a:xfrm>
            <a:off x="3562137" y="3664165"/>
            <a:ext cx="256032" cy="256032"/>
          </a:xfrm>
          <a:prstGeom prst="ellipse">
            <a:avLst/>
          </a:prstGeom>
          <a:solidFill>
            <a:srgbClr val="B8561F"/>
          </a:solidFill>
          <a:ln/>
        </p:spPr>
      </p:sp>
      <p:sp>
        <p:nvSpPr>
          <p:cNvPr id="11" name="Text 7"/>
          <p:cNvSpPr txBox="1"/>
          <p:nvPr/>
        </p:nvSpPr>
        <p:spPr>
          <a:xfrm>
            <a:off x="3562137" y="3664165"/>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8"/>
          <p:cNvSpPr/>
          <p:nvPr/>
        </p:nvSpPr>
        <p:spPr>
          <a:xfrm>
            <a:off x="3627242" y="4224997"/>
            <a:ext cx="256032" cy="256032"/>
          </a:xfrm>
          <a:prstGeom prst="ellipse">
            <a:avLst/>
          </a:prstGeom>
          <a:solidFill>
            <a:srgbClr val="B8561F"/>
          </a:solidFill>
          <a:ln/>
        </p:spPr>
      </p:sp>
      <p:sp>
        <p:nvSpPr>
          <p:cNvPr id="13" name="Text 9"/>
          <p:cNvSpPr txBox="1"/>
          <p:nvPr/>
        </p:nvSpPr>
        <p:spPr>
          <a:xfrm>
            <a:off x="3627242" y="4224997"/>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Shape 10"/>
          <p:cNvSpPr/>
          <p:nvPr/>
        </p:nvSpPr>
        <p:spPr>
          <a:xfrm>
            <a:off x="4887102" y="2883314"/>
            <a:ext cx="256032" cy="256032"/>
          </a:xfrm>
          <a:prstGeom prst="ellipse">
            <a:avLst/>
          </a:prstGeom>
          <a:solidFill>
            <a:srgbClr val="B8561F"/>
          </a:solidFill>
          <a:ln/>
        </p:spPr>
      </p:sp>
      <p:sp>
        <p:nvSpPr>
          <p:cNvPr id="15" name="Text 11"/>
          <p:cNvSpPr txBox="1"/>
          <p:nvPr/>
        </p:nvSpPr>
        <p:spPr>
          <a:xfrm>
            <a:off x="4887102" y="288331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Shape 12"/>
          <p:cNvSpPr/>
          <p:nvPr/>
        </p:nvSpPr>
        <p:spPr>
          <a:xfrm>
            <a:off x="548640" y="1463040"/>
            <a:ext cx="310896" cy="310896"/>
          </a:xfrm>
          <a:prstGeom prst="ellipse">
            <a:avLst/>
          </a:prstGeom>
          <a:solidFill>
            <a:srgbClr val="B8561F"/>
          </a:solidFill>
          <a:ln/>
        </p:spPr>
      </p:sp>
      <p:sp>
        <p:nvSpPr>
          <p:cNvPr id="17" name="Text 13"/>
          <p:cNvSpPr txBox="1"/>
          <p:nvPr/>
        </p:nvSpPr>
        <p:spPr>
          <a:xfrm>
            <a:off x="548640" y="1463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4"/>
          <p:cNvSpPr txBox="1"/>
          <p:nvPr/>
        </p:nvSpPr>
        <p:spPr>
          <a:xfrm>
            <a:off x="969264" y="1444752"/>
            <a:ext cx="1691640" cy="274320"/>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Xem câu hỏi</a:t>
            </a:r>
            <a:endParaRPr lang="en-US" sz="1400" dirty="0"/>
          </a:p>
        </p:txBody>
      </p:sp>
      <p:sp>
        <p:nvSpPr>
          <p:cNvPr id="19" name="Text 15"/>
          <p:cNvSpPr txBox="1"/>
          <p:nvPr/>
        </p:nvSpPr>
        <p:spPr>
          <a:xfrm>
            <a:off x="969264" y="1737360"/>
            <a:ext cx="1691640" cy="73152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Một câu hỏi, một nhiệm vụ trên mỗi màn hình.</a:t>
            </a:r>
            <a:endParaRPr lang="en-US" sz="1200" dirty="0"/>
          </a:p>
        </p:txBody>
      </p:sp>
      <p:sp>
        <p:nvSpPr>
          <p:cNvPr id="20" name="Shape 16"/>
          <p:cNvSpPr/>
          <p:nvPr/>
        </p:nvSpPr>
        <p:spPr>
          <a:xfrm>
            <a:off x="548640" y="2834640"/>
            <a:ext cx="310896" cy="310896"/>
          </a:xfrm>
          <a:prstGeom prst="ellipse">
            <a:avLst/>
          </a:prstGeom>
          <a:solidFill>
            <a:srgbClr val="B8561F"/>
          </a:solidFill>
          <a:ln/>
        </p:spPr>
      </p:sp>
      <p:sp>
        <p:nvSpPr>
          <p:cNvPr id="21" name="Text 17"/>
          <p:cNvSpPr txBox="1"/>
          <p:nvPr/>
        </p:nvSpPr>
        <p:spPr>
          <a:xfrm>
            <a:off x="548640" y="28346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18"/>
          <p:cNvSpPr txBox="1"/>
          <p:nvPr/>
        </p:nvSpPr>
        <p:spPr>
          <a:xfrm>
            <a:off x="969264" y="2816352"/>
            <a:ext cx="1691640" cy="274320"/>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Chạm chọn đáp án</a:t>
            </a:r>
            <a:endParaRPr lang="en-US" sz="1400" dirty="0"/>
          </a:p>
        </p:txBody>
      </p:sp>
      <p:sp>
        <p:nvSpPr>
          <p:cNvPr id="23" name="Text 19"/>
          <p:cNvSpPr txBox="1"/>
          <p:nvPr/>
        </p:nvSpPr>
        <p:spPr>
          <a:xfrm>
            <a:off x="969264" y="3108960"/>
            <a:ext cx="1691640" cy="73152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Thẻ lớn, dễ chạm — không cần kéo thả.</a:t>
            </a:r>
            <a:endParaRPr lang="en-US" sz="1200" dirty="0"/>
          </a:p>
        </p:txBody>
      </p:sp>
      <p:sp>
        <p:nvSpPr>
          <p:cNvPr id="24" name="Shape 20"/>
          <p:cNvSpPr/>
          <p:nvPr/>
        </p:nvSpPr>
        <p:spPr>
          <a:xfrm>
            <a:off x="6949440" y="1463040"/>
            <a:ext cx="310896" cy="310896"/>
          </a:xfrm>
          <a:prstGeom prst="ellipse">
            <a:avLst/>
          </a:prstGeom>
          <a:solidFill>
            <a:srgbClr val="B8561F"/>
          </a:solidFill>
          <a:ln/>
        </p:spPr>
      </p:sp>
      <p:sp>
        <p:nvSpPr>
          <p:cNvPr id="25" name="Text 21"/>
          <p:cNvSpPr txBox="1"/>
          <p:nvPr/>
        </p:nvSpPr>
        <p:spPr>
          <a:xfrm>
            <a:off x="6949440" y="1463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2"/>
          <p:cNvSpPr txBox="1"/>
          <p:nvPr/>
        </p:nvSpPr>
        <p:spPr>
          <a:xfrm>
            <a:off x="7370064" y="1444752"/>
            <a:ext cx="1371600" cy="512064"/>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Bấm Kiểm tra</a:t>
            </a:r>
            <a:endParaRPr lang="en-US" sz="1400" dirty="0"/>
          </a:p>
        </p:txBody>
      </p:sp>
      <p:sp>
        <p:nvSpPr>
          <p:cNvPr id="27" name="Text 23"/>
          <p:cNvSpPr txBox="1"/>
          <p:nvPr/>
        </p:nvSpPr>
        <p:spPr>
          <a:xfrm>
            <a:off x="7370064" y="1965960"/>
            <a:ext cx="1371600" cy="82296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Nút lớn ở cuối màn hình.</a:t>
            </a:r>
            <a:endParaRPr lang="en-US" sz="1200" dirty="0"/>
          </a:p>
        </p:txBody>
      </p:sp>
      <p:sp>
        <p:nvSpPr>
          <p:cNvPr id="28" name="Shape 24"/>
          <p:cNvSpPr/>
          <p:nvPr/>
        </p:nvSpPr>
        <p:spPr>
          <a:xfrm>
            <a:off x="6949440" y="2834640"/>
            <a:ext cx="310896" cy="310896"/>
          </a:xfrm>
          <a:prstGeom prst="ellipse">
            <a:avLst/>
          </a:prstGeom>
          <a:solidFill>
            <a:srgbClr val="B8561F"/>
          </a:solidFill>
          <a:ln/>
        </p:spPr>
      </p:sp>
      <p:sp>
        <p:nvSpPr>
          <p:cNvPr id="29" name="Text 25"/>
          <p:cNvSpPr txBox="1"/>
          <p:nvPr/>
        </p:nvSpPr>
        <p:spPr>
          <a:xfrm>
            <a:off x="6949440" y="28346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6"/>
          <p:cNvSpPr txBox="1"/>
          <p:nvPr/>
        </p:nvSpPr>
        <p:spPr>
          <a:xfrm>
            <a:off x="7370064" y="2816352"/>
            <a:ext cx="1371600" cy="512064"/>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Xem kết quả và tiếp tục</a:t>
            </a:r>
            <a:endParaRPr lang="en-US" sz="1400" dirty="0"/>
          </a:p>
        </p:txBody>
      </p:sp>
      <p:sp>
        <p:nvSpPr>
          <p:cNvPr id="31" name="Text 27"/>
          <p:cNvSpPr txBox="1"/>
          <p:nvPr/>
        </p:nvSpPr>
        <p:spPr>
          <a:xfrm>
            <a:off x="7370064" y="3337560"/>
            <a:ext cx="1371600" cy="82296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Lời khen, giải thích ngắn rồi sang câu kế tiếp.</a:t>
            </a:r>
            <a:endParaRPr lang="en-US" sz="12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PHẢN HỒI</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Khi học sinh trả lời chưa đúng</a:t>
            </a:r>
            <a:endParaRPr lang="en-US" sz="3000" dirty="0"/>
          </a:p>
        </p:txBody>
      </p:sp>
      <p:sp>
        <p:nvSpPr>
          <p:cNvPr id="4" name="Shape 2"/>
          <p:cNvSpPr/>
          <p:nvPr/>
        </p:nvSpPr>
        <p:spPr>
          <a:xfrm>
            <a:off x="685800" y="1188720"/>
            <a:ext cx="1737360" cy="3474720"/>
          </a:xfrm>
          <a:prstGeom prst="roundRect">
            <a:avLst>
              <a:gd name="adj" fmla="val 11579"/>
            </a:avLst>
          </a:prstGeom>
          <a:solidFill>
            <a:srgbClr val="0F2447"/>
          </a:solidFill>
          <a:ln/>
          <a:effectLst>
            <a:outerShdw sx="100000" sy="100000" kx="0" ky="0" algn="bl" rotWithShape="0" blurRad="101600" dist="25400" dir="5400000">
              <a:srgbClr val="1F2A3C">
                <a:alpha val="14000"/>
              </a:srgbClr>
            </a:outerShdw>
          </a:effectLst>
        </p:spPr>
      </p:sp>
      <p:pic>
        <p:nvPicPr>
          <p:cNvPr id="5" name="Image 0" descr="Màn hình bản chơi thử trên điện thoại">    </p:cNvPr>
          <p:cNvPicPr>
            <a:picLocks noChangeAspect="1"/>
          </p:cNvPicPr>
          <p:nvPr/>
        </p:nvPicPr>
        <p:blipFill>
          <a:blip r:embed="rId1"/>
          <a:stretch>
            <a:fillRect/>
          </a:stretch>
        </p:blipFill>
        <p:spPr>
          <a:xfrm>
            <a:off x="740664" y="1243584"/>
            <a:ext cx="1627632" cy="3364992"/>
          </a:xfrm>
          <a:prstGeom prst="rect">
            <a:avLst/>
          </a:prstGeom>
        </p:spPr>
      </p:pic>
      <p:sp>
        <p:nvSpPr>
          <p:cNvPr id="6" name="Text 3"/>
          <p:cNvSpPr txBox="1"/>
          <p:nvPr/>
        </p:nvSpPr>
        <p:spPr>
          <a:xfrm>
            <a:off x="3200400" y="1234440"/>
            <a:ext cx="5486400" cy="548640"/>
          </a:xfrm>
          <a:prstGeom prst="rect">
            <a:avLst/>
          </a:prstGeom>
          <a:noFill/>
          <a:ln/>
        </p:spPr>
        <p:txBody>
          <a:bodyPr wrap="square" lIns="0" tIns="0" rIns="0" bIns="0" rtlCol="0" anchor="ctr"/>
          <a:lstStyle/>
          <a:p>
            <a:pPr indent="0" marL="0">
              <a:buNone/>
            </a:pPr>
            <a:r>
              <a:rPr lang="en-US" sz="2400" b="1" i="1" dirty="0">
                <a:solidFill>
                  <a:srgbClr val="0E8A7D"/>
                </a:solidFill>
                <a:latin typeface="Cambria" pitchFamily="34" charset="0"/>
                <a:ea typeface="Cambria" pitchFamily="34" charset="-122"/>
                <a:cs typeface="Cambria" pitchFamily="34" charset="-120"/>
              </a:rPr>
              <a:t>Sai cũng là một cơ hội để học.</a:t>
            </a:r>
            <a:endParaRPr lang="en-US" sz="2400" dirty="0"/>
          </a:p>
        </p:txBody>
      </p:sp>
      <p:sp>
        <p:nvSpPr>
          <p:cNvPr id="7" name="Shape 4"/>
          <p:cNvSpPr/>
          <p:nvPr/>
        </p:nvSpPr>
        <p:spPr>
          <a:xfrm>
            <a:off x="3200400" y="2029968"/>
            <a:ext cx="182880" cy="182880"/>
          </a:xfrm>
          <a:prstGeom prst="ellipse">
            <a:avLst/>
          </a:prstGeom>
          <a:solidFill>
            <a:srgbClr val="C9A24A"/>
          </a:solidFill>
          <a:ln/>
        </p:spPr>
      </p:sp>
      <p:sp>
        <p:nvSpPr>
          <p:cNvPr id="8" name="Text 5"/>
          <p:cNvSpPr txBox="1"/>
          <p:nvPr/>
        </p:nvSpPr>
        <p:spPr>
          <a:xfrm>
            <a:off x="3566160" y="1965960"/>
            <a:ext cx="5029200" cy="274320"/>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Phản hồi dễ hiểu</a:t>
            </a:r>
            <a:endParaRPr lang="en-US" sz="1500" dirty="0"/>
          </a:p>
        </p:txBody>
      </p:sp>
      <p:sp>
        <p:nvSpPr>
          <p:cNvPr id="9" name="Text 6"/>
          <p:cNvSpPr txBox="1"/>
          <p:nvPr/>
        </p:nvSpPr>
        <p:spPr>
          <a:xfrm>
            <a:off x="3566160" y="2240280"/>
            <a:ext cx="5029200" cy="274320"/>
          </a:xfrm>
          <a:prstGeom prst="rect">
            <a:avLst/>
          </a:prstGeom>
          <a:noFill/>
          <a:ln/>
        </p:spPr>
        <p:txBody>
          <a:bodyPr wrap="square" lIns="0" tIns="0" rIns="0" bIns="0" rtlCol="0" anchor="ctr"/>
          <a:lstStyle/>
          <a:p>
            <a:pPr indent="0" marL="0">
              <a:buNone/>
            </a:pPr>
            <a:r>
              <a:rPr lang="en-US" sz="1300" dirty="0">
                <a:solidFill>
                  <a:srgbClr val="566175"/>
                </a:solidFill>
                <a:latin typeface="Calibri" pitchFamily="34" charset="0"/>
                <a:ea typeface="Calibri" pitchFamily="34" charset="-122"/>
                <a:cs typeface="Calibri" pitchFamily="34" charset="-120"/>
              </a:rPr>
              <a:t>“Chưa đúng rồi. Con xem lại vần rồi chọn lại nhé.”</a:t>
            </a:r>
            <a:endParaRPr lang="en-US" sz="1300" dirty="0"/>
          </a:p>
        </p:txBody>
      </p:sp>
      <p:sp>
        <p:nvSpPr>
          <p:cNvPr id="10" name="Shape 7"/>
          <p:cNvSpPr/>
          <p:nvPr/>
        </p:nvSpPr>
        <p:spPr>
          <a:xfrm>
            <a:off x="3200400" y="2688336"/>
            <a:ext cx="182880" cy="182880"/>
          </a:xfrm>
          <a:prstGeom prst="ellipse">
            <a:avLst/>
          </a:prstGeom>
          <a:solidFill>
            <a:srgbClr val="C9A24A"/>
          </a:solidFill>
          <a:ln/>
        </p:spPr>
      </p:sp>
      <p:sp>
        <p:nvSpPr>
          <p:cNvPr id="11" name="Text 8"/>
          <p:cNvSpPr txBox="1"/>
          <p:nvPr/>
        </p:nvSpPr>
        <p:spPr>
          <a:xfrm>
            <a:off x="3566160" y="2624328"/>
            <a:ext cx="5029200" cy="274320"/>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Gợi ý khi cần</a:t>
            </a:r>
            <a:endParaRPr lang="en-US" sz="1500" dirty="0"/>
          </a:p>
        </p:txBody>
      </p:sp>
      <p:sp>
        <p:nvSpPr>
          <p:cNvPr id="12" name="Text 9"/>
          <p:cNvSpPr txBox="1"/>
          <p:nvPr/>
        </p:nvSpPr>
        <p:spPr>
          <a:xfrm>
            <a:off x="3566160" y="2898648"/>
            <a:ext cx="5029200" cy="274320"/>
          </a:xfrm>
          <a:prstGeom prst="rect">
            <a:avLst/>
          </a:prstGeom>
          <a:noFill/>
          <a:ln/>
        </p:spPr>
        <p:txBody>
          <a:bodyPr wrap="square" lIns="0" tIns="0" rIns="0" bIns="0" rtlCol="0" anchor="ctr"/>
          <a:lstStyle/>
          <a:p>
            <a:pPr indent="0" marL="0">
              <a:buNone/>
            </a:pPr>
            <a:r>
              <a:rPr lang="en-US" sz="1300" dirty="0">
                <a:solidFill>
                  <a:srgbClr val="566175"/>
                </a:solidFill>
                <a:latin typeface="Calibri" pitchFamily="34" charset="0"/>
                <a:ea typeface="Calibri" pitchFamily="34" charset="-122"/>
                <a:cs typeface="Calibri" pitchFamily="34" charset="-120"/>
              </a:rPr>
              <a:t>Nút Gợi ý giúp con tìm lại hướng đi.</a:t>
            </a:r>
            <a:endParaRPr lang="en-US" sz="1300" dirty="0"/>
          </a:p>
        </p:txBody>
      </p:sp>
      <p:sp>
        <p:nvSpPr>
          <p:cNvPr id="13" name="Shape 10"/>
          <p:cNvSpPr/>
          <p:nvPr/>
        </p:nvSpPr>
        <p:spPr>
          <a:xfrm>
            <a:off x="3200400" y="3346704"/>
            <a:ext cx="182880" cy="182880"/>
          </a:xfrm>
          <a:prstGeom prst="ellipse">
            <a:avLst/>
          </a:prstGeom>
          <a:solidFill>
            <a:srgbClr val="C9A24A"/>
          </a:solidFill>
          <a:ln/>
        </p:spPr>
      </p:sp>
      <p:sp>
        <p:nvSpPr>
          <p:cNvPr id="14" name="Text 11"/>
          <p:cNvSpPr txBox="1"/>
          <p:nvPr/>
        </p:nvSpPr>
        <p:spPr>
          <a:xfrm>
            <a:off x="3566160" y="3282696"/>
            <a:ext cx="5029200" cy="274320"/>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Có cơ hội thử lại</a:t>
            </a:r>
            <a:endParaRPr lang="en-US" sz="1500" dirty="0"/>
          </a:p>
        </p:txBody>
      </p:sp>
      <p:sp>
        <p:nvSpPr>
          <p:cNvPr id="15" name="Text 12"/>
          <p:cNvSpPr txBox="1"/>
          <p:nvPr/>
        </p:nvSpPr>
        <p:spPr>
          <a:xfrm>
            <a:off x="3566160" y="3557016"/>
            <a:ext cx="5029200" cy="274320"/>
          </a:xfrm>
          <a:prstGeom prst="rect">
            <a:avLst/>
          </a:prstGeom>
          <a:noFill/>
          <a:ln/>
        </p:spPr>
        <p:txBody>
          <a:bodyPr wrap="square" lIns="0" tIns="0" rIns="0" bIns="0" rtlCol="0" anchor="ctr"/>
          <a:lstStyle/>
          <a:p>
            <a:pPr indent="0" marL="0">
              <a:buNone/>
            </a:pPr>
            <a:r>
              <a:rPr lang="en-US" sz="1300" dirty="0">
                <a:solidFill>
                  <a:srgbClr val="566175"/>
                </a:solidFill>
                <a:latin typeface="Calibri" pitchFamily="34" charset="0"/>
                <a:ea typeface="Calibri" pitchFamily="34" charset="-122"/>
                <a:cs typeface="Calibri" pitchFamily="34" charset="-120"/>
              </a:rPr>
              <a:t>Con được chọn lại ngay trong cùng câu.</a:t>
            </a:r>
            <a:endParaRPr lang="en-US" sz="1300" dirty="0"/>
          </a:p>
        </p:txBody>
      </p:sp>
      <p:sp>
        <p:nvSpPr>
          <p:cNvPr id="16" name="Shape 13"/>
          <p:cNvSpPr/>
          <p:nvPr/>
        </p:nvSpPr>
        <p:spPr>
          <a:xfrm>
            <a:off x="3200400" y="4005072"/>
            <a:ext cx="182880" cy="182880"/>
          </a:xfrm>
          <a:prstGeom prst="ellipse">
            <a:avLst/>
          </a:prstGeom>
          <a:solidFill>
            <a:srgbClr val="C9A24A"/>
          </a:solidFill>
          <a:ln/>
        </p:spPr>
      </p:sp>
      <p:sp>
        <p:nvSpPr>
          <p:cNvPr id="17" name="Text 14"/>
          <p:cNvSpPr txBox="1"/>
          <p:nvPr/>
        </p:nvSpPr>
        <p:spPr>
          <a:xfrm>
            <a:off x="3566160" y="3941064"/>
            <a:ext cx="5029200" cy="274320"/>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Không áp lực, không chê trách</a:t>
            </a:r>
            <a:endParaRPr lang="en-US" sz="1500" dirty="0"/>
          </a:p>
        </p:txBody>
      </p:sp>
      <p:sp>
        <p:nvSpPr>
          <p:cNvPr id="18" name="Text 15"/>
          <p:cNvSpPr txBox="1"/>
          <p:nvPr/>
        </p:nvSpPr>
        <p:spPr>
          <a:xfrm>
            <a:off x="3566160" y="4215384"/>
            <a:ext cx="5029200" cy="274320"/>
          </a:xfrm>
          <a:prstGeom prst="rect">
            <a:avLst/>
          </a:prstGeom>
          <a:noFill/>
          <a:ln/>
        </p:spPr>
        <p:txBody>
          <a:bodyPr wrap="square" lIns="0" tIns="0" rIns="0" bIns="0" rtlCol="0" anchor="ctr"/>
          <a:lstStyle/>
          <a:p>
            <a:pPr indent="0" marL="0">
              <a:buNone/>
            </a:pPr>
            <a:r>
              <a:rPr lang="en-US" sz="1300" dirty="0">
                <a:solidFill>
                  <a:srgbClr val="566175"/>
                </a:solidFill>
                <a:latin typeface="Calibri" pitchFamily="34" charset="0"/>
                <a:ea typeface="Calibri" pitchFamily="34" charset="-122"/>
                <a:cs typeface="Calibri" pitchFamily="34" charset="-120"/>
              </a:rPr>
              <a:t>Màu sắc dịu, lời nói nhẹ nhàng, không đếm ngược thời gian.</a:t>
            </a:r>
            <a:endParaRPr lang="en-US" sz="13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ĐỘNG LỰC</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Điểm thưởng tạo hứng thú luyện tập</a:t>
            </a:r>
            <a:endParaRPr lang="en-US" sz="3000" dirty="0"/>
          </a:p>
        </p:txBody>
      </p:sp>
      <p:sp>
        <p:nvSpPr>
          <p:cNvPr id="4" name="Shape 2"/>
          <p:cNvSpPr/>
          <p:nvPr/>
        </p:nvSpPr>
        <p:spPr>
          <a:xfrm>
            <a:off x="548640" y="1325880"/>
            <a:ext cx="1234440" cy="1737360"/>
          </a:xfrm>
          <a:prstGeom prst="roundRect">
            <a:avLst>
              <a:gd name="adj" fmla="val 8889"/>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5" name="Text 3"/>
          <p:cNvSpPr txBox="1"/>
          <p:nvPr/>
        </p:nvSpPr>
        <p:spPr>
          <a:xfrm>
            <a:off x="548640" y="1417320"/>
            <a:ext cx="1234440" cy="731520"/>
          </a:xfrm>
          <a:prstGeom prst="rect">
            <a:avLst/>
          </a:prstGeom>
          <a:noFill/>
          <a:ln/>
        </p:spPr>
        <p:txBody>
          <a:bodyPr wrap="square" lIns="0" tIns="0" rIns="0" bIns="0" rtlCol="0" anchor="ctr"/>
          <a:lstStyle/>
          <a:p>
            <a:pPr algn="ctr" indent="0" marL="0">
              <a:buNone/>
            </a:pPr>
            <a:r>
              <a:rPr lang="en-US" sz="3800" b="1" dirty="0">
                <a:solidFill>
                  <a:srgbClr val="0E8A7D"/>
                </a:solidFill>
                <a:latin typeface="Cambria" pitchFamily="34" charset="0"/>
                <a:ea typeface="Cambria" pitchFamily="34" charset="-122"/>
                <a:cs typeface="Cambria" pitchFamily="34" charset="-120"/>
              </a:rPr>
              <a:t>+10</a:t>
            </a:r>
            <a:endParaRPr lang="en-US" sz="3800" dirty="0"/>
          </a:p>
        </p:txBody>
      </p:sp>
      <p:sp>
        <p:nvSpPr>
          <p:cNvPr id="6" name="Text 4"/>
          <p:cNvSpPr txBox="1"/>
          <p:nvPr/>
        </p:nvSpPr>
        <p:spPr>
          <a:xfrm>
            <a:off x="640080" y="2194560"/>
            <a:ext cx="1051560" cy="822960"/>
          </a:xfrm>
          <a:prstGeom prst="rect">
            <a:avLst/>
          </a:prstGeom>
          <a:noFill/>
          <a:ln/>
        </p:spPr>
        <p:txBody>
          <a:bodyPr wrap="square" lIns="0" tIns="0" rIns="0" bIns="0" rtlCol="0" anchor="t"/>
          <a:lstStyle/>
          <a:p>
            <a:pPr algn="ctr" indent="0" marL="0">
              <a:buNone/>
            </a:pPr>
            <a:r>
              <a:rPr lang="en-US" sz="1100" dirty="0">
                <a:solidFill>
                  <a:srgbClr val="566175"/>
                </a:solidFill>
                <a:latin typeface="Calibri" pitchFamily="34" charset="0"/>
                <a:ea typeface="Calibri" pitchFamily="34" charset="-122"/>
                <a:cs typeface="Calibri" pitchFamily="34" charset="-120"/>
              </a:rPr>
              <a:t>Trả lời đúng được cộng điểm</a:t>
            </a:r>
            <a:endParaRPr lang="en-US" sz="1100" dirty="0"/>
          </a:p>
        </p:txBody>
      </p:sp>
      <p:sp>
        <p:nvSpPr>
          <p:cNvPr id="7" name="Shape 5"/>
          <p:cNvSpPr/>
          <p:nvPr/>
        </p:nvSpPr>
        <p:spPr>
          <a:xfrm>
            <a:off x="1920240" y="1325880"/>
            <a:ext cx="1234440" cy="1737360"/>
          </a:xfrm>
          <a:prstGeom prst="roundRect">
            <a:avLst>
              <a:gd name="adj" fmla="val 8889"/>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8" name="Text 6"/>
          <p:cNvSpPr txBox="1"/>
          <p:nvPr/>
        </p:nvSpPr>
        <p:spPr>
          <a:xfrm>
            <a:off x="1920240" y="1417320"/>
            <a:ext cx="1234440" cy="731520"/>
          </a:xfrm>
          <a:prstGeom prst="rect">
            <a:avLst/>
          </a:prstGeom>
          <a:noFill/>
          <a:ln/>
        </p:spPr>
        <p:txBody>
          <a:bodyPr wrap="square" lIns="0" tIns="0" rIns="0" bIns="0" rtlCol="0" anchor="ctr"/>
          <a:lstStyle/>
          <a:p>
            <a:pPr algn="ctr" indent="0" marL="0">
              <a:buNone/>
            </a:pPr>
            <a:r>
              <a:rPr lang="en-US" sz="3800" b="1" dirty="0">
                <a:solidFill>
                  <a:srgbClr val="5B6678"/>
                </a:solidFill>
                <a:latin typeface="Cambria" pitchFamily="34" charset="0"/>
                <a:ea typeface="Cambria" pitchFamily="34" charset="-122"/>
                <a:cs typeface="Cambria" pitchFamily="34" charset="-120"/>
              </a:rPr>
              <a:t>−5</a:t>
            </a:r>
            <a:endParaRPr lang="en-US" sz="3800" dirty="0"/>
          </a:p>
        </p:txBody>
      </p:sp>
      <p:sp>
        <p:nvSpPr>
          <p:cNvPr id="9" name="Text 7"/>
          <p:cNvSpPr txBox="1"/>
          <p:nvPr/>
        </p:nvSpPr>
        <p:spPr>
          <a:xfrm>
            <a:off x="2011680" y="2194560"/>
            <a:ext cx="1051560" cy="822960"/>
          </a:xfrm>
          <a:prstGeom prst="rect">
            <a:avLst/>
          </a:prstGeom>
          <a:noFill/>
          <a:ln/>
        </p:spPr>
        <p:txBody>
          <a:bodyPr wrap="square" lIns="0" tIns="0" rIns="0" bIns="0" rtlCol="0" anchor="t"/>
          <a:lstStyle/>
          <a:p>
            <a:pPr algn="ctr" indent="0" marL="0">
              <a:buNone/>
            </a:pPr>
            <a:r>
              <a:rPr lang="en-US" sz="1100" dirty="0">
                <a:solidFill>
                  <a:srgbClr val="566175"/>
                </a:solidFill>
                <a:latin typeface="Calibri" pitchFamily="34" charset="0"/>
                <a:ea typeface="Calibri" pitchFamily="34" charset="-122"/>
                <a:cs typeface="Calibri" pitchFamily="34" charset="-120"/>
              </a:rPr>
              <a:t>Trả lời sai trừ nhẹ, hiển thị trung tính</a:t>
            </a:r>
            <a:endParaRPr lang="en-US" sz="1100" dirty="0"/>
          </a:p>
        </p:txBody>
      </p:sp>
      <p:sp>
        <p:nvSpPr>
          <p:cNvPr id="10" name="Shape 8"/>
          <p:cNvSpPr/>
          <p:nvPr/>
        </p:nvSpPr>
        <p:spPr>
          <a:xfrm>
            <a:off x="3291840" y="1325880"/>
            <a:ext cx="1234440" cy="1737360"/>
          </a:xfrm>
          <a:prstGeom prst="roundRect">
            <a:avLst>
              <a:gd name="adj" fmla="val 8889"/>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1" name="Text 9"/>
          <p:cNvSpPr txBox="1"/>
          <p:nvPr/>
        </p:nvSpPr>
        <p:spPr>
          <a:xfrm>
            <a:off x="3291840" y="1417320"/>
            <a:ext cx="1234440" cy="731520"/>
          </a:xfrm>
          <a:prstGeom prst="rect">
            <a:avLst/>
          </a:prstGeom>
          <a:noFill/>
          <a:ln/>
        </p:spPr>
        <p:txBody>
          <a:bodyPr wrap="square" lIns="0" tIns="0" rIns="0" bIns="0" rtlCol="0" anchor="ctr"/>
          <a:lstStyle/>
          <a:p>
            <a:pPr algn="ctr" indent="0" marL="0">
              <a:buNone/>
            </a:pPr>
            <a:r>
              <a:rPr lang="en-US" sz="3800" b="1" dirty="0">
                <a:solidFill>
                  <a:srgbClr val="C9A24A"/>
                </a:solidFill>
                <a:latin typeface="Cambria" pitchFamily="34" charset="0"/>
                <a:ea typeface="Cambria" pitchFamily="34" charset="-122"/>
                <a:cs typeface="Cambria" pitchFamily="34" charset="-120"/>
              </a:rPr>
              <a:t>0</a:t>
            </a:r>
            <a:endParaRPr lang="en-US" sz="3800" dirty="0"/>
          </a:p>
        </p:txBody>
      </p:sp>
      <p:sp>
        <p:nvSpPr>
          <p:cNvPr id="12" name="Text 10"/>
          <p:cNvSpPr txBox="1"/>
          <p:nvPr/>
        </p:nvSpPr>
        <p:spPr>
          <a:xfrm>
            <a:off x="3383280" y="2194560"/>
            <a:ext cx="1051560" cy="822960"/>
          </a:xfrm>
          <a:prstGeom prst="rect">
            <a:avLst/>
          </a:prstGeom>
          <a:noFill/>
          <a:ln/>
        </p:spPr>
        <p:txBody>
          <a:bodyPr wrap="square" lIns="0" tIns="0" rIns="0" bIns="0" rtlCol="0" anchor="t"/>
          <a:lstStyle/>
          <a:p>
            <a:pPr algn="ctr" indent="0" marL="0">
              <a:buNone/>
            </a:pPr>
            <a:r>
              <a:rPr lang="en-US" sz="1100" dirty="0">
                <a:solidFill>
                  <a:srgbClr val="566175"/>
                </a:solidFill>
                <a:latin typeface="Calibri" pitchFamily="34" charset="0"/>
                <a:ea typeface="Calibri" pitchFamily="34" charset="-122"/>
                <a:cs typeface="Calibri" pitchFamily="34" charset="-120"/>
              </a:rPr>
              <a:t>Số điểm không bao giờ xuống dưới 0</a:t>
            </a:r>
            <a:endParaRPr lang="en-US" sz="1100" dirty="0"/>
          </a:p>
        </p:txBody>
      </p:sp>
      <p:pic>
        <p:nvPicPr>
          <p:cNvPr id="13" name="Image 0" descr="Ô điểm thưởng">    </p:cNvPr>
          <p:cNvPicPr>
            <a:picLocks noChangeAspect="1"/>
          </p:cNvPicPr>
          <p:nvPr/>
        </p:nvPicPr>
        <p:blipFill>
          <a:blip r:embed="rId1"/>
          <a:stretch>
            <a:fillRect/>
          </a:stretch>
        </p:blipFill>
        <p:spPr>
          <a:xfrm>
            <a:off x="4800600" y="1417320"/>
            <a:ext cx="3886200" cy="1545336"/>
          </a:xfrm>
          <a:prstGeom prst="rect">
            <a:avLst/>
          </a:prstGeom>
        </p:spPr>
      </p:pic>
      <p:sp>
        <p:nvSpPr>
          <p:cNvPr id="14" name="Text 11"/>
          <p:cNvSpPr txBox="1"/>
          <p:nvPr/>
        </p:nvSpPr>
        <p:spPr>
          <a:xfrm>
            <a:off x="4800600" y="3090672"/>
            <a:ext cx="3840480" cy="219456"/>
          </a:xfrm>
          <a:prstGeom prst="rect">
            <a:avLst/>
          </a:prstGeom>
          <a:noFill/>
          <a:ln/>
        </p:spPr>
        <p:txBody>
          <a:bodyPr wrap="square" lIns="0" tIns="0" rIns="0" bIns="0" rtlCol="0" anchor="ctr"/>
          <a:lstStyle/>
          <a:p>
            <a:pPr algn="l" indent="0" marL="0">
              <a:buNone/>
            </a:pPr>
            <a:r>
              <a:rPr lang="en-US" sz="1000" i="1" dirty="0">
                <a:solidFill>
                  <a:srgbClr val="566175"/>
                </a:solidFill>
                <a:latin typeface="Calibri" pitchFamily="34" charset="0"/>
                <a:ea typeface="Calibri" pitchFamily="34" charset="-122"/>
                <a:cs typeface="Calibri" pitchFamily="34" charset="-120"/>
              </a:rPr>
              <a:t>Ô điểm thưởng — số điểm minh họa</a:t>
            </a:r>
            <a:endParaRPr lang="en-US" sz="1000" dirty="0"/>
          </a:p>
        </p:txBody>
      </p:sp>
      <p:sp>
        <p:nvSpPr>
          <p:cNvPr id="15" name="Shape 12"/>
          <p:cNvSpPr/>
          <p:nvPr/>
        </p:nvSpPr>
        <p:spPr>
          <a:xfrm>
            <a:off x="548640" y="3383280"/>
            <a:ext cx="8138160" cy="1143000"/>
          </a:xfrm>
          <a:prstGeom prst="roundRect">
            <a:avLst>
              <a:gd name="adj" fmla="val 9600"/>
            </a:avLst>
          </a:prstGeom>
          <a:solidFill>
            <a:srgbClr val="F5EBCF"/>
          </a:solidFill>
          <a:ln/>
        </p:spPr>
      </p:sp>
      <p:sp>
        <p:nvSpPr>
          <p:cNvPr id="16" name="Text 13"/>
          <p:cNvSpPr txBox="1"/>
          <p:nvPr/>
        </p:nvSpPr>
        <p:spPr>
          <a:xfrm>
            <a:off x="777240" y="3456432"/>
            <a:ext cx="7680960" cy="1005840"/>
          </a:xfrm>
          <a:prstGeom prst="rect">
            <a:avLst/>
          </a:prstGeom>
          <a:noFill/>
          <a:ln/>
        </p:spPr>
        <p:txBody>
          <a:bodyPr wrap="square" lIns="0" tIns="0" rIns="0" bIns="0" rtlCol="0" anchor="ctr"/>
          <a:lstStyle/>
          <a:p>
            <a:pPr indent="0" marL="0">
              <a:buNone/>
            </a:pPr>
            <a:r>
              <a:rPr lang="en-US" sz="1400" b="1" dirty="0">
                <a:solidFill>
                  <a:srgbClr val="0F2447"/>
                </a:solidFill>
                <a:latin typeface="Calibri" pitchFamily="34" charset="0"/>
                <a:ea typeface="Calibri" pitchFamily="34" charset="-122"/>
                <a:cs typeface="Calibri" pitchFamily="34" charset="-120"/>
              </a:rPr>
              <a:t>Đây là điểm khuyến khích, </a:t>
            </a:r>
            <a:pPr indent="0" marL="0">
              <a:buNone/>
            </a:pPr>
            <a:r>
              <a:rPr lang="en-US" sz="1400" dirty="0">
                <a:solidFill>
                  <a:srgbClr val="1F2A3C"/>
                </a:solidFill>
                <a:latin typeface="Calibri" pitchFamily="34" charset="0"/>
                <a:ea typeface="Calibri" pitchFamily="34" charset="-122"/>
                <a:cs typeface="Calibri" pitchFamily="34" charset="-120"/>
              </a:rPr>
              <a:t>không phải điểm kiểm tra và không dùng để đánh giá năng lực học sinh. Điểm giúp mở dần các khu vực khám phá: cứ mỗi 30 điểm tích lũy, một mốc mới của bản đồ được mở.</a:t>
            </a:r>
            <a:endParaRPr lang="en-US" sz="14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KHÁM PHÁ</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Bản đồ thế giới kỳ diệu</a:t>
            </a:r>
            <a:endParaRPr lang="en-US" sz="3000" dirty="0"/>
          </a:p>
        </p:txBody>
      </p:sp>
      <p:pic>
        <p:nvPicPr>
          <p:cNvPr id="4" name="Image 0" descr="Bản đồ thế giới phiêu lưu">    </p:cNvPr>
          <p:cNvPicPr>
            <a:picLocks noChangeAspect="1"/>
          </p:cNvPicPr>
          <p:nvPr/>
        </p:nvPicPr>
        <p:blipFill>
          <a:blip r:embed="rId1"/>
          <a:stretch>
            <a:fillRect/>
          </a:stretch>
        </p:blipFill>
        <p:spPr>
          <a:xfrm>
            <a:off x="548640" y="1280160"/>
            <a:ext cx="5212080" cy="3163824"/>
          </a:xfrm>
          <a:prstGeom prst="rect">
            <a:avLst/>
          </a:prstGeom>
        </p:spPr>
      </p:pic>
      <p:sp>
        <p:nvSpPr>
          <p:cNvPr id="5" name="Shape 2"/>
          <p:cNvSpPr/>
          <p:nvPr/>
        </p:nvSpPr>
        <p:spPr>
          <a:xfrm>
            <a:off x="6035040" y="1325880"/>
            <a:ext cx="2139696" cy="256032"/>
          </a:xfrm>
          <a:prstGeom prst="roundRect">
            <a:avLst>
              <a:gd name="adj" fmla="val 50000"/>
            </a:avLst>
          </a:prstGeom>
          <a:solidFill>
            <a:srgbClr val="FFFFFF"/>
          </a:solidFill>
          <a:ln w="15875">
            <a:solidFill>
              <a:srgbClr val="0E8A7D"/>
            </a:solidFill>
            <a:prstDash val="solid"/>
          </a:ln>
        </p:spPr>
      </p:sp>
      <p:sp>
        <p:nvSpPr>
          <p:cNvPr id="6" name="Text 3"/>
          <p:cNvSpPr txBox="1"/>
          <p:nvPr/>
        </p:nvSpPr>
        <p:spPr>
          <a:xfrm>
            <a:off x="6035040" y="1325880"/>
            <a:ext cx="2139696" cy="256032"/>
          </a:xfrm>
          <a:prstGeom prst="rect">
            <a:avLst/>
          </a:prstGeom>
          <a:noFill/>
          <a:ln/>
        </p:spPr>
        <p:txBody>
          <a:bodyPr wrap="square" lIns="0" tIns="0" rIns="0" bIns="0" rtlCol="0" anchor="ctr"/>
          <a:lstStyle/>
          <a:p>
            <a:pPr algn="ctr" indent="0" marL="0">
              <a:buNone/>
            </a:pPr>
            <a:r>
              <a:rPr lang="en-US" sz="1000" b="1" dirty="0">
                <a:solidFill>
                  <a:srgbClr val="0E8A7D"/>
                </a:solidFill>
                <a:latin typeface="Calibri" pitchFamily="34" charset="0"/>
                <a:ea typeface="Calibri" pitchFamily="34" charset="-122"/>
                <a:cs typeface="Calibri" pitchFamily="34" charset="-120"/>
              </a:rPr>
              <a:t>ĐÃ CÓ · DỮ LIỆU MINH HỌA</a:t>
            </a:r>
            <a:endParaRPr lang="en-US" sz="1000" dirty="0"/>
          </a:p>
        </p:txBody>
      </p:sp>
      <p:sp>
        <p:nvSpPr>
          <p:cNvPr id="7" name="Text 4"/>
          <p:cNvSpPr txBox="1"/>
          <p:nvPr/>
        </p:nvSpPr>
        <p:spPr>
          <a:xfrm>
            <a:off x="6035040" y="1783080"/>
            <a:ext cx="2651760" cy="173736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F2A3C"/>
                </a:solidFill>
                <a:latin typeface="Calibri" pitchFamily="34" charset="0"/>
                <a:ea typeface="Calibri" pitchFamily="34" charset="-122"/>
                <a:cs typeface="Calibri" pitchFamily="34" charset="-120"/>
              </a:rPr>
              <a:t>Mỗi khu vực là một điểm đến: Mê cung kho báu, Rừng chữ kỳ diệu, Đảo dấu thanh, Lâu đài ghép vần.</a:t>
            </a:r>
            <a:endParaRPr lang="en-US" sz="1400" dirty="0"/>
          </a:p>
          <a:p>
            <a:pPr marL="203200" indent="-203200">
              <a:spcAft>
                <a:spcPts val="1000"/>
              </a:spcAft>
              <a:buSzPct val="100000"/>
              <a:buChar char="•"/>
            </a:pPr>
            <a:r>
              <a:rPr lang="en-US" sz="1400" dirty="0">
                <a:solidFill>
                  <a:srgbClr val="1F2A3C"/>
                </a:solidFill>
                <a:latin typeface="Calibri" pitchFamily="34" charset="0"/>
                <a:ea typeface="Calibri" pitchFamily="34" charset="-122"/>
                <a:cs typeface="Calibri" pitchFamily="34" charset="-120"/>
              </a:rPr>
              <a:t>Luyện tập giúp mở thêm những trải nghiệm mới.</a:t>
            </a:r>
            <a:endParaRPr lang="en-US" sz="1400" dirty="0"/>
          </a:p>
          <a:p>
            <a:pPr marL="203200" indent="-203200">
              <a:spcAft>
                <a:spcPts val="1000"/>
              </a:spcAft>
              <a:buSzPct val="100000"/>
              <a:buChar char="•"/>
            </a:pPr>
            <a:r>
              <a:rPr lang="en-US" sz="1400" dirty="0">
                <a:solidFill>
                  <a:srgbClr val="1F2A3C"/>
                </a:solidFill>
                <a:latin typeface="Calibri" pitchFamily="34" charset="0"/>
                <a:ea typeface="Calibri" pitchFamily="34" charset="-122"/>
                <a:cs typeface="Calibri" pitchFamily="34" charset="-120"/>
              </a:rPr>
              <a:t>Trẻ nhìn thấy hành trình của mình qua hình ảnh, không chỉ qua con số.</a:t>
            </a:r>
            <a:endParaRPr lang="en-US" sz="1400" dirty="0"/>
          </a:p>
        </p:txBody>
      </p:sp>
      <p:sp>
        <p:nvSpPr>
          <p:cNvPr id="8" name="Text 5"/>
          <p:cNvSpPr txBox="1"/>
          <p:nvPr/>
        </p:nvSpPr>
        <p:spPr>
          <a:xfrm>
            <a:off x="548640" y="4480560"/>
            <a:ext cx="3657600" cy="219456"/>
          </a:xfrm>
          <a:prstGeom prst="rect">
            <a:avLst/>
          </a:prstGeom>
          <a:noFill/>
          <a:ln/>
        </p:spPr>
        <p:txBody>
          <a:bodyPr wrap="square" lIns="0" tIns="0" rIns="0" bIns="0" rtlCol="0" anchor="ctr"/>
          <a:lstStyle/>
          <a:p>
            <a:pPr algn="l" indent="0" marL="0">
              <a:buNone/>
            </a:pPr>
            <a:r>
              <a:rPr lang="en-US" sz="1000" i="1" dirty="0">
                <a:solidFill>
                  <a:srgbClr val="566175"/>
                </a:solidFill>
                <a:latin typeface="Calibri" pitchFamily="34" charset="0"/>
                <a:ea typeface="Calibri" pitchFamily="34" charset="-122"/>
                <a:cs typeface="Calibri" pitchFamily="34" charset="-120"/>
              </a:rPr>
              <a:t>Ảnh chụp bản chơi thử</a:t>
            </a:r>
            <a:endParaRPr lang="en-US" sz="10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TRÒ CHƠI</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Mê cung kho báu</a:t>
            </a:r>
            <a:endParaRPr lang="en-US" sz="3000" dirty="0"/>
          </a:p>
        </p:txBody>
      </p:sp>
      <p:pic>
        <p:nvPicPr>
          <p:cNvPr id="4" name="Image 0" descr="Bàn Mê cung kho báu">    </p:cNvPr>
          <p:cNvPicPr>
            <a:picLocks noChangeAspect="1"/>
          </p:cNvPicPr>
          <p:nvPr/>
        </p:nvPicPr>
        <p:blipFill>
          <a:blip r:embed="rId1"/>
          <a:stretch>
            <a:fillRect/>
          </a:stretch>
        </p:blipFill>
        <p:spPr>
          <a:xfrm>
            <a:off x="548640" y="1280160"/>
            <a:ext cx="3474720" cy="3474720"/>
          </a:xfrm>
          <a:prstGeom prst="rect">
            <a:avLst/>
          </a:prstGeom>
        </p:spPr>
      </p:pic>
      <p:sp>
        <p:nvSpPr>
          <p:cNvPr id="5" name="Shape 2"/>
          <p:cNvSpPr/>
          <p:nvPr/>
        </p:nvSpPr>
        <p:spPr>
          <a:xfrm>
            <a:off x="4389120" y="1325880"/>
            <a:ext cx="1207008" cy="256032"/>
          </a:xfrm>
          <a:prstGeom prst="roundRect">
            <a:avLst>
              <a:gd name="adj" fmla="val 50000"/>
            </a:avLst>
          </a:prstGeom>
          <a:solidFill>
            <a:srgbClr val="FFFFFF"/>
          </a:solidFill>
          <a:ln w="15875">
            <a:solidFill>
              <a:srgbClr val="9A7416"/>
            </a:solidFill>
            <a:prstDash val="solid"/>
          </a:ln>
        </p:spPr>
      </p:sp>
      <p:sp>
        <p:nvSpPr>
          <p:cNvPr id="6" name="Text 3"/>
          <p:cNvSpPr txBox="1"/>
          <p:nvPr/>
        </p:nvSpPr>
        <p:spPr>
          <a:xfrm>
            <a:off x="4389120" y="1325880"/>
            <a:ext cx="1207008" cy="256032"/>
          </a:xfrm>
          <a:prstGeom prst="rect">
            <a:avLst/>
          </a:prstGeom>
          <a:noFill/>
          <a:ln/>
        </p:spPr>
        <p:txBody>
          <a:bodyPr wrap="square" lIns="0" tIns="0" rIns="0" bIns="0" rtlCol="0" anchor="ctr"/>
          <a:lstStyle/>
          <a:p>
            <a:pPr algn="ctr" indent="0" marL="0">
              <a:buNone/>
            </a:pPr>
            <a:r>
              <a:rPr lang="en-US" sz="1000" b="1" dirty="0">
                <a:solidFill>
                  <a:srgbClr val="9A7416"/>
                </a:solidFill>
                <a:latin typeface="Calibri" pitchFamily="34" charset="0"/>
                <a:ea typeface="Calibri" pitchFamily="34" charset="-122"/>
                <a:cs typeface="Calibri" pitchFamily="34" charset="-120"/>
              </a:rPr>
              <a:t>BẢN CHƠI THỬ</a:t>
            </a:r>
            <a:endParaRPr lang="en-US" sz="1000" dirty="0"/>
          </a:p>
        </p:txBody>
      </p:sp>
      <p:sp>
        <p:nvSpPr>
          <p:cNvPr id="7" name="Shape 4"/>
          <p:cNvSpPr/>
          <p:nvPr/>
        </p:nvSpPr>
        <p:spPr>
          <a:xfrm>
            <a:off x="4389120" y="1783080"/>
            <a:ext cx="329184" cy="329184"/>
          </a:xfrm>
          <a:prstGeom prst="ellipse">
            <a:avLst/>
          </a:prstGeom>
          <a:solidFill>
            <a:srgbClr val="0E8A7D"/>
          </a:solidFill>
          <a:ln/>
        </p:spPr>
      </p:sp>
      <p:sp>
        <p:nvSpPr>
          <p:cNvPr id="8" name="Text 5"/>
          <p:cNvSpPr txBox="1"/>
          <p:nvPr/>
        </p:nvSpPr>
        <p:spPr>
          <a:xfrm>
            <a:off x="4389120" y="178308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4864608" y="1746504"/>
            <a:ext cx="3749040" cy="274320"/>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Điều khiển nhân vật</a:t>
            </a:r>
            <a:endParaRPr lang="en-US" sz="1500" dirty="0"/>
          </a:p>
        </p:txBody>
      </p:sp>
      <p:sp>
        <p:nvSpPr>
          <p:cNvPr id="10" name="Text 7"/>
          <p:cNvSpPr txBox="1"/>
          <p:nvPr/>
        </p:nvSpPr>
        <p:spPr>
          <a:xfrm>
            <a:off x="4864608" y="2029968"/>
            <a:ext cx="3749040" cy="274320"/>
          </a:xfrm>
          <a:prstGeom prst="rect">
            <a:avLst/>
          </a:prstGeom>
          <a:noFill/>
          <a:ln/>
        </p:spPr>
        <p:txBody>
          <a:bodyPr wrap="square" lIns="0" tIns="0" rIns="0" bIns="0" rtlCol="0" anchor="ctr"/>
          <a:lstStyle/>
          <a:p>
            <a:pPr indent="0" marL="0">
              <a:buNone/>
            </a:pPr>
            <a:r>
              <a:rPr lang="en-US" sz="1300" dirty="0">
                <a:solidFill>
                  <a:srgbClr val="566175"/>
                </a:solidFill>
                <a:latin typeface="Calibri" pitchFamily="34" charset="0"/>
                <a:ea typeface="Calibri" pitchFamily="34" charset="-122"/>
                <a:cs typeface="Calibri" pitchFamily="34" charset="-120"/>
              </a:rPr>
              <a:t>Bạn nhỏ thám hiểm đi từng ô trong mê cung.</a:t>
            </a:r>
            <a:endParaRPr lang="en-US" sz="1300" dirty="0"/>
          </a:p>
        </p:txBody>
      </p:sp>
      <p:sp>
        <p:nvSpPr>
          <p:cNvPr id="11" name="Shape 8"/>
          <p:cNvSpPr/>
          <p:nvPr/>
        </p:nvSpPr>
        <p:spPr>
          <a:xfrm>
            <a:off x="4389120" y="2496312"/>
            <a:ext cx="329184" cy="329184"/>
          </a:xfrm>
          <a:prstGeom prst="ellipse">
            <a:avLst/>
          </a:prstGeom>
          <a:solidFill>
            <a:srgbClr val="0E8A7D"/>
          </a:solidFill>
          <a:ln/>
        </p:spPr>
      </p:sp>
      <p:sp>
        <p:nvSpPr>
          <p:cNvPr id="12" name="Text 9"/>
          <p:cNvSpPr txBox="1"/>
          <p:nvPr/>
        </p:nvSpPr>
        <p:spPr>
          <a:xfrm>
            <a:off x="4389120" y="249631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4864608" y="2459736"/>
            <a:ext cx="3749040" cy="274320"/>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Tìm đường và khám phá</a:t>
            </a:r>
            <a:endParaRPr lang="en-US" sz="1500" dirty="0"/>
          </a:p>
        </p:txBody>
      </p:sp>
      <p:sp>
        <p:nvSpPr>
          <p:cNvPr id="14" name="Text 11"/>
          <p:cNvSpPr txBox="1"/>
          <p:nvPr/>
        </p:nvSpPr>
        <p:spPr>
          <a:xfrm>
            <a:off x="4864608" y="2743200"/>
            <a:ext cx="3749040" cy="274320"/>
          </a:xfrm>
          <a:prstGeom prst="rect">
            <a:avLst/>
          </a:prstGeom>
          <a:noFill/>
          <a:ln/>
        </p:spPr>
        <p:txBody>
          <a:bodyPr wrap="square" lIns="0" tIns="0" rIns="0" bIns="0" rtlCol="0" anchor="ctr"/>
          <a:lstStyle/>
          <a:p>
            <a:pPr indent="0" marL="0">
              <a:buNone/>
            </a:pPr>
            <a:r>
              <a:rPr lang="en-US" sz="1300" dirty="0">
                <a:solidFill>
                  <a:srgbClr val="566175"/>
                </a:solidFill>
                <a:latin typeface="Calibri" pitchFamily="34" charset="0"/>
                <a:ea typeface="Calibri" pitchFamily="34" charset="-122"/>
                <a:cs typeface="Calibri" pitchFamily="34" charset="-120"/>
              </a:rPr>
              <a:t>Ba màn chơi với độ khó tăng dần.</a:t>
            </a:r>
            <a:endParaRPr lang="en-US" sz="1300" dirty="0"/>
          </a:p>
        </p:txBody>
      </p:sp>
      <p:sp>
        <p:nvSpPr>
          <p:cNvPr id="15" name="Shape 12"/>
          <p:cNvSpPr/>
          <p:nvPr/>
        </p:nvSpPr>
        <p:spPr>
          <a:xfrm>
            <a:off x="4389120" y="3209544"/>
            <a:ext cx="329184" cy="329184"/>
          </a:xfrm>
          <a:prstGeom prst="ellipse">
            <a:avLst/>
          </a:prstGeom>
          <a:solidFill>
            <a:srgbClr val="0E8A7D"/>
          </a:solidFill>
          <a:ln/>
        </p:spPr>
      </p:sp>
      <p:sp>
        <p:nvSpPr>
          <p:cNvPr id="16" name="Text 13"/>
          <p:cNvSpPr txBox="1"/>
          <p:nvPr/>
        </p:nvSpPr>
        <p:spPr>
          <a:xfrm>
            <a:off x="4389120" y="320954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4864608" y="3172968"/>
            <a:ext cx="3749040" cy="274320"/>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Gặp các điểm thử thách</a:t>
            </a:r>
            <a:endParaRPr lang="en-US" sz="1500" dirty="0"/>
          </a:p>
        </p:txBody>
      </p:sp>
      <p:sp>
        <p:nvSpPr>
          <p:cNvPr id="18" name="Text 15"/>
          <p:cNvSpPr txBox="1"/>
          <p:nvPr/>
        </p:nvSpPr>
        <p:spPr>
          <a:xfrm>
            <a:off x="4864608" y="3456432"/>
            <a:ext cx="3749040" cy="274320"/>
          </a:xfrm>
          <a:prstGeom prst="rect">
            <a:avLst/>
          </a:prstGeom>
          <a:noFill/>
          <a:ln/>
        </p:spPr>
        <p:txBody>
          <a:bodyPr wrap="square" lIns="0" tIns="0" rIns="0" bIns="0" rtlCol="0" anchor="ctr"/>
          <a:lstStyle/>
          <a:p>
            <a:pPr indent="0" marL="0">
              <a:buNone/>
            </a:pPr>
            <a:r>
              <a:rPr lang="en-US" sz="1300" dirty="0">
                <a:solidFill>
                  <a:srgbClr val="566175"/>
                </a:solidFill>
                <a:latin typeface="Calibri" pitchFamily="34" charset="0"/>
                <a:ea typeface="Calibri" pitchFamily="34" charset="-122"/>
                <a:cs typeface="Calibri" pitchFamily="34" charset="-120"/>
              </a:rPr>
              <a:t>Mỗi màn có 7 điểm thử thách trên đường.</a:t>
            </a:r>
            <a:endParaRPr lang="en-US" sz="1300" dirty="0"/>
          </a:p>
        </p:txBody>
      </p:sp>
      <p:sp>
        <p:nvSpPr>
          <p:cNvPr id="19" name="Shape 16"/>
          <p:cNvSpPr/>
          <p:nvPr/>
        </p:nvSpPr>
        <p:spPr>
          <a:xfrm>
            <a:off x="4389120" y="3922776"/>
            <a:ext cx="329184" cy="329184"/>
          </a:xfrm>
          <a:prstGeom prst="ellipse">
            <a:avLst/>
          </a:prstGeom>
          <a:solidFill>
            <a:srgbClr val="C9A24A"/>
          </a:solidFill>
          <a:ln/>
        </p:spPr>
      </p:sp>
      <p:sp>
        <p:nvSpPr>
          <p:cNvPr id="20" name="Text 17"/>
          <p:cNvSpPr txBox="1"/>
          <p:nvPr/>
        </p:nvSpPr>
        <p:spPr>
          <a:xfrm>
            <a:off x="4389120" y="392277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8"/>
          <p:cNvSpPr txBox="1"/>
          <p:nvPr/>
        </p:nvSpPr>
        <p:spPr>
          <a:xfrm>
            <a:off x="4864608" y="3886200"/>
            <a:ext cx="3749040" cy="274320"/>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Hướng tới kho báu</a:t>
            </a:r>
            <a:endParaRPr lang="en-US" sz="1500" dirty="0"/>
          </a:p>
        </p:txBody>
      </p:sp>
      <p:sp>
        <p:nvSpPr>
          <p:cNvPr id="22" name="Text 19"/>
          <p:cNvSpPr txBox="1"/>
          <p:nvPr/>
        </p:nvSpPr>
        <p:spPr>
          <a:xfrm>
            <a:off x="4864608" y="4169664"/>
            <a:ext cx="3749040" cy="274320"/>
          </a:xfrm>
          <a:prstGeom prst="rect">
            <a:avLst/>
          </a:prstGeom>
          <a:noFill/>
          <a:ln/>
        </p:spPr>
        <p:txBody>
          <a:bodyPr wrap="square" lIns="0" tIns="0" rIns="0" bIns="0" rtlCol="0" anchor="ctr"/>
          <a:lstStyle/>
          <a:p>
            <a:pPr indent="0" marL="0">
              <a:buNone/>
            </a:pPr>
            <a:r>
              <a:rPr lang="en-US" sz="1300" dirty="0">
                <a:solidFill>
                  <a:srgbClr val="566175"/>
                </a:solidFill>
                <a:latin typeface="Calibri" pitchFamily="34" charset="0"/>
                <a:ea typeface="Calibri" pitchFamily="34" charset="-122"/>
                <a:cs typeface="Calibri" pitchFamily="34" charset="-120"/>
              </a:rPr>
              <a:t>Rương kho báu nằm ở cuối màn.</a:t>
            </a:r>
            <a:endParaRPr lang="en-US" sz="1300" dirty="0"/>
          </a:p>
        </p:txBody>
      </p:sp>
      <p:sp>
        <p:nvSpPr>
          <p:cNvPr id="23" name="Text 20"/>
          <p:cNvSpPr txBox="1"/>
          <p:nvPr/>
        </p:nvSpPr>
        <p:spPr>
          <a:xfrm>
            <a:off x="4389120" y="4572000"/>
            <a:ext cx="4297680" cy="219456"/>
          </a:xfrm>
          <a:prstGeom prst="rect">
            <a:avLst/>
          </a:prstGeom>
          <a:noFill/>
          <a:ln/>
        </p:spPr>
        <p:txBody>
          <a:bodyPr wrap="square" lIns="0" tIns="0" rIns="0" bIns="0" rtlCol="0" anchor="ctr"/>
          <a:lstStyle/>
          <a:p>
            <a:pPr algn="l" indent="0" marL="0">
              <a:buNone/>
            </a:pPr>
            <a:r>
              <a:rPr lang="en-US" sz="1000" i="1" dirty="0">
                <a:solidFill>
                  <a:srgbClr val="566175"/>
                </a:solidFill>
                <a:latin typeface="Calibri" pitchFamily="34" charset="0"/>
                <a:ea typeface="Calibri" pitchFamily="34" charset="-122"/>
                <a:cs typeface="Calibri" pitchFamily="34" charset="-120"/>
              </a:rPr>
              <a:t>Ảnh chụp bản chơi thử: chưa có câu hỏi, chưa tính điểm.</a:t>
            </a:r>
            <a:endParaRPr lang="en-US" sz="10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HƯỚNG DẪN CHƠI</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Điều khiển Mê cung thật dễ</a:t>
            </a:r>
            <a:endParaRPr lang="en-US" sz="3000" dirty="0"/>
          </a:p>
        </p:txBody>
      </p:sp>
      <p:sp>
        <p:nvSpPr>
          <p:cNvPr id="4" name="Shape 2"/>
          <p:cNvSpPr/>
          <p:nvPr/>
        </p:nvSpPr>
        <p:spPr>
          <a:xfrm>
            <a:off x="685800" y="1188720"/>
            <a:ext cx="1714500" cy="3429000"/>
          </a:xfrm>
          <a:prstGeom prst="roundRect">
            <a:avLst>
              <a:gd name="adj" fmla="val 11733"/>
            </a:avLst>
          </a:prstGeom>
          <a:solidFill>
            <a:srgbClr val="0F2447"/>
          </a:solidFill>
          <a:ln/>
          <a:effectLst>
            <a:outerShdw sx="100000" sy="100000" kx="0" ky="0" algn="bl" rotWithShape="0" blurRad="101600" dist="25400" dir="5400000">
              <a:srgbClr val="1F2A3C">
                <a:alpha val="14000"/>
              </a:srgbClr>
            </a:outerShdw>
          </a:effectLst>
        </p:spPr>
      </p:sp>
      <p:pic>
        <p:nvPicPr>
          <p:cNvPr id="5" name="Image 0" descr="Màn hình bản chơi thử trên điện thoại">    </p:cNvPr>
          <p:cNvPicPr>
            <a:picLocks noChangeAspect="1"/>
          </p:cNvPicPr>
          <p:nvPr/>
        </p:nvPicPr>
        <p:blipFill>
          <a:blip r:embed="rId1"/>
          <a:stretch>
            <a:fillRect/>
          </a:stretch>
        </p:blipFill>
        <p:spPr>
          <a:xfrm>
            <a:off x="740664" y="1243584"/>
            <a:ext cx="1604772" cy="3319272"/>
          </a:xfrm>
          <a:prstGeom prst="rect">
            <a:avLst/>
          </a:prstGeom>
        </p:spPr>
      </p:pic>
      <p:sp>
        <p:nvSpPr>
          <p:cNvPr id="6" name="Text 3"/>
          <p:cNvSpPr txBox="1"/>
          <p:nvPr/>
        </p:nvSpPr>
        <p:spPr>
          <a:xfrm>
            <a:off x="2697480" y="1280160"/>
            <a:ext cx="2011680" cy="292608"/>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Trên điện thoại</a:t>
            </a:r>
            <a:endParaRPr lang="en-US" sz="1500" dirty="0"/>
          </a:p>
        </p:txBody>
      </p:sp>
      <p:sp>
        <p:nvSpPr>
          <p:cNvPr id="7" name="Text 4"/>
          <p:cNvSpPr txBox="1"/>
          <p:nvPr/>
        </p:nvSpPr>
        <p:spPr>
          <a:xfrm>
            <a:off x="2697480" y="1600200"/>
            <a:ext cx="1828800" cy="82296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Chạm một lần để đi một ô; giữ nút để đi tiếp.</a:t>
            </a:r>
            <a:endParaRPr lang="en-US" sz="1200" dirty="0"/>
          </a:p>
        </p:txBody>
      </p:sp>
      <p:sp>
        <p:nvSpPr>
          <p:cNvPr id="8" name="Text 5"/>
          <p:cNvSpPr txBox="1"/>
          <p:nvPr/>
        </p:nvSpPr>
        <p:spPr>
          <a:xfrm>
            <a:off x="4846320" y="1280160"/>
            <a:ext cx="2011680" cy="292608"/>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Trên máy tính</a:t>
            </a:r>
            <a:endParaRPr lang="en-US" sz="1500" dirty="0"/>
          </a:p>
        </p:txBody>
      </p:sp>
      <p:sp>
        <p:nvSpPr>
          <p:cNvPr id="9" name="Shape 6"/>
          <p:cNvSpPr/>
          <p:nvPr/>
        </p:nvSpPr>
        <p:spPr>
          <a:xfrm>
            <a:off x="5440680" y="1691640"/>
            <a:ext cx="502920" cy="502920"/>
          </a:xfrm>
          <a:prstGeom prst="roundRect">
            <a:avLst>
              <a:gd name="adj" fmla="val 18182"/>
            </a:avLst>
          </a:prstGeom>
          <a:solidFill>
            <a:srgbClr val="FFFFFF"/>
          </a:solidFill>
          <a:ln w="19050">
            <a:solidFill>
              <a:srgbClr val="D9CDB2"/>
            </a:solidFill>
            <a:prstDash val="solid"/>
          </a:ln>
          <a:effectLst>
            <a:outerShdw sx="100000" sy="100000" kx="0" ky="0" algn="bl" rotWithShape="0" blurRad="101600" dist="25400" dir="5400000">
              <a:srgbClr val="1F2A3C">
                <a:alpha val="14000"/>
              </a:srgbClr>
            </a:outerShdw>
          </a:effectLst>
        </p:spPr>
      </p:sp>
      <p:sp>
        <p:nvSpPr>
          <p:cNvPr id="10" name="Text 7"/>
          <p:cNvSpPr txBox="1"/>
          <p:nvPr/>
        </p:nvSpPr>
        <p:spPr>
          <a:xfrm>
            <a:off x="5440680" y="1691640"/>
            <a:ext cx="502920" cy="502920"/>
          </a:xfrm>
          <a:prstGeom prst="rect">
            <a:avLst/>
          </a:prstGeom>
          <a:noFill/>
          <a:ln/>
        </p:spPr>
        <p:txBody>
          <a:bodyPr wrap="square" lIns="0" tIns="0" rIns="0" bIns="0" rtlCol="0" anchor="ctr"/>
          <a:lstStyle/>
          <a:p>
            <a:pPr algn="ctr" indent="0" marL="0">
              <a:buNone/>
            </a:pPr>
            <a:r>
              <a:rPr lang="en-US" sz="1800" b="1" dirty="0">
                <a:solidFill>
                  <a:srgbClr val="0F2447"/>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4892040" y="2240280"/>
            <a:ext cx="502920" cy="502920"/>
          </a:xfrm>
          <a:prstGeom prst="roundRect">
            <a:avLst>
              <a:gd name="adj" fmla="val 18182"/>
            </a:avLst>
          </a:prstGeom>
          <a:solidFill>
            <a:srgbClr val="FFFFFF"/>
          </a:solidFill>
          <a:ln w="19050">
            <a:solidFill>
              <a:srgbClr val="D9CDB2"/>
            </a:solidFill>
            <a:prstDash val="solid"/>
          </a:ln>
          <a:effectLst>
            <a:outerShdw sx="100000" sy="100000" kx="0" ky="0" algn="bl" rotWithShape="0" blurRad="101600" dist="25400" dir="5400000">
              <a:srgbClr val="1F2A3C">
                <a:alpha val="14000"/>
              </a:srgbClr>
            </a:outerShdw>
          </a:effectLst>
        </p:spPr>
      </p:sp>
      <p:sp>
        <p:nvSpPr>
          <p:cNvPr id="12" name="Text 9"/>
          <p:cNvSpPr txBox="1"/>
          <p:nvPr/>
        </p:nvSpPr>
        <p:spPr>
          <a:xfrm>
            <a:off x="4892040" y="2240280"/>
            <a:ext cx="502920" cy="502920"/>
          </a:xfrm>
          <a:prstGeom prst="rect">
            <a:avLst/>
          </a:prstGeom>
          <a:noFill/>
          <a:ln/>
        </p:spPr>
        <p:txBody>
          <a:bodyPr wrap="square" lIns="0" tIns="0" rIns="0" bIns="0" rtlCol="0" anchor="ctr"/>
          <a:lstStyle/>
          <a:p>
            <a:pPr algn="ctr" indent="0" marL="0">
              <a:buNone/>
            </a:pPr>
            <a:r>
              <a:rPr lang="en-US" sz="1800" b="1" dirty="0">
                <a:solidFill>
                  <a:srgbClr val="0F2447"/>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5440680" y="2240280"/>
            <a:ext cx="502920" cy="502920"/>
          </a:xfrm>
          <a:prstGeom prst="roundRect">
            <a:avLst>
              <a:gd name="adj" fmla="val 18182"/>
            </a:avLst>
          </a:prstGeom>
          <a:solidFill>
            <a:srgbClr val="FFFFFF"/>
          </a:solidFill>
          <a:ln w="19050">
            <a:solidFill>
              <a:srgbClr val="D9CDB2"/>
            </a:solidFill>
            <a:prstDash val="solid"/>
          </a:ln>
          <a:effectLst>
            <a:outerShdw sx="100000" sy="100000" kx="0" ky="0" algn="bl" rotWithShape="0" blurRad="101600" dist="25400" dir="5400000">
              <a:srgbClr val="1F2A3C">
                <a:alpha val="14000"/>
              </a:srgbClr>
            </a:outerShdw>
          </a:effectLst>
        </p:spPr>
      </p:sp>
      <p:sp>
        <p:nvSpPr>
          <p:cNvPr id="14" name="Text 11"/>
          <p:cNvSpPr txBox="1"/>
          <p:nvPr/>
        </p:nvSpPr>
        <p:spPr>
          <a:xfrm>
            <a:off x="5440680" y="2240280"/>
            <a:ext cx="502920" cy="502920"/>
          </a:xfrm>
          <a:prstGeom prst="rect">
            <a:avLst/>
          </a:prstGeom>
          <a:noFill/>
          <a:ln/>
        </p:spPr>
        <p:txBody>
          <a:bodyPr wrap="square" lIns="0" tIns="0" rIns="0" bIns="0" rtlCol="0" anchor="ctr"/>
          <a:lstStyle/>
          <a:p>
            <a:pPr algn="ctr" indent="0" marL="0">
              <a:buNone/>
            </a:pPr>
            <a:r>
              <a:rPr lang="en-US" sz="1800" b="1" dirty="0">
                <a:solidFill>
                  <a:srgbClr val="0F2447"/>
                </a:solidFill>
                <a:latin typeface="Calibri" pitchFamily="34" charset="0"/>
                <a:ea typeface="Calibri" pitchFamily="34" charset="-122"/>
                <a:cs typeface="Calibri" pitchFamily="34" charset="-120"/>
              </a:rPr>
              <a:t>↓</a:t>
            </a:r>
            <a:endParaRPr lang="en-US" sz="1800" dirty="0"/>
          </a:p>
        </p:txBody>
      </p:sp>
      <p:sp>
        <p:nvSpPr>
          <p:cNvPr id="15" name="Shape 12"/>
          <p:cNvSpPr/>
          <p:nvPr/>
        </p:nvSpPr>
        <p:spPr>
          <a:xfrm>
            <a:off x="5989320" y="2240280"/>
            <a:ext cx="502920" cy="502920"/>
          </a:xfrm>
          <a:prstGeom prst="roundRect">
            <a:avLst>
              <a:gd name="adj" fmla="val 18182"/>
            </a:avLst>
          </a:prstGeom>
          <a:solidFill>
            <a:srgbClr val="FFFFFF"/>
          </a:solidFill>
          <a:ln w="19050">
            <a:solidFill>
              <a:srgbClr val="D9CDB2"/>
            </a:solidFill>
            <a:prstDash val="solid"/>
          </a:ln>
          <a:effectLst>
            <a:outerShdw sx="100000" sy="100000" kx="0" ky="0" algn="bl" rotWithShape="0" blurRad="101600" dist="25400" dir="5400000">
              <a:srgbClr val="1F2A3C">
                <a:alpha val="14000"/>
              </a:srgbClr>
            </a:outerShdw>
          </a:effectLst>
        </p:spPr>
      </p:sp>
      <p:sp>
        <p:nvSpPr>
          <p:cNvPr id="16" name="Text 13"/>
          <p:cNvSpPr txBox="1"/>
          <p:nvPr/>
        </p:nvSpPr>
        <p:spPr>
          <a:xfrm>
            <a:off x="5989320" y="2240280"/>
            <a:ext cx="502920" cy="502920"/>
          </a:xfrm>
          <a:prstGeom prst="rect">
            <a:avLst/>
          </a:prstGeom>
          <a:noFill/>
          <a:ln/>
        </p:spPr>
        <p:txBody>
          <a:bodyPr wrap="square" lIns="0" tIns="0" rIns="0" bIns="0" rtlCol="0" anchor="ctr"/>
          <a:lstStyle/>
          <a:p>
            <a:pPr algn="ctr" indent="0" marL="0">
              <a:buNone/>
            </a:pPr>
            <a:r>
              <a:rPr lang="en-US" sz="1800" b="1" dirty="0">
                <a:solidFill>
                  <a:srgbClr val="0F2447"/>
                </a:solidFill>
                <a:latin typeface="Calibri" pitchFamily="34" charset="0"/>
                <a:ea typeface="Calibri" pitchFamily="34" charset="-122"/>
                <a:cs typeface="Calibri" pitchFamily="34" charset="-120"/>
              </a:rPr>
              <a:t>→</a:t>
            </a:r>
            <a:endParaRPr lang="en-US" sz="1800" dirty="0"/>
          </a:p>
        </p:txBody>
      </p:sp>
      <p:sp>
        <p:nvSpPr>
          <p:cNvPr id="17" name="Text 14"/>
          <p:cNvSpPr txBox="1"/>
          <p:nvPr/>
        </p:nvSpPr>
        <p:spPr>
          <a:xfrm>
            <a:off x="4846320" y="2834640"/>
            <a:ext cx="2011680" cy="45720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Phím mũi tên hoặc W A S D</a:t>
            </a:r>
            <a:endParaRPr lang="en-US" sz="1200" dirty="0"/>
          </a:p>
        </p:txBody>
      </p:sp>
      <p:sp>
        <p:nvSpPr>
          <p:cNvPr id="18" name="Text 15"/>
          <p:cNvSpPr txBox="1"/>
          <p:nvPr/>
        </p:nvSpPr>
        <p:spPr>
          <a:xfrm>
            <a:off x="6858000" y="1280160"/>
            <a:ext cx="2011680" cy="292608"/>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Tạm dừng và chơi tiếp</a:t>
            </a:r>
            <a:endParaRPr lang="en-US" sz="1500" dirty="0"/>
          </a:p>
        </p:txBody>
      </p:sp>
      <p:sp>
        <p:nvSpPr>
          <p:cNvPr id="19" name="Shape 16"/>
          <p:cNvSpPr/>
          <p:nvPr/>
        </p:nvSpPr>
        <p:spPr>
          <a:xfrm>
            <a:off x="6858000" y="1737360"/>
            <a:ext cx="1737360" cy="411480"/>
          </a:xfrm>
          <a:prstGeom prst="roundRect">
            <a:avLst>
              <a:gd name="adj" fmla="val 48889"/>
            </a:avLst>
          </a:prstGeom>
          <a:solidFill>
            <a:srgbClr val="FFFFFF"/>
          </a:solidFill>
          <a:ln w="19050">
            <a:solidFill>
              <a:srgbClr val="D9CDB2"/>
            </a:solidFill>
            <a:prstDash val="solid"/>
          </a:ln>
        </p:spPr>
      </p:sp>
      <p:sp>
        <p:nvSpPr>
          <p:cNvPr id="20" name="Text 17"/>
          <p:cNvSpPr txBox="1"/>
          <p:nvPr/>
        </p:nvSpPr>
        <p:spPr>
          <a:xfrm>
            <a:off x="6858000" y="1737360"/>
            <a:ext cx="1737360" cy="411480"/>
          </a:xfrm>
          <a:prstGeom prst="rect">
            <a:avLst/>
          </a:prstGeom>
          <a:noFill/>
          <a:ln/>
        </p:spPr>
        <p:txBody>
          <a:bodyPr wrap="square" lIns="0" tIns="0" rIns="0" bIns="0" rtlCol="0" anchor="ctr"/>
          <a:lstStyle/>
          <a:p>
            <a:pPr algn="ctr" indent="0" marL="0">
              <a:buNone/>
            </a:pPr>
            <a:r>
              <a:rPr lang="en-US" sz="1400" b="1" dirty="0">
                <a:solidFill>
                  <a:srgbClr val="0F2447"/>
                </a:solidFill>
                <a:latin typeface="Calibri" pitchFamily="34" charset="0"/>
                <a:ea typeface="Calibri" pitchFamily="34" charset="-122"/>
                <a:cs typeface="Calibri" pitchFamily="34" charset="-120"/>
              </a:rPr>
              <a:t>Tạm dừng</a:t>
            </a:r>
            <a:endParaRPr lang="en-US" sz="1400" dirty="0"/>
          </a:p>
        </p:txBody>
      </p:sp>
      <p:sp>
        <p:nvSpPr>
          <p:cNvPr id="21" name="Shape 18"/>
          <p:cNvSpPr/>
          <p:nvPr/>
        </p:nvSpPr>
        <p:spPr>
          <a:xfrm>
            <a:off x="6858000" y="2286000"/>
            <a:ext cx="1737360" cy="411480"/>
          </a:xfrm>
          <a:prstGeom prst="roundRect">
            <a:avLst>
              <a:gd name="adj" fmla="val 48889"/>
            </a:avLst>
          </a:prstGeom>
          <a:solidFill>
            <a:srgbClr val="0E8A7D"/>
          </a:solidFill>
          <a:ln w="19050">
            <a:solidFill>
              <a:srgbClr val="0E8A7D"/>
            </a:solidFill>
            <a:prstDash val="solid"/>
          </a:ln>
        </p:spPr>
      </p:sp>
      <p:sp>
        <p:nvSpPr>
          <p:cNvPr id="22" name="Text 19"/>
          <p:cNvSpPr txBox="1"/>
          <p:nvPr/>
        </p:nvSpPr>
        <p:spPr>
          <a:xfrm>
            <a:off x="6858000" y="2286000"/>
            <a:ext cx="17373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Chơi tiếp</a:t>
            </a:r>
            <a:endParaRPr lang="en-US" sz="1400" dirty="0"/>
          </a:p>
        </p:txBody>
      </p:sp>
      <p:sp>
        <p:nvSpPr>
          <p:cNvPr id="23" name="Text 20"/>
          <p:cNvSpPr txBox="1"/>
          <p:nvPr/>
        </p:nvSpPr>
        <p:spPr>
          <a:xfrm>
            <a:off x="6858000" y="2834640"/>
            <a:ext cx="1783080" cy="118872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Ở chế độ học của con, vị trí được tự lưu để tiếp tục hành trình lần sau.</a:t>
            </a:r>
            <a:endParaRPr lang="en-US" sz="1200" dirty="0"/>
          </a:p>
        </p:txBody>
      </p:sp>
      <p:sp>
        <p:nvSpPr>
          <p:cNvPr id="24" name="Shape 21"/>
          <p:cNvSpPr/>
          <p:nvPr/>
        </p:nvSpPr>
        <p:spPr>
          <a:xfrm>
            <a:off x="4846320" y="3977640"/>
            <a:ext cx="3749040" cy="640080"/>
          </a:xfrm>
          <a:prstGeom prst="roundRect">
            <a:avLst>
              <a:gd name="adj" fmla="val 14286"/>
            </a:avLst>
          </a:prstGeom>
          <a:solidFill>
            <a:srgbClr val="F5EBCF"/>
          </a:solidFill>
          <a:ln/>
        </p:spPr>
      </p:sp>
      <p:sp>
        <p:nvSpPr>
          <p:cNvPr id="25" name="Text 22"/>
          <p:cNvSpPr txBox="1"/>
          <p:nvPr/>
        </p:nvSpPr>
        <p:spPr>
          <a:xfrm>
            <a:off x="4983480" y="3977640"/>
            <a:ext cx="3520440" cy="640080"/>
          </a:xfrm>
          <a:prstGeom prst="rect">
            <a:avLst/>
          </a:prstGeom>
          <a:noFill/>
          <a:ln/>
        </p:spPr>
        <p:txBody>
          <a:bodyPr wrap="square" lIns="0" tIns="0" rIns="0" bIns="0" rtlCol="0" anchor="ctr"/>
          <a:lstStyle/>
          <a:p>
            <a:pPr indent="0" marL="0">
              <a:buNone/>
            </a:pPr>
            <a:r>
              <a:rPr lang="en-US" sz="1200" dirty="0">
                <a:solidFill>
                  <a:srgbClr val="1F2A3C"/>
                </a:solidFill>
                <a:latin typeface="Calibri" pitchFamily="34" charset="0"/>
                <a:ea typeface="Calibri" pitchFamily="34" charset="-122"/>
                <a:cs typeface="Calibri" pitchFamily="34" charset="-120"/>
              </a:rPr>
              <a:t>Màn chơi có thể phóng to theo bạn nhỏ trên điện thoại, nút lớn dễ chạm.</a:t>
            </a:r>
            <a:endParaRPr lang="en-US" sz="1200" dirty="0"/>
          </a:p>
        </p:txBody>
      </p:sp>
      <p:sp>
        <p:nvSpPr>
          <p:cNvPr id="26" name="Shape 23"/>
          <p:cNvSpPr/>
          <p:nvPr/>
        </p:nvSpPr>
        <p:spPr>
          <a:xfrm>
            <a:off x="2743200" y="4206240"/>
            <a:ext cx="1207008" cy="256032"/>
          </a:xfrm>
          <a:prstGeom prst="roundRect">
            <a:avLst>
              <a:gd name="adj" fmla="val 50000"/>
            </a:avLst>
          </a:prstGeom>
          <a:solidFill>
            <a:srgbClr val="FFFFFF"/>
          </a:solidFill>
          <a:ln w="15875">
            <a:solidFill>
              <a:srgbClr val="9A7416"/>
            </a:solidFill>
            <a:prstDash val="solid"/>
          </a:ln>
        </p:spPr>
      </p:sp>
      <p:sp>
        <p:nvSpPr>
          <p:cNvPr id="27" name="Text 24"/>
          <p:cNvSpPr txBox="1"/>
          <p:nvPr/>
        </p:nvSpPr>
        <p:spPr>
          <a:xfrm>
            <a:off x="2743200" y="4206240"/>
            <a:ext cx="1207008" cy="256032"/>
          </a:xfrm>
          <a:prstGeom prst="rect">
            <a:avLst/>
          </a:prstGeom>
          <a:noFill/>
          <a:ln/>
        </p:spPr>
        <p:txBody>
          <a:bodyPr wrap="square" lIns="0" tIns="0" rIns="0" bIns="0" rtlCol="0" anchor="ctr"/>
          <a:lstStyle/>
          <a:p>
            <a:pPr algn="ctr" indent="0" marL="0">
              <a:buNone/>
            </a:pPr>
            <a:r>
              <a:rPr lang="en-US" sz="1000" b="1" dirty="0">
                <a:solidFill>
                  <a:srgbClr val="9A7416"/>
                </a:solidFill>
                <a:latin typeface="Calibri" pitchFamily="34" charset="0"/>
                <a:ea typeface="Calibri" pitchFamily="34" charset="-122"/>
                <a:cs typeface="Calibri" pitchFamily="34" charset="-120"/>
              </a:rPr>
              <a:t>BẢN CHƠI THỬ</a:t>
            </a:r>
            <a:endParaRPr lang="en-US" sz="10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ĐANG HOÀN THIỆN</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Quái vật và thử thách Tiếng Việt</a:t>
            </a:r>
            <a:endParaRPr lang="en-US" sz="3000" dirty="0"/>
          </a:p>
        </p:txBody>
      </p:sp>
      <p:sp>
        <p:nvSpPr>
          <p:cNvPr id="4" name="Shape 2"/>
          <p:cNvSpPr/>
          <p:nvPr/>
        </p:nvSpPr>
        <p:spPr>
          <a:xfrm>
            <a:off x="640080" y="1280160"/>
            <a:ext cx="3291840" cy="3291840"/>
          </a:xfrm>
          <a:prstGeom prst="ellipse">
            <a:avLst/>
          </a:prstGeom>
          <a:solidFill>
            <a:srgbClr val="E9E2FA"/>
          </a:solidFill>
          <a:ln/>
        </p:spPr>
      </p:sp>
      <p:pic>
        <p:nvPicPr>
          <p:cNvPr id="5" name="Image 0" descr="Bạn quái vật thân thiện">    </p:cNvPr>
          <p:cNvPicPr>
            <a:picLocks noChangeAspect="1"/>
          </p:cNvPicPr>
          <p:nvPr/>
        </p:nvPicPr>
        <p:blipFill>
          <a:blip r:embed="rId1"/>
          <a:stretch>
            <a:fillRect/>
          </a:stretch>
        </p:blipFill>
        <p:spPr>
          <a:xfrm>
            <a:off x="731520" y="1371600"/>
            <a:ext cx="3108960" cy="3108960"/>
          </a:xfrm>
          <a:prstGeom prst="rect">
            <a:avLst/>
          </a:prstGeom>
        </p:spPr>
      </p:pic>
      <p:sp>
        <p:nvSpPr>
          <p:cNvPr id="6" name="Shape 3"/>
          <p:cNvSpPr/>
          <p:nvPr/>
        </p:nvSpPr>
        <p:spPr>
          <a:xfrm>
            <a:off x="4389120" y="1325880"/>
            <a:ext cx="1440180" cy="256032"/>
          </a:xfrm>
          <a:prstGeom prst="roundRect">
            <a:avLst>
              <a:gd name="adj" fmla="val 50000"/>
            </a:avLst>
          </a:prstGeom>
          <a:solidFill>
            <a:srgbClr val="FFFFFF"/>
          </a:solidFill>
          <a:ln w="15875">
            <a:solidFill>
              <a:srgbClr val="B8561F"/>
            </a:solidFill>
            <a:prstDash val="solid"/>
          </a:ln>
        </p:spPr>
      </p:sp>
      <p:sp>
        <p:nvSpPr>
          <p:cNvPr id="7" name="Text 4"/>
          <p:cNvSpPr txBox="1"/>
          <p:nvPr/>
        </p:nvSpPr>
        <p:spPr>
          <a:xfrm>
            <a:off x="4389120" y="1325880"/>
            <a:ext cx="1440180" cy="256032"/>
          </a:xfrm>
          <a:prstGeom prst="rect">
            <a:avLst/>
          </a:prstGeom>
          <a:noFill/>
          <a:ln/>
        </p:spPr>
        <p:txBody>
          <a:bodyPr wrap="square" lIns="0" tIns="0" rIns="0" bIns="0" rtlCol="0" anchor="ctr"/>
          <a:lstStyle/>
          <a:p>
            <a:pPr algn="ctr" indent="0" marL="0">
              <a:buNone/>
            </a:pPr>
            <a:r>
              <a:rPr lang="en-US" sz="1000" b="1" dirty="0">
                <a:solidFill>
                  <a:srgbClr val="B8561F"/>
                </a:solidFill>
                <a:latin typeface="Calibri" pitchFamily="34" charset="0"/>
                <a:ea typeface="Calibri" pitchFamily="34" charset="-122"/>
                <a:cs typeface="Calibri" pitchFamily="34" charset="-120"/>
              </a:rPr>
              <a:t>ĐANG HOÀN THIỆN</a:t>
            </a:r>
            <a:endParaRPr lang="en-US" sz="1000" dirty="0"/>
          </a:p>
        </p:txBody>
      </p:sp>
      <p:sp>
        <p:nvSpPr>
          <p:cNvPr id="8" name="Shape 5"/>
          <p:cNvSpPr/>
          <p:nvPr/>
        </p:nvSpPr>
        <p:spPr>
          <a:xfrm>
            <a:off x="4389120" y="1783080"/>
            <a:ext cx="1325880" cy="1234440"/>
          </a:xfrm>
          <a:prstGeom prst="roundRect">
            <a:avLst>
              <a:gd name="adj" fmla="val 8889"/>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9" name="Text 6"/>
          <p:cNvSpPr txBox="1"/>
          <p:nvPr/>
        </p:nvSpPr>
        <p:spPr>
          <a:xfrm>
            <a:off x="4389120" y="1828800"/>
            <a:ext cx="1325880" cy="594360"/>
          </a:xfrm>
          <a:prstGeom prst="rect">
            <a:avLst/>
          </a:prstGeom>
          <a:noFill/>
          <a:ln/>
        </p:spPr>
        <p:txBody>
          <a:bodyPr wrap="square" lIns="0" tIns="0" rIns="0" bIns="0" rtlCol="0" anchor="ctr"/>
          <a:lstStyle/>
          <a:p>
            <a:pPr algn="ctr" indent="0" marL="0">
              <a:buNone/>
            </a:pPr>
            <a:r>
              <a:rPr lang="en-US" sz="3400" b="1" dirty="0">
                <a:solidFill>
                  <a:srgbClr val="0E8A7D"/>
                </a:solidFill>
                <a:latin typeface="Cambria" pitchFamily="34" charset="0"/>
                <a:ea typeface="Cambria" pitchFamily="34" charset="-122"/>
                <a:cs typeface="Cambria" pitchFamily="34" charset="-120"/>
              </a:rPr>
              <a:t>7</a:t>
            </a:r>
            <a:endParaRPr lang="en-US" sz="3400" dirty="0"/>
          </a:p>
        </p:txBody>
      </p:sp>
      <p:sp>
        <p:nvSpPr>
          <p:cNvPr id="10" name="Text 7"/>
          <p:cNvSpPr txBox="1"/>
          <p:nvPr/>
        </p:nvSpPr>
        <p:spPr>
          <a:xfrm>
            <a:off x="4480560" y="2423160"/>
            <a:ext cx="1143000" cy="548640"/>
          </a:xfrm>
          <a:prstGeom prst="rect">
            <a:avLst/>
          </a:prstGeom>
          <a:noFill/>
          <a:ln/>
        </p:spPr>
        <p:txBody>
          <a:bodyPr wrap="square" lIns="0" tIns="0" rIns="0" bIns="0" rtlCol="0" anchor="t"/>
          <a:lstStyle/>
          <a:p>
            <a:pPr algn="ctr" indent="0" marL="0">
              <a:buNone/>
            </a:pPr>
            <a:r>
              <a:rPr lang="en-US" sz="1100" dirty="0">
                <a:solidFill>
                  <a:srgbClr val="566175"/>
                </a:solidFill>
                <a:latin typeface="Calibri" pitchFamily="34" charset="0"/>
                <a:ea typeface="Calibri" pitchFamily="34" charset="-122"/>
                <a:cs typeface="Calibri" pitchFamily="34" charset="-120"/>
              </a:rPr>
              <a:t>bạn quái vật thân thiện mỗi màn</a:t>
            </a:r>
            <a:endParaRPr lang="en-US" sz="1100" dirty="0"/>
          </a:p>
        </p:txBody>
      </p:sp>
      <p:sp>
        <p:nvSpPr>
          <p:cNvPr id="11" name="Shape 8"/>
          <p:cNvSpPr/>
          <p:nvPr/>
        </p:nvSpPr>
        <p:spPr>
          <a:xfrm>
            <a:off x="5852160" y="1783080"/>
            <a:ext cx="1325880" cy="1234440"/>
          </a:xfrm>
          <a:prstGeom prst="roundRect">
            <a:avLst>
              <a:gd name="adj" fmla="val 8889"/>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2" name="Text 9"/>
          <p:cNvSpPr txBox="1"/>
          <p:nvPr/>
        </p:nvSpPr>
        <p:spPr>
          <a:xfrm>
            <a:off x="5852160" y="1828800"/>
            <a:ext cx="1325880" cy="594360"/>
          </a:xfrm>
          <a:prstGeom prst="rect">
            <a:avLst/>
          </a:prstGeom>
          <a:noFill/>
          <a:ln/>
        </p:spPr>
        <p:txBody>
          <a:bodyPr wrap="square" lIns="0" tIns="0" rIns="0" bIns="0" rtlCol="0" anchor="ctr"/>
          <a:lstStyle/>
          <a:p>
            <a:pPr algn="ctr" indent="0" marL="0">
              <a:buNone/>
            </a:pPr>
            <a:r>
              <a:rPr lang="en-US" sz="3400" b="1" dirty="0">
                <a:solidFill>
                  <a:srgbClr val="0E8A7D"/>
                </a:solidFill>
                <a:latin typeface="Cambria" pitchFamily="34" charset="0"/>
                <a:ea typeface="Cambria" pitchFamily="34" charset="-122"/>
                <a:cs typeface="Cambria" pitchFamily="34" charset="-120"/>
              </a:rPr>
              <a:t>3</a:t>
            </a:r>
            <a:endParaRPr lang="en-US" sz="3400" dirty="0"/>
          </a:p>
        </p:txBody>
      </p:sp>
      <p:sp>
        <p:nvSpPr>
          <p:cNvPr id="13" name="Text 10"/>
          <p:cNvSpPr txBox="1"/>
          <p:nvPr/>
        </p:nvSpPr>
        <p:spPr>
          <a:xfrm>
            <a:off x="5943600" y="2423160"/>
            <a:ext cx="1143000" cy="548640"/>
          </a:xfrm>
          <a:prstGeom prst="rect">
            <a:avLst/>
          </a:prstGeom>
          <a:noFill/>
          <a:ln/>
        </p:spPr>
        <p:txBody>
          <a:bodyPr wrap="square" lIns="0" tIns="0" rIns="0" bIns="0" rtlCol="0" anchor="t"/>
          <a:lstStyle/>
          <a:p>
            <a:pPr algn="ctr" indent="0" marL="0">
              <a:buNone/>
            </a:pPr>
            <a:r>
              <a:rPr lang="en-US" sz="1100" dirty="0">
                <a:solidFill>
                  <a:srgbClr val="566175"/>
                </a:solidFill>
                <a:latin typeface="Calibri" pitchFamily="34" charset="0"/>
                <a:ea typeface="Calibri" pitchFamily="34" charset="-122"/>
                <a:cs typeface="Calibri" pitchFamily="34" charset="-120"/>
              </a:rPr>
              <a:t>câu hỏi Tiếng Việt cho mỗi bạn</a:t>
            </a:r>
            <a:endParaRPr lang="en-US" sz="1100" dirty="0"/>
          </a:p>
        </p:txBody>
      </p:sp>
      <p:sp>
        <p:nvSpPr>
          <p:cNvPr id="14" name="Shape 11"/>
          <p:cNvSpPr/>
          <p:nvPr/>
        </p:nvSpPr>
        <p:spPr>
          <a:xfrm>
            <a:off x="7315200" y="1783080"/>
            <a:ext cx="1325880" cy="1234440"/>
          </a:xfrm>
          <a:prstGeom prst="roundRect">
            <a:avLst>
              <a:gd name="adj" fmla="val 8889"/>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5" name="Text 12"/>
          <p:cNvSpPr txBox="1"/>
          <p:nvPr/>
        </p:nvSpPr>
        <p:spPr>
          <a:xfrm>
            <a:off x="7315200" y="1828800"/>
            <a:ext cx="1325880" cy="594360"/>
          </a:xfrm>
          <a:prstGeom prst="rect">
            <a:avLst/>
          </a:prstGeom>
          <a:noFill/>
          <a:ln/>
        </p:spPr>
        <p:txBody>
          <a:bodyPr wrap="square" lIns="0" tIns="0" rIns="0" bIns="0" rtlCol="0" anchor="ctr"/>
          <a:lstStyle/>
          <a:p>
            <a:pPr algn="ctr" indent="0" marL="0">
              <a:buNone/>
            </a:pPr>
            <a:r>
              <a:rPr lang="en-US" sz="3400" b="1" dirty="0">
                <a:solidFill>
                  <a:srgbClr val="C9A24A"/>
                </a:solidFill>
                <a:latin typeface="Cambria" pitchFamily="34" charset="0"/>
                <a:ea typeface="Cambria" pitchFamily="34" charset="-122"/>
                <a:cs typeface="Cambria" pitchFamily="34" charset="-120"/>
              </a:rPr>
              <a:t>21</a:t>
            </a:r>
            <a:endParaRPr lang="en-US" sz="3400" dirty="0"/>
          </a:p>
        </p:txBody>
      </p:sp>
      <p:sp>
        <p:nvSpPr>
          <p:cNvPr id="16" name="Text 13"/>
          <p:cNvSpPr txBox="1"/>
          <p:nvPr/>
        </p:nvSpPr>
        <p:spPr>
          <a:xfrm>
            <a:off x="7406640" y="2423160"/>
            <a:ext cx="1143000" cy="548640"/>
          </a:xfrm>
          <a:prstGeom prst="rect">
            <a:avLst/>
          </a:prstGeom>
          <a:noFill/>
          <a:ln/>
        </p:spPr>
        <p:txBody>
          <a:bodyPr wrap="square" lIns="0" tIns="0" rIns="0" bIns="0" rtlCol="0" anchor="t"/>
          <a:lstStyle/>
          <a:p>
            <a:pPr algn="ctr" indent="0" marL="0">
              <a:buNone/>
            </a:pPr>
            <a:r>
              <a:rPr lang="en-US" sz="1100" dirty="0">
                <a:solidFill>
                  <a:srgbClr val="566175"/>
                </a:solidFill>
                <a:latin typeface="Calibri" pitchFamily="34" charset="0"/>
                <a:ea typeface="Calibri" pitchFamily="34" charset="-122"/>
                <a:cs typeface="Calibri" pitchFamily="34" charset="-120"/>
              </a:rPr>
              <a:t>câu hỏi trong một màn chơi</a:t>
            </a:r>
            <a:endParaRPr lang="en-US" sz="1100" dirty="0"/>
          </a:p>
        </p:txBody>
      </p:sp>
      <p:sp>
        <p:nvSpPr>
          <p:cNvPr id="17" name="Text 14"/>
          <p:cNvSpPr txBox="1"/>
          <p:nvPr/>
        </p:nvSpPr>
        <p:spPr>
          <a:xfrm>
            <a:off x="4389120" y="3200400"/>
            <a:ext cx="4297680" cy="146304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rgbClr val="1F2A3C"/>
                </a:solidFill>
                <a:latin typeface="Calibri" pitchFamily="34" charset="0"/>
                <a:ea typeface="Calibri" pitchFamily="34" charset="-122"/>
                <a:cs typeface="Calibri" pitchFamily="34" charset="-120"/>
              </a:rPr>
              <a:t>Học sinh trả lời để vượt qua thử thách của từng bạn.</a:t>
            </a:r>
            <a:endParaRPr lang="en-US" sz="1300" dirty="0"/>
          </a:p>
          <a:p>
            <a:pPr marL="203200" indent="-203200">
              <a:spcAft>
                <a:spcPts val="500"/>
              </a:spcAft>
              <a:buSzPct val="100000"/>
              <a:buChar char="•"/>
            </a:pPr>
            <a:r>
              <a:rPr lang="en-US" sz="1300" dirty="0">
                <a:solidFill>
                  <a:srgbClr val="1F2A3C"/>
                </a:solidFill>
                <a:latin typeface="Calibri" pitchFamily="34" charset="0"/>
                <a:ea typeface="Calibri" pitchFamily="34" charset="-122"/>
                <a:cs typeface="Calibri" pitchFamily="34" charset="-120"/>
              </a:rPr>
              <a:t>Sau các cuộc gặp gỡ, học sinh mở được rương kho báu.</a:t>
            </a:r>
            <a:endParaRPr lang="en-US" sz="1300" dirty="0"/>
          </a:p>
          <a:p>
            <a:pPr marL="203200" indent="-203200">
              <a:spcAft>
                <a:spcPts val="500"/>
              </a:spcAft>
              <a:buSzPct val="100000"/>
              <a:buChar char="•"/>
            </a:pPr>
            <a:r>
              <a:rPr lang="en-US" sz="1300" dirty="0">
                <a:solidFill>
                  <a:srgbClr val="1F2A3C"/>
                </a:solidFill>
                <a:latin typeface="Calibri" pitchFamily="34" charset="0"/>
                <a:ea typeface="Calibri" pitchFamily="34" charset="-122"/>
                <a:cs typeface="Calibri" pitchFamily="34" charset="-120"/>
              </a:rPr>
              <a:t>Đã chuẩn bị sẵn 7 chạm trán và 21 câu hỏi mỗi màn.</a:t>
            </a:r>
            <a:endParaRPr lang="en-US" sz="1300" dirty="0"/>
          </a:p>
        </p:txBody>
      </p:sp>
      <p:sp>
        <p:nvSpPr>
          <p:cNvPr id="18" name="Shape 15"/>
          <p:cNvSpPr/>
          <p:nvPr/>
        </p:nvSpPr>
        <p:spPr>
          <a:xfrm>
            <a:off x="4389120" y="4114800"/>
            <a:ext cx="4297680" cy="457200"/>
          </a:xfrm>
          <a:prstGeom prst="roundRect">
            <a:avLst>
              <a:gd name="adj" fmla="val 20000"/>
            </a:avLst>
          </a:prstGeom>
          <a:solidFill>
            <a:srgbClr val="FBE9DD"/>
          </a:solidFill>
          <a:ln/>
        </p:spPr>
      </p:sp>
      <p:sp>
        <p:nvSpPr>
          <p:cNvPr id="19" name="Text 16"/>
          <p:cNvSpPr txBox="1"/>
          <p:nvPr/>
        </p:nvSpPr>
        <p:spPr>
          <a:xfrm>
            <a:off x="4480560" y="4114800"/>
            <a:ext cx="4114800" cy="457200"/>
          </a:xfrm>
          <a:prstGeom prst="rect">
            <a:avLst/>
          </a:prstGeom>
          <a:noFill/>
          <a:ln/>
        </p:spPr>
        <p:txBody>
          <a:bodyPr wrap="square" lIns="0" tIns="0" rIns="0" bIns="0" rtlCol="0" anchor="ctr"/>
          <a:lstStyle/>
          <a:p>
            <a:pPr indent="0" marL="0">
              <a:buNone/>
            </a:pPr>
            <a:r>
              <a:rPr lang="en-US" sz="1200" b="1" dirty="0">
                <a:solidFill>
                  <a:srgbClr val="B8561F"/>
                </a:solidFill>
                <a:latin typeface="Calibri" pitchFamily="34" charset="0"/>
                <a:ea typeface="Calibri" pitchFamily="34" charset="-122"/>
                <a:cs typeface="Calibri" pitchFamily="34" charset="-120"/>
              </a:rPr>
              <a:t>Đang hoàn thiện phần tương tác và chấm điểm trong trò chơi.</a:t>
            </a:r>
            <a:endParaRPr lang="en-US" sz="12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GIÁO VIÊN</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Giáo viên đồng hành ra sao?</a:t>
            </a:r>
            <a:endParaRPr lang="en-US" sz="3000" dirty="0"/>
          </a:p>
        </p:txBody>
      </p:sp>
      <p:sp>
        <p:nvSpPr>
          <p:cNvPr id="4" name="Shape 2"/>
          <p:cNvSpPr/>
          <p:nvPr/>
        </p:nvSpPr>
        <p:spPr>
          <a:xfrm>
            <a:off x="548640" y="1280160"/>
            <a:ext cx="3840480" cy="2926080"/>
          </a:xfrm>
          <a:prstGeom prst="roundRect">
            <a:avLst>
              <a:gd name="adj" fmla="val 3750"/>
            </a:avLst>
          </a:prstGeom>
          <a:solidFill>
            <a:srgbClr val="FFFFFF"/>
          </a:solidFill>
          <a:ln w="12700">
            <a:solidFill>
              <a:srgbClr val="D9CDB2"/>
            </a:solidFill>
            <a:prstDash val="solid"/>
          </a:ln>
          <a:effectLst>
            <a:outerShdw sx="100000" sy="100000" kx="0" ky="0" algn="bl" rotWithShape="0" blurRad="101600" dist="25400" dir="5400000">
              <a:srgbClr val="1F2A3C">
                <a:alpha val="14000"/>
              </a:srgbClr>
            </a:outerShdw>
          </a:effectLst>
        </p:spPr>
      </p:sp>
      <p:sp>
        <p:nvSpPr>
          <p:cNvPr id="5" name="Shape 3"/>
          <p:cNvSpPr/>
          <p:nvPr/>
        </p:nvSpPr>
        <p:spPr>
          <a:xfrm>
            <a:off x="640080" y="1371600"/>
            <a:ext cx="914400" cy="2743200"/>
          </a:xfrm>
          <a:prstGeom prst="rect">
            <a:avLst/>
          </a:prstGeom>
          <a:solidFill>
            <a:srgbClr val="0F2447"/>
          </a:solidFill>
          <a:ln/>
        </p:spPr>
      </p:sp>
      <p:sp>
        <p:nvSpPr>
          <p:cNvPr id="6" name="Text 4"/>
          <p:cNvSpPr txBox="1"/>
          <p:nvPr/>
        </p:nvSpPr>
        <p:spPr>
          <a:xfrm>
            <a:off x="713232" y="1508760"/>
            <a:ext cx="82296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Lớp học</a:t>
            </a:r>
            <a:endParaRPr lang="en-US" sz="1000" dirty="0"/>
          </a:p>
        </p:txBody>
      </p:sp>
      <p:sp>
        <p:nvSpPr>
          <p:cNvPr id="7" name="Text 5"/>
          <p:cNvSpPr txBox="1"/>
          <p:nvPr/>
        </p:nvSpPr>
        <p:spPr>
          <a:xfrm>
            <a:off x="713232" y="1965960"/>
            <a:ext cx="82296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Học sinh</a:t>
            </a:r>
            <a:endParaRPr lang="en-US" sz="1000" dirty="0"/>
          </a:p>
        </p:txBody>
      </p:sp>
      <p:sp>
        <p:nvSpPr>
          <p:cNvPr id="8" name="Text 6"/>
          <p:cNvSpPr txBox="1"/>
          <p:nvPr/>
        </p:nvSpPr>
        <p:spPr>
          <a:xfrm>
            <a:off x="713232" y="2423160"/>
            <a:ext cx="82296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Học liệu</a:t>
            </a:r>
            <a:endParaRPr lang="en-US" sz="1000" dirty="0"/>
          </a:p>
        </p:txBody>
      </p:sp>
      <p:sp>
        <p:nvSpPr>
          <p:cNvPr id="9" name="Text 7"/>
          <p:cNvSpPr txBox="1"/>
          <p:nvPr/>
        </p:nvSpPr>
        <p:spPr>
          <a:xfrm>
            <a:off x="713232" y="2880360"/>
            <a:ext cx="82296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Mùa thi đua</a:t>
            </a:r>
            <a:endParaRPr lang="en-US" sz="1000" dirty="0"/>
          </a:p>
        </p:txBody>
      </p:sp>
      <p:sp>
        <p:nvSpPr>
          <p:cNvPr id="10" name="Text 8"/>
          <p:cNvSpPr txBox="1"/>
          <p:nvPr/>
        </p:nvSpPr>
        <p:spPr>
          <a:xfrm>
            <a:off x="1737360" y="1417320"/>
            <a:ext cx="2560320" cy="274320"/>
          </a:xfrm>
          <a:prstGeom prst="rect">
            <a:avLst/>
          </a:prstGeom>
          <a:noFill/>
          <a:ln/>
        </p:spPr>
        <p:txBody>
          <a:bodyPr wrap="square" lIns="0" tIns="0" rIns="0" bIns="0" rtlCol="0" anchor="ctr"/>
          <a:lstStyle/>
          <a:p>
            <a:pPr indent="0" marL="0">
              <a:buNone/>
            </a:pPr>
            <a:r>
              <a:rPr lang="en-US" sz="1300" b="1" dirty="0">
                <a:solidFill>
                  <a:srgbClr val="0F2447"/>
                </a:solidFill>
                <a:latin typeface="Cambria" pitchFamily="34" charset="0"/>
                <a:ea typeface="Cambria" pitchFamily="34" charset="-122"/>
                <a:cs typeface="Cambria" pitchFamily="34" charset="-120"/>
              </a:rPr>
              <a:t>Lớp 1A2 (minh họa)</a:t>
            </a:r>
            <a:endParaRPr lang="en-US" sz="1300" dirty="0"/>
          </a:p>
        </p:txBody>
      </p:sp>
      <p:sp>
        <p:nvSpPr>
          <p:cNvPr id="11" name="Shape 9"/>
          <p:cNvSpPr/>
          <p:nvPr/>
        </p:nvSpPr>
        <p:spPr>
          <a:xfrm>
            <a:off x="1737360" y="1828800"/>
            <a:ext cx="2560320" cy="365760"/>
          </a:xfrm>
          <a:prstGeom prst="roundRect">
            <a:avLst>
              <a:gd name="adj" fmla="val 15000"/>
            </a:avLst>
          </a:prstGeom>
          <a:solidFill>
            <a:srgbClr val="DDF1EE"/>
          </a:solidFill>
          <a:ln/>
        </p:spPr>
      </p:sp>
      <p:sp>
        <p:nvSpPr>
          <p:cNvPr id="12" name="Shape 10"/>
          <p:cNvSpPr/>
          <p:nvPr/>
        </p:nvSpPr>
        <p:spPr>
          <a:xfrm>
            <a:off x="1810512" y="1892808"/>
            <a:ext cx="237744" cy="237744"/>
          </a:xfrm>
          <a:prstGeom prst="ellipse">
            <a:avLst/>
          </a:prstGeom>
          <a:solidFill>
            <a:srgbClr val="C9A24A"/>
          </a:solidFill>
          <a:ln/>
        </p:spPr>
      </p:sp>
      <p:sp>
        <p:nvSpPr>
          <p:cNvPr id="13" name="Shape 11"/>
          <p:cNvSpPr/>
          <p:nvPr/>
        </p:nvSpPr>
        <p:spPr>
          <a:xfrm>
            <a:off x="2148840" y="1965960"/>
            <a:ext cx="822960" cy="91440"/>
          </a:xfrm>
          <a:prstGeom prst="rect">
            <a:avLst/>
          </a:prstGeom>
          <a:solidFill>
            <a:srgbClr val="9AA5B8"/>
          </a:solidFill>
          <a:ln/>
        </p:spPr>
      </p:sp>
      <p:sp>
        <p:nvSpPr>
          <p:cNvPr id="14" name="Shape 12"/>
          <p:cNvSpPr/>
          <p:nvPr/>
        </p:nvSpPr>
        <p:spPr>
          <a:xfrm>
            <a:off x="3566160" y="1965960"/>
            <a:ext cx="548640" cy="91440"/>
          </a:xfrm>
          <a:prstGeom prst="rect">
            <a:avLst/>
          </a:prstGeom>
          <a:solidFill>
            <a:srgbClr val="0E8A7D"/>
          </a:solidFill>
          <a:ln/>
        </p:spPr>
      </p:sp>
      <p:sp>
        <p:nvSpPr>
          <p:cNvPr id="15" name="Shape 13"/>
          <p:cNvSpPr/>
          <p:nvPr/>
        </p:nvSpPr>
        <p:spPr>
          <a:xfrm>
            <a:off x="1737360" y="2286000"/>
            <a:ext cx="2560320" cy="365760"/>
          </a:xfrm>
          <a:prstGeom prst="roundRect">
            <a:avLst>
              <a:gd name="adj" fmla="val 15000"/>
            </a:avLst>
          </a:prstGeom>
          <a:solidFill>
            <a:srgbClr val="F4F0E6"/>
          </a:solidFill>
          <a:ln/>
        </p:spPr>
      </p:sp>
      <p:sp>
        <p:nvSpPr>
          <p:cNvPr id="16" name="Shape 14"/>
          <p:cNvSpPr/>
          <p:nvPr/>
        </p:nvSpPr>
        <p:spPr>
          <a:xfrm>
            <a:off x="1810512" y="2350008"/>
            <a:ext cx="237744" cy="237744"/>
          </a:xfrm>
          <a:prstGeom prst="ellipse">
            <a:avLst/>
          </a:prstGeom>
          <a:solidFill>
            <a:srgbClr val="C9A24A"/>
          </a:solidFill>
          <a:ln/>
        </p:spPr>
      </p:sp>
      <p:sp>
        <p:nvSpPr>
          <p:cNvPr id="17" name="Shape 15"/>
          <p:cNvSpPr/>
          <p:nvPr/>
        </p:nvSpPr>
        <p:spPr>
          <a:xfrm>
            <a:off x="2148840" y="2423160"/>
            <a:ext cx="1005840" cy="91440"/>
          </a:xfrm>
          <a:prstGeom prst="rect">
            <a:avLst/>
          </a:prstGeom>
          <a:solidFill>
            <a:srgbClr val="9AA5B8"/>
          </a:solidFill>
          <a:ln/>
        </p:spPr>
      </p:sp>
      <p:sp>
        <p:nvSpPr>
          <p:cNvPr id="18" name="Shape 16"/>
          <p:cNvSpPr/>
          <p:nvPr/>
        </p:nvSpPr>
        <p:spPr>
          <a:xfrm>
            <a:off x="3566160" y="2423160"/>
            <a:ext cx="548640" cy="91440"/>
          </a:xfrm>
          <a:prstGeom prst="rect">
            <a:avLst/>
          </a:prstGeom>
          <a:solidFill>
            <a:srgbClr val="0E8A7D"/>
          </a:solidFill>
          <a:ln/>
        </p:spPr>
      </p:sp>
      <p:sp>
        <p:nvSpPr>
          <p:cNvPr id="19" name="Shape 17"/>
          <p:cNvSpPr/>
          <p:nvPr/>
        </p:nvSpPr>
        <p:spPr>
          <a:xfrm>
            <a:off x="1737360" y="2743200"/>
            <a:ext cx="2560320" cy="365760"/>
          </a:xfrm>
          <a:prstGeom prst="roundRect">
            <a:avLst>
              <a:gd name="adj" fmla="val 15000"/>
            </a:avLst>
          </a:prstGeom>
          <a:solidFill>
            <a:srgbClr val="DDF1EE"/>
          </a:solidFill>
          <a:ln/>
        </p:spPr>
      </p:sp>
      <p:sp>
        <p:nvSpPr>
          <p:cNvPr id="20" name="Shape 18"/>
          <p:cNvSpPr/>
          <p:nvPr/>
        </p:nvSpPr>
        <p:spPr>
          <a:xfrm>
            <a:off x="1810512" y="2807208"/>
            <a:ext cx="237744" cy="237744"/>
          </a:xfrm>
          <a:prstGeom prst="ellipse">
            <a:avLst/>
          </a:prstGeom>
          <a:solidFill>
            <a:srgbClr val="C9A24A"/>
          </a:solidFill>
          <a:ln/>
        </p:spPr>
      </p:sp>
      <p:sp>
        <p:nvSpPr>
          <p:cNvPr id="21" name="Shape 19"/>
          <p:cNvSpPr/>
          <p:nvPr/>
        </p:nvSpPr>
        <p:spPr>
          <a:xfrm>
            <a:off x="2148840" y="2880360"/>
            <a:ext cx="1188720" cy="91440"/>
          </a:xfrm>
          <a:prstGeom prst="rect">
            <a:avLst/>
          </a:prstGeom>
          <a:solidFill>
            <a:srgbClr val="9AA5B8"/>
          </a:solidFill>
          <a:ln/>
        </p:spPr>
      </p:sp>
      <p:sp>
        <p:nvSpPr>
          <p:cNvPr id="22" name="Shape 20"/>
          <p:cNvSpPr/>
          <p:nvPr/>
        </p:nvSpPr>
        <p:spPr>
          <a:xfrm>
            <a:off x="3566160" y="2880360"/>
            <a:ext cx="548640" cy="91440"/>
          </a:xfrm>
          <a:prstGeom prst="rect">
            <a:avLst/>
          </a:prstGeom>
          <a:solidFill>
            <a:srgbClr val="0E8A7D"/>
          </a:solidFill>
          <a:ln/>
        </p:spPr>
      </p:sp>
      <p:sp>
        <p:nvSpPr>
          <p:cNvPr id="23" name="Shape 21"/>
          <p:cNvSpPr/>
          <p:nvPr/>
        </p:nvSpPr>
        <p:spPr>
          <a:xfrm>
            <a:off x="1737360" y="3200400"/>
            <a:ext cx="2560320" cy="365760"/>
          </a:xfrm>
          <a:prstGeom prst="roundRect">
            <a:avLst>
              <a:gd name="adj" fmla="val 15000"/>
            </a:avLst>
          </a:prstGeom>
          <a:solidFill>
            <a:srgbClr val="F4F0E6"/>
          </a:solidFill>
          <a:ln/>
        </p:spPr>
      </p:sp>
      <p:sp>
        <p:nvSpPr>
          <p:cNvPr id="24" name="Shape 22"/>
          <p:cNvSpPr/>
          <p:nvPr/>
        </p:nvSpPr>
        <p:spPr>
          <a:xfrm>
            <a:off x="1810512" y="3264408"/>
            <a:ext cx="237744" cy="237744"/>
          </a:xfrm>
          <a:prstGeom prst="ellipse">
            <a:avLst/>
          </a:prstGeom>
          <a:solidFill>
            <a:srgbClr val="C9A24A"/>
          </a:solidFill>
          <a:ln/>
        </p:spPr>
      </p:sp>
      <p:sp>
        <p:nvSpPr>
          <p:cNvPr id="25" name="Shape 23"/>
          <p:cNvSpPr/>
          <p:nvPr/>
        </p:nvSpPr>
        <p:spPr>
          <a:xfrm>
            <a:off x="2148840" y="3337560"/>
            <a:ext cx="822960" cy="91440"/>
          </a:xfrm>
          <a:prstGeom prst="rect">
            <a:avLst/>
          </a:prstGeom>
          <a:solidFill>
            <a:srgbClr val="9AA5B8"/>
          </a:solidFill>
          <a:ln/>
        </p:spPr>
      </p:sp>
      <p:sp>
        <p:nvSpPr>
          <p:cNvPr id="26" name="Shape 24"/>
          <p:cNvSpPr/>
          <p:nvPr/>
        </p:nvSpPr>
        <p:spPr>
          <a:xfrm>
            <a:off x="3566160" y="3337560"/>
            <a:ext cx="548640" cy="91440"/>
          </a:xfrm>
          <a:prstGeom prst="rect">
            <a:avLst/>
          </a:prstGeom>
          <a:solidFill>
            <a:srgbClr val="0E8A7D"/>
          </a:solidFill>
          <a:ln/>
        </p:spPr>
      </p:sp>
      <p:sp>
        <p:nvSpPr>
          <p:cNvPr id="27" name="Shape 25"/>
          <p:cNvSpPr/>
          <p:nvPr/>
        </p:nvSpPr>
        <p:spPr>
          <a:xfrm>
            <a:off x="1737360" y="3657600"/>
            <a:ext cx="2560320" cy="365760"/>
          </a:xfrm>
          <a:prstGeom prst="roundRect">
            <a:avLst>
              <a:gd name="adj" fmla="val 15000"/>
            </a:avLst>
          </a:prstGeom>
          <a:solidFill>
            <a:srgbClr val="DDF1EE"/>
          </a:solidFill>
          <a:ln/>
        </p:spPr>
      </p:sp>
      <p:sp>
        <p:nvSpPr>
          <p:cNvPr id="28" name="Shape 26"/>
          <p:cNvSpPr/>
          <p:nvPr/>
        </p:nvSpPr>
        <p:spPr>
          <a:xfrm>
            <a:off x="1810512" y="3721608"/>
            <a:ext cx="237744" cy="237744"/>
          </a:xfrm>
          <a:prstGeom prst="ellipse">
            <a:avLst/>
          </a:prstGeom>
          <a:solidFill>
            <a:srgbClr val="C9A24A"/>
          </a:solidFill>
          <a:ln/>
        </p:spPr>
      </p:sp>
      <p:sp>
        <p:nvSpPr>
          <p:cNvPr id="29" name="Shape 27"/>
          <p:cNvSpPr/>
          <p:nvPr/>
        </p:nvSpPr>
        <p:spPr>
          <a:xfrm>
            <a:off x="2148840" y="3794760"/>
            <a:ext cx="1005840" cy="91440"/>
          </a:xfrm>
          <a:prstGeom prst="rect">
            <a:avLst/>
          </a:prstGeom>
          <a:solidFill>
            <a:srgbClr val="9AA5B8"/>
          </a:solidFill>
          <a:ln/>
        </p:spPr>
      </p:sp>
      <p:sp>
        <p:nvSpPr>
          <p:cNvPr id="30" name="Shape 28"/>
          <p:cNvSpPr/>
          <p:nvPr/>
        </p:nvSpPr>
        <p:spPr>
          <a:xfrm>
            <a:off x="3566160" y="3794760"/>
            <a:ext cx="548640" cy="91440"/>
          </a:xfrm>
          <a:prstGeom prst="rect">
            <a:avLst/>
          </a:prstGeom>
          <a:solidFill>
            <a:srgbClr val="0E8A7D"/>
          </a:solidFill>
          <a:ln/>
        </p:spPr>
      </p:sp>
      <p:sp>
        <p:nvSpPr>
          <p:cNvPr id="31" name="Shape 29"/>
          <p:cNvSpPr/>
          <p:nvPr/>
        </p:nvSpPr>
        <p:spPr>
          <a:xfrm>
            <a:off x="548640" y="4297680"/>
            <a:ext cx="1906524" cy="256032"/>
          </a:xfrm>
          <a:prstGeom prst="roundRect">
            <a:avLst>
              <a:gd name="adj" fmla="val 50000"/>
            </a:avLst>
          </a:prstGeom>
          <a:solidFill>
            <a:srgbClr val="FFFFFF"/>
          </a:solidFill>
          <a:ln w="15875">
            <a:solidFill>
              <a:srgbClr val="5B6678"/>
            </a:solidFill>
            <a:prstDash val="solid"/>
          </a:ln>
        </p:spPr>
      </p:sp>
      <p:sp>
        <p:nvSpPr>
          <p:cNvPr id="32" name="Text 30"/>
          <p:cNvSpPr txBox="1"/>
          <p:nvPr/>
        </p:nvSpPr>
        <p:spPr>
          <a:xfrm>
            <a:off x="548640" y="4297680"/>
            <a:ext cx="1906524" cy="256032"/>
          </a:xfrm>
          <a:prstGeom prst="rect">
            <a:avLst/>
          </a:prstGeom>
          <a:noFill/>
          <a:ln/>
        </p:spPr>
        <p:txBody>
          <a:bodyPr wrap="square" lIns="0" tIns="0" rIns="0" bIns="0" rtlCol="0" anchor="ctr"/>
          <a:lstStyle/>
          <a:p>
            <a:pPr algn="ctr" indent="0" marL="0">
              <a:buNone/>
            </a:pPr>
            <a:r>
              <a:rPr lang="en-US" sz="1000" b="1" dirty="0">
                <a:solidFill>
                  <a:srgbClr val="5B6678"/>
                </a:solidFill>
                <a:latin typeface="Calibri" pitchFamily="34" charset="0"/>
                <a:ea typeface="Calibri" pitchFamily="34" charset="-122"/>
                <a:cs typeface="Calibri" pitchFamily="34" charset="-120"/>
              </a:rPr>
              <a:t>HÌNH MINH HỌA Ý TƯỞNG</a:t>
            </a:r>
            <a:endParaRPr lang="en-US" sz="1000" dirty="0"/>
          </a:p>
        </p:txBody>
      </p:sp>
      <p:sp>
        <p:nvSpPr>
          <p:cNvPr id="33" name="Shape 31"/>
          <p:cNvSpPr/>
          <p:nvPr/>
        </p:nvSpPr>
        <p:spPr>
          <a:xfrm>
            <a:off x="4663440" y="1325880"/>
            <a:ext cx="4023360" cy="658368"/>
          </a:xfrm>
          <a:prstGeom prst="roundRect">
            <a:avLst>
              <a:gd name="adj" fmla="val 16667"/>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34" name="Text 32"/>
          <p:cNvSpPr txBox="1"/>
          <p:nvPr/>
        </p:nvSpPr>
        <p:spPr>
          <a:xfrm>
            <a:off x="4800600" y="1362456"/>
            <a:ext cx="3749040" cy="274320"/>
          </a:xfrm>
          <a:prstGeom prst="rect">
            <a:avLst/>
          </a:prstGeom>
          <a:noFill/>
          <a:ln/>
        </p:spPr>
        <p:txBody>
          <a:bodyPr wrap="square" lIns="0" tIns="0" rIns="0" bIns="0" rtlCol="0" anchor="ctr"/>
          <a:lstStyle/>
          <a:p>
            <a:pPr indent="0" marL="0">
              <a:buNone/>
            </a:pPr>
            <a:r>
              <a:rPr lang="en-US" sz="1300" b="1" dirty="0">
                <a:solidFill>
                  <a:srgbClr val="0F2447"/>
                </a:solidFill>
                <a:latin typeface="Cambria" pitchFamily="34" charset="0"/>
                <a:ea typeface="Cambria" pitchFamily="34" charset="-122"/>
                <a:cs typeface="Cambria" pitchFamily="34" charset="-120"/>
              </a:rPr>
              <a:t>Quản lý lớp học và hồ sơ học sinh</a:t>
            </a:r>
            <a:endParaRPr lang="en-US" sz="1300" dirty="0"/>
          </a:p>
        </p:txBody>
      </p:sp>
      <p:sp>
        <p:nvSpPr>
          <p:cNvPr id="35" name="Shape 33"/>
          <p:cNvSpPr/>
          <p:nvPr/>
        </p:nvSpPr>
        <p:spPr>
          <a:xfrm>
            <a:off x="4800600" y="1673352"/>
            <a:ext cx="662940" cy="256032"/>
          </a:xfrm>
          <a:prstGeom prst="roundRect">
            <a:avLst>
              <a:gd name="adj" fmla="val 50000"/>
            </a:avLst>
          </a:prstGeom>
          <a:solidFill>
            <a:srgbClr val="FFFFFF"/>
          </a:solidFill>
          <a:ln w="15875">
            <a:solidFill>
              <a:srgbClr val="0E8A7D"/>
            </a:solidFill>
            <a:prstDash val="solid"/>
          </a:ln>
        </p:spPr>
      </p:sp>
      <p:sp>
        <p:nvSpPr>
          <p:cNvPr id="36" name="Text 34"/>
          <p:cNvSpPr txBox="1"/>
          <p:nvPr/>
        </p:nvSpPr>
        <p:spPr>
          <a:xfrm>
            <a:off x="4800600" y="1673352"/>
            <a:ext cx="662940" cy="256032"/>
          </a:xfrm>
          <a:prstGeom prst="rect">
            <a:avLst/>
          </a:prstGeom>
          <a:noFill/>
          <a:ln/>
        </p:spPr>
        <p:txBody>
          <a:bodyPr wrap="square" lIns="0" tIns="0" rIns="0" bIns="0" rtlCol="0" anchor="ctr"/>
          <a:lstStyle/>
          <a:p>
            <a:pPr algn="ctr" indent="0" marL="0">
              <a:buNone/>
            </a:pPr>
            <a:r>
              <a:rPr lang="en-US" sz="1000" b="1" dirty="0">
                <a:solidFill>
                  <a:srgbClr val="0E8A7D"/>
                </a:solidFill>
                <a:latin typeface="Calibri" pitchFamily="34" charset="0"/>
                <a:ea typeface="Calibri" pitchFamily="34" charset="-122"/>
                <a:cs typeface="Calibri" pitchFamily="34" charset="-120"/>
              </a:rPr>
              <a:t>ĐÃ CÓ</a:t>
            </a:r>
            <a:endParaRPr lang="en-US" sz="1000" dirty="0"/>
          </a:p>
        </p:txBody>
      </p:sp>
      <p:sp>
        <p:nvSpPr>
          <p:cNvPr id="37" name="Shape 35"/>
          <p:cNvSpPr/>
          <p:nvPr/>
        </p:nvSpPr>
        <p:spPr>
          <a:xfrm>
            <a:off x="4663440" y="2103120"/>
            <a:ext cx="4023360" cy="658368"/>
          </a:xfrm>
          <a:prstGeom prst="roundRect">
            <a:avLst>
              <a:gd name="adj" fmla="val 16667"/>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38" name="Text 36"/>
          <p:cNvSpPr txBox="1"/>
          <p:nvPr/>
        </p:nvSpPr>
        <p:spPr>
          <a:xfrm>
            <a:off x="4800600" y="2139696"/>
            <a:ext cx="3749040" cy="274320"/>
          </a:xfrm>
          <a:prstGeom prst="rect">
            <a:avLst/>
          </a:prstGeom>
          <a:noFill/>
          <a:ln/>
        </p:spPr>
        <p:txBody>
          <a:bodyPr wrap="square" lIns="0" tIns="0" rIns="0" bIns="0" rtlCol="0" anchor="ctr"/>
          <a:lstStyle/>
          <a:p>
            <a:pPr indent="0" marL="0">
              <a:buNone/>
            </a:pPr>
            <a:r>
              <a:rPr lang="en-US" sz="1300" b="1" dirty="0">
                <a:solidFill>
                  <a:srgbClr val="0F2447"/>
                </a:solidFill>
                <a:latin typeface="Cambria" pitchFamily="34" charset="0"/>
                <a:ea typeface="Cambria" pitchFamily="34" charset="-122"/>
                <a:cs typeface="Cambria" pitchFamily="34" charset="-120"/>
              </a:rPr>
              <a:t>Theo dõi hoạt động luyện tập</a:t>
            </a:r>
            <a:endParaRPr lang="en-US" sz="1300" dirty="0"/>
          </a:p>
        </p:txBody>
      </p:sp>
      <p:sp>
        <p:nvSpPr>
          <p:cNvPr id="39" name="Shape 37"/>
          <p:cNvSpPr/>
          <p:nvPr/>
        </p:nvSpPr>
        <p:spPr>
          <a:xfrm>
            <a:off x="4800600" y="2450592"/>
            <a:ext cx="1440180" cy="256032"/>
          </a:xfrm>
          <a:prstGeom prst="roundRect">
            <a:avLst>
              <a:gd name="adj" fmla="val 50000"/>
            </a:avLst>
          </a:prstGeom>
          <a:solidFill>
            <a:srgbClr val="FFFFFF"/>
          </a:solidFill>
          <a:ln w="15875">
            <a:solidFill>
              <a:srgbClr val="B8561F"/>
            </a:solidFill>
            <a:prstDash val="solid"/>
          </a:ln>
        </p:spPr>
      </p:sp>
      <p:sp>
        <p:nvSpPr>
          <p:cNvPr id="40" name="Text 38"/>
          <p:cNvSpPr txBox="1"/>
          <p:nvPr/>
        </p:nvSpPr>
        <p:spPr>
          <a:xfrm>
            <a:off x="4800600" y="2450592"/>
            <a:ext cx="1440180" cy="256032"/>
          </a:xfrm>
          <a:prstGeom prst="rect">
            <a:avLst/>
          </a:prstGeom>
          <a:noFill/>
          <a:ln/>
        </p:spPr>
        <p:txBody>
          <a:bodyPr wrap="square" lIns="0" tIns="0" rIns="0" bIns="0" rtlCol="0" anchor="ctr"/>
          <a:lstStyle/>
          <a:p>
            <a:pPr algn="ctr" indent="0" marL="0">
              <a:buNone/>
            </a:pPr>
            <a:r>
              <a:rPr lang="en-US" sz="1000" b="1" dirty="0">
                <a:solidFill>
                  <a:srgbClr val="B8561F"/>
                </a:solidFill>
                <a:latin typeface="Calibri" pitchFamily="34" charset="0"/>
                <a:ea typeface="Calibri" pitchFamily="34" charset="-122"/>
                <a:cs typeface="Calibri" pitchFamily="34" charset="-120"/>
              </a:rPr>
              <a:t>ĐANG HOÀN THIỆN</a:t>
            </a:r>
            <a:endParaRPr lang="en-US" sz="1000" dirty="0"/>
          </a:p>
        </p:txBody>
      </p:sp>
      <p:sp>
        <p:nvSpPr>
          <p:cNvPr id="41" name="Shape 39"/>
          <p:cNvSpPr/>
          <p:nvPr/>
        </p:nvSpPr>
        <p:spPr>
          <a:xfrm>
            <a:off x="4663440" y="2880360"/>
            <a:ext cx="4023360" cy="658368"/>
          </a:xfrm>
          <a:prstGeom prst="roundRect">
            <a:avLst>
              <a:gd name="adj" fmla="val 16667"/>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42" name="Text 40"/>
          <p:cNvSpPr txBox="1"/>
          <p:nvPr/>
        </p:nvSpPr>
        <p:spPr>
          <a:xfrm>
            <a:off x="4800600" y="2916936"/>
            <a:ext cx="3749040" cy="274320"/>
          </a:xfrm>
          <a:prstGeom prst="rect">
            <a:avLst/>
          </a:prstGeom>
          <a:noFill/>
          <a:ln/>
        </p:spPr>
        <p:txBody>
          <a:bodyPr wrap="square" lIns="0" tIns="0" rIns="0" bIns="0" rtlCol="0" anchor="ctr"/>
          <a:lstStyle/>
          <a:p>
            <a:pPr indent="0" marL="0">
              <a:buNone/>
            </a:pPr>
            <a:r>
              <a:rPr lang="en-US" sz="1300" b="1" dirty="0">
                <a:solidFill>
                  <a:srgbClr val="0F2447"/>
                </a:solidFill>
                <a:latin typeface="Cambria" pitchFamily="34" charset="0"/>
                <a:ea typeface="Cambria" pitchFamily="34" charset="-122"/>
                <a:cs typeface="Cambria" pitchFamily="34" charset="-120"/>
              </a:rPr>
              <a:t>Chuẩn bị và kiểm tra học liệu</a:t>
            </a:r>
            <a:endParaRPr lang="en-US" sz="1300" dirty="0"/>
          </a:p>
        </p:txBody>
      </p:sp>
      <p:sp>
        <p:nvSpPr>
          <p:cNvPr id="43" name="Shape 41"/>
          <p:cNvSpPr/>
          <p:nvPr/>
        </p:nvSpPr>
        <p:spPr>
          <a:xfrm>
            <a:off x="4800600" y="3227832"/>
            <a:ext cx="1440180" cy="256032"/>
          </a:xfrm>
          <a:prstGeom prst="roundRect">
            <a:avLst>
              <a:gd name="adj" fmla="val 50000"/>
            </a:avLst>
          </a:prstGeom>
          <a:solidFill>
            <a:srgbClr val="FFFFFF"/>
          </a:solidFill>
          <a:ln w="15875">
            <a:solidFill>
              <a:srgbClr val="B8561F"/>
            </a:solidFill>
            <a:prstDash val="solid"/>
          </a:ln>
        </p:spPr>
      </p:sp>
      <p:sp>
        <p:nvSpPr>
          <p:cNvPr id="44" name="Text 42"/>
          <p:cNvSpPr txBox="1"/>
          <p:nvPr/>
        </p:nvSpPr>
        <p:spPr>
          <a:xfrm>
            <a:off x="4800600" y="3227832"/>
            <a:ext cx="1440180" cy="256032"/>
          </a:xfrm>
          <a:prstGeom prst="rect">
            <a:avLst/>
          </a:prstGeom>
          <a:noFill/>
          <a:ln/>
        </p:spPr>
        <p:txBody>
          <a:bodyPr wrap="square" lIns="0" tIns="0" rIns="0" bIns="0" rtlCol="0" anchor="ctr"/>
          <a:lstStyle/>
          <a:p>
            <a:pPr algn="ctr" indent="0" marL="0">
              <a:buNone/>
            </a:pPr>
            <a:r>
              <a:rPr lang="en-US" sz="1000" b="1" dirty="0">
                <a:solidFill>
                  <a:srgbClr val="B8561F"/>
                </a:solidFill>
                <a:latin typeface="Calibri" pitchFamily="34" charset="0"/>
                <a:ea typeface="Calibri" pitchFamily="34" charset="-122"/>
                <a:cs typeface="Calibri" pitchFamily="34" charset="-120"/>
              </a:rPr>
              <a:t>ĐANG HOÀN THIỆN</a:t>
            </a:r>
            <a:endParaRPr lang="en-US" sz="1000" dirty="0"/>
          </a:p>
        </p:txBody>
      </p:sp>
      <p:sp>
        <p:nvSpPr>
          <p:cNvPr id="45" name="Shape 43"/>
          <p:cNvSpPr/>
          <p:nvPr/>
        </p:nvSpPr>
        <p:spPr>
          <a:xfrm>
            <a:off x="4663440" y="3657600"/>
            <a:ext cx="4023360" cy="658368"/>
          </a:xfrm>
          <a:prstGeom prst="roundRect">
            <a:avLst>
              <a:gd name="adj" fmla="val 16667"/>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46" name="Text 44"/>
          <p:cNvSpPr txBox="1"/>
          <p:nvPr/>
        </p:nvSpPr>
        <p:spPr>
          <a:xfrm>
            <a:off x="4800600" y="3694176"/>
            <a:ext cx="3749040" cy="274320"/>
          </a:xfrm>
          <a:prstGeom prst="rect">
            <a:avLst/>
          </a:prstGeom>
          <a:noFill/>
          <a:ln/>
        </p:spPr>
        <p:txBody>
          <a:bodyPr wrap="square" lIns="0" tIns="0" rIns="0" bIns="0" rtlCol="0" anchor="ctr"/>
          <a:lstStyle/>
          <a:p>
            <a:pPr indent="0" marL="0">
              <a:buNone/>
            </a:pPr>
            <a:r>
              <a:rPr lang="en-US" sz="1300" b="1" dirty="0">
                <a:solidFill>
                  <a:srgbClr val="0F2447"/>
                </a:solidFill>
                <a:latin typeface="Cambria" pitchFamily="34" charset="0"/>
                <a:ea typeface="Cambria" pitchFamily="34" charset="-122"/>
                <a:cs typeface="Cambria" pitchFamily="34" charset="-120"/>
              </a:rPr>
              <a:t>Động viên, vinh danh khi được cho phép</a:t>
            </a:r>
            <a:endParaRPr lang="en-US" sz="1300" dirty="0"/>
          </a:p>
        </p:txBody>
      </p:sp>
      <p:sp>
        <p:nvSpPr>
          <p:cNvPr id="47" name="Shape 45"/>
          <p:cNvSpPr/>
          <p:nvPr/>
        </p:nvSpPr>
        <p:spPr>
          <a:xfrm>
            <a:off x="4800600" y="4005072"/>
            <a:ext cx="1906524" cy="256032"/>
          </a:xfrm>
          <a:prstGeom prst="roundRect">
            <a:avLst>
              <a:gd name="adj" fmla="val 50000"/>
            </a:avLst>
          </a:prstGeom>
          <a:solidFill>
            <a:srgbClr val="FFFFFF"/>
          </a:solidFill>
          <a:ln w="15875">
            <a:solidFill>
              <a:srgbClr val="B8561F"/>
            </a:solidFill>
            <a:prstDash val="solid"/>
          </a:ln>
        </p:spPr>
      </p:sp>
      <p:sp>
        <p:nvSpPr>
          <p:cNvPr id="48" name="Text 46"/>
          <p:cNvSpPr txBox="1"/>
          <p:nvPr/>
        </p:nvSpPr>
        <p:spPr>
          <a:xfrm>
            <a:off x="4800600" y="4005072"/>
            <a:ext cx="1906524" cy="256032"/>
          </a:xfrm>
          <a:prstGeom prst="rect">
            <a:avLst/>
          </a:prstGeom>
          <a:noFill/>
          <a:ln/>
        </p:spPr>
        <p:txBody>
          <a:bodyPr wrap="square" lIns="0" tIns="0" rIns="0" bIns="0" rtlCol="0" anchor="ctr"/>
          <a:lstStyle/>
          <a:p>
            <a:pPr algn="ctr" indent="0" marL="0">
              <a:buNone/>
            </a:pPr>
            <a:r>
              <a:rPr lang="en-US" sz="1000" b="1" dirty="0">
                <a:solidFill>
                  <a:srgbClr val="B8561F"/>
                </a:solidFill>
                <a:latin typeface="Calibri" pitchFamily="34" charset="0"/>
                <a:ea typeface="Calibri" pitchFamily="34" charset="-122"/>
                <a:cs typeface="Calibri" pitchFamily="34" charset="-120"/>
              </a:rPr>
              <a:t>CHƯA BẬT CHO HỌC SINH</a:t>
            </a:r>
            <a:endParaRPr lang="en-US" sz="10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PHỤ HUYNH</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Phụ huynh đồng hành ra sao?</a:t>
            </a:r>
            <a:endParaRPr lang="en-US" sz="3000" dirty="0"/>
          </a:p>
        </p:txBody>
      </p:sp>
      <p:sp>
        <p:nvSpPr>
          <p:cNvPr id="4" name="Shape 2"/>
          <p:cNvSpPr/>
          <p:nvPr/>
        </p:nvSpPr>
        <p:spPr>
          <a:xfrm>
            <a:off x="548640" y="1325880"/>
            <a:ext cx="2743200" cy="1417320"/>
          </a:xfrm>
          <a:prstGeom prst="roundRect">
            <a:avLst>
              <a:gd name="adj" fmla="val 7742"/>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5" name="Shape 3"/>
          <p:cNvSpPr/>
          <p:nvPr/>
        </p:nvSpPr>
        <p:spPr>
          <a:xfrm>
            <a:off x="713232" y="1508760"/>
            <a:ext cx="457200" cy="457200"/>
          </a:xfrm>
          <a:prstGeom prst="ellipse">
            <a:avLst/>
          </a:prstGeom>
          <a:solidFill>
            <a:srgbClr val="DDF1EE"/>
          </a:solidFill>
          <a:ln/>
        </p:spPr>
      </p:sp>
      <p:sp>
        <p:nvSpPr>
          <p:cNvPr id="6" name="Shape 4"/>
          <p:cNvSpPr/>
          <p:nvPr/>
        </p:nvSpPr>
        <p:spPr>
          <a:xfrm>
            <a:off x="813816" y="1627632"/>
            <a:ext cx="256032" cy="228600"/>
          </a:xfrm>
          <a:prstGeom prst="heart">
            <a:avLst/>
          </a:prstGeom>
          <a:solidFill>
            <a:srgbClr val="0E8A7D"/>
          </a:solidFill>
          <a:ln/>
        </p:spPr>
      </p:sp>
      <p:sp>
        <p:nvSpPr>
          <p:cNvPr id="7" name="Text 5"/>
          <p:cNvSpPr txBox="1"/>
          <p:nvPr/>
        </p:nvSpPr>
        <p:spPr>
          <a:xfrm>
            <a:off x="1280160" y="1472184"/>
            <a:ext cx="1920240" cy="566928"/>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Giúp con vào đúng trang học</a:t>
            </a:r>
            <a:endParaRPr lang="en-US" sz="1400" dirty="0"/>
          </a:p>
        </p:txBody>
      </p:sp>
      <p:sp>
        <p:nvSpPr>
          <p:cNvPr id="8" name="Text 6"/>
          <p:cNvSpPr txBox="1"/>
          <p:nvPr/>
        </p:nvSpPr>
        <p:spPr>
          <a:xfrm>
            <a:off x="731520" y="2130552"/>
            <a:ext cx="2423160" cy="54864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Quét thẻ học một lần, con tự vào trang của mình.</a:t>
            </a:r>
            <a:endParaRPr lang="en-US" sz="1200" dirty="0"/>
          </a:p>
        </p:txBody>
      </p:sp>
      <p:sp>
        <p:nvSpPr>
          <p:cNvPr id="9" name="Shape 7"/>
          <p:cNvSpPr/>
          <p:nvPr/>
        </p:nvSpPr>
        <p:spPr>
          <a:xfrm>
            <a:off x="3474720" y="1325880"/>
            <a:ext cx="2743200" cy="1417320"/>
          </a:xfrm>
          <a:prstGeom prst="roundRect">
            <a:avLst>
              <a:gd name="adj" fmla="val 7742"/>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0" name="Shape 8"/>
          <p:cNvSpPr/>
          <p:nvPr/>
        </p:nvSpPr>
        <p:spPr>
          <a:xfrm>
            <a:off x="3639312" y="1508760"/>
            <a:ext cx="457200" cy="457200"/>
          </a:xfrm>
          <a:prstGeom prst="ellipse">
            <a:avLst/>
          </a:prstGeom>
          <a:solidFill>
            <a:srgbClr val="F5EBCF"/>
          </a:solidFill>
          <a:ln/>
        </p:spPr>
      </p:sp>
      <p:sp>
        <p:nvSpPr>
          <p:cNvPr id="11" name="Shape 9"/>
          <p:cNvSpPr/>
          <p:nvPr/>
        </p:nvSpPr>
        <p:spPr>
          <a:xfrm>
            <a:off x="3739896" y="1627632"/>
            <a:ext cx="256032" cy="228600"/>
          </a:xfrm>
          <a:prstGeom prst="heart">
            <a:avLst/>
          </a:prstGeom>
          <a:solidFill>
            <a:srgbClr val="C9A24A"/>
          </a:solidFill>
          <a:ln/>
        </p:spPr>
      </p:sp>
      <p:sp>
        <p:nvSpPr>
          <p:cNvPr id="12" name="Text 10"/>
          <p:cNvSpPr txBox="1"/>
          <p:nvPr/>
        </p:nvSpPr>
        <p:spPr>
          <a:xfrm>
            <a:off x="4206240" y="1472184"/>
            <a:ext cx="1920240" cy="566928"/>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Khuyến khích luyện tập vừa sức</a:t>
            </a:r>
            <a:endParaRPr lang="en-US" sz="1400" dirty="0"/>
          </a:p>
        </p:txBody>
      </p:sp>
      <p:sp>
        <p:nvSpPr>
          <p:cNvPr id="13" name="Text 11"/>
          <p:cNvSpPr txBox="1"/>
          <p:nvPr/>
        </p:nvSpPr>
        <p:spPr>
          <a:xfrm>
            <a:off x="3657600" y="2130552"/>
            <a:ext cx="2423160" cy="54864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Mỗi ngày một chút, đều đặn, không ép buộc.</a:t>
            </a:r>
            <a:endParaRPr lang="en-US" sz="1200" dirty="0"/>
          </a:p>
        </p:txBody>
      </p:sp>
      <p:sp>
        <p:nvSpPr>
          <p:cNvPr id="14" name="Shape 12"/>
          <p:cNvSpPr/>
          <p:nvPr/>
        </p:nvSpPr>
        <p:spPr>
          <a:xfrm>
            <a:off x="548640" y="2926080"/>
            <a:ext cx="2743200" cy="1417320"/>
          </a:xfrm>
          <a:prstGeom prst="roundRect">
            <a:avLst>
              <a:gd name="adj" fmla="val 7742"/>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5" name="Shape 13"/>
          <p:cNvSpPr/>
          <p:nvPr/>
        </p:nvSpPr>
        <p:spPr>
          <a:xfrm>
            <a:off x="713232" y="3108960"/>
            <a:ext cx="457200" cy="457200"/>
          </a:xfrm>
          <a:prstGeom prst="ellipse">
            <a:avLst/>
          </a:prstGeom>
          <a:solidFill>
            <a:srgbClr val="DDF1EE"/>
          </a:solidFill>
          <a:ln/>
        </p:spPr>
      </p:sp>
      <p:sp>
        <p:nvSpPr>
          <p:cNvPr id="16" name="Shape 14"/>
          <p:cNvSpPr/>
          <p:nvPr/>
        </p:nvSpPr>
        <p:spPr>
          <a:xfrm>
            <a:off x="813816" y="3227832"/>
            <a:ext cx="256032" cy="228600"/>
          </a:xfrm>
          <a:prstGeom prst="heart">
            <a:avLst/>
          </a:prstGeom>
          <a:solidFill>
            <a:srgbClr val="0E8A7D"/>
          </a:solidFill>
          <a:ln/>
        </p:spPr>
      </p:sp>
      <p:sp>
        <p:nvSpPr>
          <p:cNvPr id="17" name="Text 15"/>
          <p:cNvSpPr txBox="1"/>
          <p:nvPr/>
        </p:nvSpPr>
        <p:spPr>
          <a:xfrm>
            <a:off x="1280160" y="3072384"/>
            <a:ext cx="1920240" cy="566928"/>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Quan tâm sự tiến bộ</a:t>
            </a:r>
            <a:endParaRPr lang="en-US" sz="1400" dirty="0"/>
          </a:p>
        </p:txBody>
      </p:sp>
      <p:sp>
        <p:nvSpPr>
          <p:cNvPr id="18" name="Text 16"/>
          <p:cNvSpPr txBox="1"/>
          <p:nvPr/>
        </p:nvSpPr>
        <p:spPr>
          <a:xfrm>
            <a:off x="731520" y="3730752"/>
            <a:ext cx="2423160" cy="54864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Nhìn vào hành trình của con thay vì chỉ nhìn điểm.</a:t>
            </a:r>
            <a:endParaRPr lang="en-US" sz="1200" dirty="0"/>
          </a:p>
        </p:txBody>
      </p:sp>
      <p:sp>
        <p:nvSpPr>
          <p:cNvPr id="19" name="Shape 17"/>
          <p:cNvSpPr/>
          <p:nvPr/>
        </p:nvSpPr>
        <p:spPr>
          <a:xfrm>
            <a:off x="3474720" y="2926080"/>
            <a:ext cx="2743200" cy="1417320"/>
          </a:xfrm>
          <a:prstGeom prst="roundRect">
            <a:avLst>
              <a:gd name="adj" fmla="val 7742"/>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20" name="Shape 18"/>
          <p:cNvSpPr/>
          <p:nvPr/>
        </p:nvSpPr>
        <p:spPr>
          <a:xfrm>
            <a:off x="3639312" y="3108960"/>
            <a:ext cx="457200" cy="457200"/>
          </a:xfrm>
          <a:prstGeom prst="ellipse">
            <a:avLst/>
          </a:prstGeom>
          <a:solidFill>
            <a:srgbClr val="F5EBCF"/>
          </a:solidFill>
          <a:ln/>
        </p:spPr>
      </p:sp>
      <p:sp>
        <p:nvSpPr>
          <p:cNvPr id="21" name="Shape 19"/>
          <p:cNvSpPr/>
          <p:nvPr/>
        </p:nvSpPr>
        <p:spPr>
          <a:xfrm>
            <a:off x="3739896" y="3227832"/>
            <a:ext cx="256032" cy="228600"/>
          </a:xfrm>
          <a:prstGeom prst="heart">
            <a:avLst/>
          </a:prstGeom>
          <a:solidFill>
            <a:srgbClr val="C9A24A"/>
          </a:solidFill>
          <a:ln/>
        </p:spPr>
      </p:sp>
      <p:sp>
        <p:nvSpPr>
          <p:cNvPr id="22" name="Text 20"/>
          <p:cNvSpPr txBox="1"/>
          <p:nvPr/>
        </p:nvSpPr>
        <p:spPr>
          <a:xfrm>
            <a:off x="4206240" y="3072384"/>
            <a:ext cx="1920240" cy="566928"/>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Đồng hành cùng giáo viên</a:t>
            </a:r>
            <a:endParaRPr lang="en-US" sz="1400" dirty="0"/>
          </a:p>
        </p:txBody>
      </p:sp>
      <p:sp>
        <p:nvSpPr>
          <p:cNvPr id="23" name="Text 21"/>
          <p:cNvSpPr txBox="1"/>
          <p:nvPr/>
        </p:nvSpPr>
        <p:spPr>
          <a:xfrm>
            <a:off x="3657600" y="3730752"/>
            <a:ext cx="2423160" cy="54864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Cùng động viên để con tự tin hơn khi đọc.</a:t>
            </a:r>
            <a:endParaRPr lang="en-US" sz="1200" dirty="0"/>
          </a:p>
        </p:txBody>
      </p:sp>
      <p:sp>
        <p:nvSpPr>
          <p:cNvPr id="24" name="Shape 22"/>
          <p:cNvSpPr/>
          <p:nvPr/>
        </p:nvSpPr>
        <p:spPr>
          <a:xfrm>
            <a:off x="6446520" y="1325880"/>
            <a:ext cx="2240280" cy="3017520"/>
          </a:xfrm>
          <a:prstGeom prst="roundRect">
            <a:avLst>
              <a:gd name="adj" fmla="val 8163"/>
            </a:avLst>
          </a:prstGeom>
          <a:solidFill>
            <a:srgbClr val="DDF1EE"/>
          </a:solidFill>
          <a:ln/>
        </p:spPr>
      </p:sp>
      <p:pic>
        <p:nvPicPr>
          <p:cNvPr id="25" name="Image 0" descr="Cú Bông">    </p:cNvPr>
          <p:cNvPicPr>
            <a:picLocks noChangeAspect="1"/>
          </p:cNvPicPr>
          <p:nvPr/>
        </p:nvPicPr>
        <p:blipFill>
          <a:blip r:embed="rId1"/>
          <a:stretch>
            <a:fillRect/>
          </a:stretch>
        </p:blipFill>
        <p:spPr>
          <a:xfrm>
            <a:off x="6492240" y="1463040"/>
            <a:ext cx="2148840" cy="2148840"/>
          </a:xfrm>
          <a:prstGeom prst="rect">
            <a:avLst/>
          </a:prstGeom>
        </p:spPr>
      </p:pic>
      <p:sp>
        <p:nvSpPr>
          <p:cNvPr id="26" name="Text 23"/>
          <p:cNvSpPr txBox="1"/>
          <p:nvPr/>
        </p:nvSpPr>
        <p:spPr>
          <a:xfrm>
            <a:off x="6583680" y="3611880"/>
            <a:ext cx="1965960" cy="365760"/>
          </a:xfrm>
          <a:prstGeom prst="rect">
            <a:avLst/>
          </a:prstGeom>
          <a:noFill/>
          <a:ln/>
        </p:spPr>
        <p:txBody>
          <a:bodyPr wrap="square" lIns="0" tIns="0" rIns="0" bIns="0" rtlCol="0" anchor="ctr"/>
          <a:lstStyle/>
          <a:p>
            <a:pPr algn="ctr" indent="0" marL="0">
              <a:buNone/>
            </a:pPr>
            <a:r>
              <a:rPr lang="en-US" sz="1300" b="1" dirty="0">
                <a:solidFill>
                  <a:srgbClr val="0F2447"/>
                </a:solidFill>
                <a:latin typeface="Cambria" pitchFamily="34" charset="0"/>
                <a:ea typeface="Cambria" pitchFamily="34" charset="-122"/>
                <a:cs typeface="Cambria" pitchFamily="34" charset="-120"/>
              </a:rPr>
              <a:t>Cú Bông đồng hành</a:t>
            </a:r>
            <a:endParaRPr lang="en-US" sz="1300" dirty="0"/>
          </a:p>
        </p:txBody>
      </p:sp>
      <p:sp>
        <p:nvSpPr>
          <p:cNvPr id="27" name="Shape 24"/>
          <p:cNvSpPr/>
          <p:nvPr/>
        </p:nvSpPr>
        <p:spPr>
          <a:xfrm>
            <a:off x="6583680" y="3977640"/>
            <a:ext cx="1984248" cy="256032"/>
          </a:xfrm>
          <a:prstGeom prst="roundRect">
            <a:avLst>
              <a:gd name="adj" fmla="val 50000"/>
            </a:avLst>
          </a:prstGeom>
          <a:solidFill>
            <a:srgbClr val="FFFFFF"/>
          </a:solidFill>
          <a:ln w="15875">
            <a:solidFill>
              <a:srgbClr val="5B6678"/>
            </a:solidFill>
            <a:prstDash val="solid"/>
          </a:ln>
        </p:spPr>
      </p:sp>
      <p:sp>
        <p:nvSpPr>
          <p:cNvPr id="28" name="Text 25"/>
          <p:cNvSpPr txBox="1"/>
          <p:nvPr/>
        </p:nvSpPr>
        <p:spPr>
          <a:xfrm>
            <a:off x="6583680" y="3977640"/>
            <a:ext cx="1984248" cy="256032"/>
          </a:xfrm>
          <a:prstGeom prst="rect">
            <a:avLst/>
          </a:prstGeom>
          <a:noFill/>
          <a:ln/>
        </p:spPr>
        <p:txBody>
          <a:bodyPr wrap="square" lIns="0" tIns="0" rIns="0" bIns="0" rtlCol="0" anchor="ctr"/>
          <a:lstStyle/>
          <a:p>
            <a:pPr algn="ctr" indent="0" marL="0">
              <a:buNone/>
            </a:pPr>
            <a:r>
              <a:rPr lang="en-US" sz="1000" b="1" dirty="0">
                <a:solidFill>
                  <a:srgbClr val="5B6678"/>
                </a:solidFill>
                <a:latin typeface="Calibri" pitchFamily="34" charset="0"/>
                <a:ea typeface="Calibri" pitchFamily="34" charset="-122"/>
                <a:cs typeface="Calibri" pitchFamily="34" charset="-120"/>
              </a:rPr>
              <a:t>GÓC PHỤ HUYNH: DỰ KIẾN</a:t>
            </a:r>
            <a:endParaRPr lang="en-US" sz="10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AN TOÀN</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An toàn và phù hợp với học sinh nhỏ tuổi</a:t>
            </a:r>
            <a:endParaRPr lang="en-US" sz="3000" dirty="0"/>
          </a:p>
        </p:txBody>
      </p:sp>
      <p:sp>
        <p:nvSpPr>
          <p:cNvPr id="4" name="Shape 2"/>
          <p:cNvSpPr/>
          <p:nvPr/>
        </p:nvSpPr>
        <p:spPr>
          <a:xfrm>
            <a:off x="548640" y="1325880"/>
            <a:ext cx="288036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5" name="Shape 3"/>
          <p:cNvSpPr/>
          <p:nvPr/>
        </p:nvSpPr>
        <p:spPr>
          <a:xfrm>
            <a:off x="713232" y="1490472"/>
            <a:ext cx="502920" cy="502920"/>
          </a:xfrm>
          <a:prstGeom prst="ellipse">
            <a:avLst/>
          </a:prstGeom>
          <a:solidFill>
            <a:srgbClr val="0F2447"/>
          </a:solidFill>
          <a:ln/>
        </p:spPr>
      </p:sp>
      <p:sp>
        <p:nvSpPr>
          <p:cNvPr id="6" name="Shape 4"/>
          <p:cNvSpPr/>
          <p:nvPr/>
        </p:nvSpPr>
        <p:spPr>
          <a:xfrm>
            <a:off x="841248" y="1627632"/>
            <a:ext cx="246888" cy="228600"/>
          </a:xfrm>
          <a:prstGeom prst="roundRect">
            <a:avLst/>
          </a:prstGeom>
          <a:solidFill>
            <a:srgbClr val="C9A24A"/>
          </a:solidFill>
          <a:ln/>
        </p:spPr>
      </p:sp>
      <p:sp>
        <p:nvSpPr>
          <p:cNvPr id="7" name="Text 5"/>
          <p:cNvSpPr txBox="1"/>
          <p:nvPr/>
        </p:nvSpPr>
        <p:spPr>
          <a:xfrm>
            <a:off x="1353312" y="1490472"/>
            <a:ext cx="1965960" cy="502920"/>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Giao diện thân thiện</a:t>
            </a:r>
            <a:endParaRPr lang="en-US" sz="1400" dirty="0"/>
          </a:p>
        </p:txBody>
      </p:sp>
      <p:sp>
        <p:nvSpPr>
          <p:cNvPr id="8" name="Text 6"/>
          <p:cNvSpPr txBox="1"/>
          <p:nvPr/>
        </p:nvSpPr>
        <p:spPr>
          <a:xfrm>
            <a:off x="731520" y="2103120"/>
            <a:ext cx="2560320" cy="64008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Nút bấm lớn, mỗi màn hình một nhiệm vụ, chữ to rõ.</a:t>
            </a:r>
            <a:endParaRPr lang="en-US" sz="1200" dirty="0"/>
          </a:p>
        </p:txBody>
      </p:sp>
      <p:sp>
        <p:nvSpPr>
          <p:cNvPr id="9" name="Shape 7"/>
          <p:cNvSpPr/>
          <p:nvPr/>
        </p:nvSpPr>
        <p:spPr>
          <a:xfrm>
            <a:off x="3611880" y="1325880"/>
            <a:ext cx="288036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0" name="Shape 8"/>
          <p:cNvSpPr/>
          <p:nvPr/>
        </p:nvSpPr>
        <p:spPr>
          <a:xfrm>
            <a:off x="3776472" y="1490472"/>
            <a:ext cx="502920" cy="502920"/>
          </a:xfrm>
          <a:prstGeom prst="ellipse">
            <a:avLst/>
          </a:prstGeom>
          <a:solidFill>
            <a:srgbClr val="0F2447"/>
          </a:solidFill>
          <a:ln/>
        </p:spPr>
      </p:sp>
      <p:sp>
        <p:nvSpPr>
          <p:cNvPr id="11" name="Shape 9"/>
          <p:cNvSpPr/>
          <p:nvPr/>
        </p:nvSpPr>
        <p:spPr>
          <a:xfrm>
            <a:off x="3904488" y="1627632"/>
            <a:ext cx="246888" cy="228600"/>
          </a:xfrm>
          <a:prstGeom prst="star5">
            <a:avLst/>
          </a:prstGeom>
          <a:solidFill>
            <a:srgbClr val="C9A24A"/>
          </a:solidFill>
          <a:ln/>
        </p:spPr>
      </p:sp>
      <p:sp>
        <p:nvSpPr>
          <p:cNvPr id="12" name="Text 10"/>
          <p:cNvSpPr txBox="1"/>
          <p:nvPr/>
        </p:nvSpPr>
        <p:spPr>
          <a:xfrm>
            <a:off x="4416552" y="1490472"/>
            <a:ext cx="1965960" cy="502920"/>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Hình ảnh hiền hòa</a:t>
            </a:r>
            <a:endParaRPr lang="en-US" sz="1400" dirty="0"/>
          </a:p>
        </p:txBody>
      </p:sp>
      <p:sp>
        <p:nvSpPr>
          <p:cNvPr id="13" name="Text 11"/>
          <p:cNvSpPr txBox="1"/>
          <p:nvPr/>
        </p:nvSpPr>
        <p:spPr>
          <a:xfrm>
            <a:off x="3794760" y="2103120"/>
            <a:ext cx="2560320" cy="64008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Không có hình ảnh gây sợ hãi; lời phản hồi luôn tích cực.</a:t>
            </a:r>
            <a:endParaRPr lang="en-US" sz="1200" dirty="0"/>
          </a:p>
        </p:txBody>
      </p:sp>
      <p:sp>
        <p:nvSpPr>
          <p:cNvPr id="14" name="Shape 12"/>
          <p:cNvSpPr/>
          <p:nvPr/>
        </p:nvSpPr>
        <p:spPr>
          <a:xfrm>
            <a:off x="548640" y="2971800"/>
            <a:ext cx="288036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5" name="Shape 13"/>
          <p:cNvSpPr/>
          <p:nvPr/>
        </p:nvSpPr>
        <p:spPr>
          <a:xfrm>
            <a:off x="713232" y="3136392"/>
            <a:ext cx="502920" cy="502920"/>
          </a:xfrm>
          <a:prstGeom prst="ellipse">
            <a:avLst/>
          </a:prstGeom>
          <a:solidFill>
            <a:srgbClr val="0F2447"/>
          </a:solidFill>
          <a:ln/>
        </p:spPr>
      </p:sp>
      <p:sp>
        <p:nvSpPr>
          <p:cNvPr id="16" name="Shape 14"/>
          <p:cNvSpPr/>
          <p:nvPr/>
        </p:nvSpPr>
        <p:spPr>
          <a:xfrm>
            <a:off x="841248" y="3273552"/>
            <a:ext cx="246888" cy="228600"/>
          </a:xfrm>
          <a:prstGeom prst="heart">
            <a:avLst/>
          </a:prstGeom>
          <a:solidFill>
            <a:srgbClr val="C9A24A"/>
          </a:solidFill>
          <a:ln/>
        </p:spPr>
      </p:sp>
      <p:sp>
        <p:nvSpPr>
          <p:cNvPr id="17" name="Text 15"/>
          <p:cNvSpPr txBox="1"/>
          <p:nvPr/>
        </p:nvSpPr>
        <p:spPr>
          <a:xfrm>
            <a:off x="1353312" y="3136392"/>
            <a:ext cx="1965960" cy="502920"/>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Tôn trọng thông tin của con</a:t>
            </a:r>
            <a:endParaRPr lang="en-US" sz="1400" dirty="0"/>
          </a:p>
        </p:txBody>
      </p:sp>
      <p:sp>
        <p:nvSpPr>
          <p:cNvPr id="18" name="Text 16"/>
          <p:cNvSpPr txBox="1"/>
          <p:nvPr/>
        </p:nvSpPr>
        <p:spPr>
          <a:xfrm>
            <a:off x="731520" y="3749040"/>
            <a:ext cx="2560320" cy="64008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Chỉ dùng biệt danh. Không thu thập ảnh thật, giọng nói, địa chỉ.</a:t>
            </a:r>
            <a:endParaRPr lang="en-US" sz="1200" dirty="0"/>
          </a:p>
        </p:txBody>
      </p:sp>
      <p:sp>
        <p:nvSpPr>
          <p:cNvPr id="19" name="Shape 17"/>
          <p:cNvSpPr/>
          <p:nvPr/>
        </p:nvSpPr>
        <p:spPr>
          <a:xfrm>
            <a:off x="3611880" y="2971800"/>
            <a:ext cx="2880360" cy="1463040"/>
          </a:xfrm>
          <a:prstGeom prst="roundRect">
            <a:avLst>
              <a:gd name="adj" fmla="val 7500"/>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20" name="Shape 18"/>
          <p:cNvSpPr/>
          <p:nvPr/>
        </p:nvSpPr>
        <p:spPr>
          <a:xfrm>
            <a:off x="3776472" y="3136392"/>
            <a:ext cx="502920" cy="502920"/>
          </a:xfrm>
          <a:prstGeom prst="ellipse">
            <a:avLst/>
          </a:prstGeom>
          <a:solidFill>
            <a:srgbClr val="0F2447"/>
          </a:solidFill>
          <a:ln/>
        </p:spPr>
      </p:sp>
      <p:sp>
        <p:nvSpPr>
          <p:cNvPr id="21" name="Shape 19"/>
          <p:cNvSpPr/>
          <p:nvPr/>
        </p:nvSpPr>
        <p:spPr>
          <a:xfrm>
            <a:off x="3904488" y="3273552"/>
            <a:ext cx="246888" cy="228600"/>
          </a:xfrm>
          <a:prstGeom prst="hexagon">
            <a:avLst/>
          </a:prstGeom>
          <a:solidFill>
            <a:srgbClr val="C9A24A"/>
          </a:solidFill>
          <a:ln/>
        </p:spPr>
      </p:sp>
      <p:sp>
        <p:nvSpPr>
          <p:cNvPr id="22" name="Text 20"/>
          <p:cNvSpPr txBox="1"/>
          <p:nvPr/>
        </p:nvSpPr>
        <p:spPr>
          <a:xfrm>
            <a:off x="4416552" y="3136392"/>
            <a:ext cx="1965960" cy="502920"/>
          </a:xfrm>
          <a:prstGeom prst="rect">
            <a:avLst/>
          </a:prstGeom>
          <a:noFill/>
          <a:ln/>
        </p:spPr>
        <p:txBody>
          <a:bodyPr wrap="square" lIns="0" tIns="0" rIns="0" bIns="0" rtlCol="0" anchor="ctr"/>
          <a:lstStyle/>
          <a:p>
            <a:pPr indent="0" marL="0">
              <a:buNone/>
            </a:pPr>
            <a:r>
              <a:rPr lang="en-US" sz="1400" b="1" dirty="0">
                <a:solidFill>
                  <a:srgbClr val="0F2447"/>
                </a:solidFill>
                <a:latin typeface="Cambria" pitchFamily="34" charset="0"/>
                <a:ea typeface="Cambria" pitchFamily="34" charset="-122"/>
                <a:cs typeface="Cambria" pitchFamily="34" charset="-120"/>
              </a:rPr>
              <a:t>Đồng ý và kiểm soát</a:t>
            </a:r>
            <a:endParaRPr lang="en-US" sz="1400" dirty="0"/>
          </a:p>
        </p:txBody>
      </p:sp>
      <p:sp>
        <p:nvSpPr>
          <p:cNvPr id="23" name="Text 21"/>
          <p:cNvSpPr txBox="1"/>
          <p:nvPr/>
        </p:nvSpPr>
        <p:spPr>
          <a:xfrm>
            <a:off x="3794760" y="3749040"/>
            <a:ext cx="2560320" cy="640080"/>
          </a:xfrm>
          <a:prstGeom prst="rect">
            <a:avLst/>
          </a:prstGeom>
          <a:noFill/>
          <a:ln/>
        </p:spPr>
        <p:txBody>
          <a:bodyPr wrap="square" lIns="0" tIns="0" rIns="0" bIns="0" rtlCol="0" anchor="t"/>
          <a:lstStyle/>
          <a:p>
            <a:pPr indent="0" marL="0">
              <a:buNone/>
            </a:pPr>
            <a:r>
              <a:rPr lang="en-US" sz="1200" dirty="0">
                <a:solidFill>
                  <a:srgbClr val="566175"/>
                </a:solidFill>
                <a:latin typeface="Calibri" pitchFamily="34" charset="0"/>
                <a:ea typeface="Calibri" pitchFamily="34" charset="-122"/>
                <a:cs typeface="Calibri" pitchFamily="34" charset="-120"/>
              </a:rPr>
              <a:t>Chỉ ghi nhận việc học khi có sự đồng ý; bảng xếp hạng mặc định tắt.</a:t>
            </a:r>
            <a:endParaRPr lang="en-US" sz="1200" dirty="0"/>
          </a:p>
        </p:txBody>
      </p:sp>
      <p:sp>
        <p:nvSpPr>
          <p:cNvPr id="24" name="Shape 22"/>
          <p:cNvSpPr/>
          <p:nvPr/>
        </p:nvSpPr>
        <p:spPr>
          <a:xfrm>
            <a:off x="6766560" y="1325880"/>
            <a:ext cx="1920240" cy="3108960"/>
          </a:xfrm>
          <a:prstGeom prst="roundRect">
            <a:avLst>
              <a:gd name="adj" fmla="val 9524"/>
            </a:avLst>
          </a:prstGeom>
          <a:solidFill>
            <a:srgbClr val="F5EBCF"/>
          </a:solidFill>
          <a:ln/>
        </p:spPr>
      </p:sp>
      <p:pic>
        <p:nvPicPr>
          <p:cNvPr id="25" name="Image 0" descr="Bạn nhỏ thám hiểm">    </p:cNvPr>
          <p:cNvPicPr>
            <a:picLocks noChangeAspect="1"/>
          </p:cNvPicPr>
          <p:nvPr/>
        </p:nvPicPr>
        <p:blipFill>
          <a:blip r:embed="rId1"/>
          <a:stretch>
            <a:fillRect/>
          </a:stretch>
        </p:blipFill>
        <p:spPr>
          <a:xfrm>
            <a:off x="6766560" y="1463040"/>
            <a:ext cx="1920240" cy="1920240"/>
          </a:xfrm>
          <a:prstGeom prst="rect">
            <a:avLst/>
          </a:prstGeom>
        </p:spPr>
      </p:pic>
      <p:sp>
        <p:nvSpPr>
          <p:cNvPr id="26" name="Text 23"/>
          <p:cNvSpPr txBox="1"/>
          <p:nvPr/>
        </p:nvSpPr>
        <p:spPr>
          <a:xfrm>
            <a:off x="6858000" y="3474720"/>
            <a:ext cx="1737360" cy="731520"/>
          </a:xfrm>
          <a:prstGeom prst="rect">
            <a:avLst/>
          </a:prstGeom>
          <a:noFill/>
          <a:ln/>
        </p:spPr>
        <p:txBody>
          <a:bodyPr wrap="square" lIns="0" tIns="0" rIns="0" bIns="0" rtlCol="0" anchor="ctr"/>
          <a:lstStyle/>
          <a:p>
            <a:pPr algn="ctr" indent="0" marL="0">
              <a:buNone/>
            </a:pPr>
            <a:r>
              <a:rPr lang="en-US" sz="1400" b="1" dirty="0">
                <a:solidFill>
                  <a:srgbClr val="0F2447"/>
                </a:solidFill>
                <a:latin typeface="Cambria" pitchFamily="34" charset="0"/>
                <a:ea typeface="Cambria" pitchFamily="34" charset="-122"/>
                <a:cs typeface="Cambria" pitchFamily="34" charset="-120"/>
              </a:rPr>
              <a:t>Trẻ em là ưu tiên số một</a:t>
            </a:r>
            <a:endParaRPr lang="en-US" sz="14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KẾT QUẢ</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Những gì dự án đã thực hiện</a:t>
            </a:r>
            <a:endParaRPr lang="en-US" sz="3000" dirty="0"/>
          </a:p>
        </p:txBody>
      </p:sp>
      <p:sp>
        <p:nvSpPr>
          <p:cNvPr id="4" name="Shape 2"/>
          <p:cNvSpPr/>
          <p:nvPr/>
        </p:nvSpPr>
        <p:spPr>
          <a:xfrm>
            <a:off x="548640" y="1280160"/>
            <a:ext cx="4572000" cy="2560320"/>
          </a:xfrm>
          <a:prstGeom prst="roundRect">
            <a:avLst>
              <a:gd name="adj" fmla="val 4286"/>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5" name="Shape 3"/>
          <p:cNvSpPr/>
          <p:nvPr/>
        </p:nvSpPr>
        <p:spPr>
          <a:xfrm>
            <a:off x="731520" y="1389888"/>
            <a:ext cx="662940" cy="256032"/>
          </a:xfrm>
          <a:prstGeom prst="roundRect">
            <a:avLst>
              <a:gd name="adj" fmla="val 50000"/>
            </a:avLst>
          </a:prstGeom>
          <a:solidFill>
            <a:srgbClr val="FFFFFF"/>
          </a:solidFill>
          <a:ln w="15875">
            <a:solidFill>
              <a:srgbClr val="0E8A7D"/>
            </a:solidFill>
            <a:prstDash val="solid"/>
          </a:ln>
        </p:spPr>
      </p:sp>
      <p:sp>
        <p:nvSpPr>
          <p:cNvPr id="6" name="Text 4"/>
          <p:cNvSpPr txBox="1"/>
          <p:nvPr/>
        </p:nvSpPr>
        <p:spPr>
          <a:xfrm>
            <a:off x="731520" y="1389888"/>
            <a:ext cx="662940" cy="256032"/>
          </a:xfrm>
          <a:prstGeom prst="rect">
            <a:avLst/>
          </a:prstGeom>
          <a:noFill/>
          <a:ln/>
        </p:spPr>
        <p:txBody>
          <a:bodyPr wrap="square" lIns="0" tIns="0" rIns="0" bIns="0" rtlCol="0" anchor="ctr"/>
          <a:lstStyle/>
          <a:p>
            <a:pPr algn="ctr" indent="0" marL="0">
              <a:buNone/>
            </a:pPr>
            <a:r>
              <a:rPr lang="en-US" sz="1000" b="1" dirty="0">
                <a:solidFill>
                  <a:srgbClr val="0E8A7D"/>
                </a:solidFill>
                <a:latin typeface="Calibri" pitchFamily="34" charset="0"/>
                <a:ea typeface="Calibri" pitchFamily="34" charset="-122"/>
                <a:cs typeface="Calibri" pitchFamily="34" charset="-120"/>
              </a:rPr>
              <a:t>ĐÃ CÓ</a:t>
            </a:r>
            <a:endParaRPr lang="en-US" sz="1000" dirty="0"/>
          </a:p>
        </p:txBody>
      </p:sp>
      <p:sp>
        <p:nvSpPr>
          <p:cNvPr id="7" name="Text 5"/>
          <p:cNvSpPr txBox="1"/>
          <p:nvPr/>
        </p:nvSpPr>
        <p:spPr>
          <a:xfrm>
            <a:off x="777240" y="1755648"/>
            <a:ext cx="4206240" cy="2907792"/>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rgbClr val="1F2A3C"/>
                </a:solidFill>
                <a:latin typeface="Calibri" pitchFamily="34" charset="0"/>
                <a:ea typeface="Calibri" pitchFamily="34" charset="-122"/>
                <a:cs typeface="Calibri" pitchFamily="34" charset="-120"/>
              </a:rPr>
              <a:t>Hệ thống học và luyện Tiếng Việt cho lớp 1</a:t>
            </a:r>
            <a:endParaRPr lang="en-US" sz="1300" dirty="0"/>
          </a:p>
          <a:p>
            <a:pPr marL="203200" indent="-203200">
              <a:spcAft>
                <a:spcPts val="400"/>
              </a:spcAft>
              <a:buSzPct val="100000"/>
              <a:buChar char="•"/>
            </a:pPr>
            <a:r>
              <a:rPr lang="en-US" sz="1300" dirty="0">
                <a:solidFill>
                  <a:srgbClr val="1F2A3C"/>
                </a:solidFill>
                <a:latin typeface="Calibri" pitchFamily="34" charset="0"/>
                <a:ea typeface="Calibri" pitchFamily="34" charset="-122"/>
                <a:cs typeface="Calibri" pitchFamily="34" charset="-120"/>
              </a:rPr>
              <a:t>Giao diện cho học sinh và giáo viên</a:t>
            </a:r>
            <a:endParaRPr lang="en-US" sz="1300" dirty="0"/>
          </a:p>
          <a:p>
            <a:pPr marL="203200" indent="-203200">
              <a:spcAft>
                <a:spcPts val="400"/>
              </a:spcAft>
              <a:buSzPct val="100000"/>
              <a:buChar char="•"/>
            </a:pPr>
            <a:r>
              <a:rPr lang="en-US" sz="1300" dirty="0">
                <a:solidFill>
                  <a:srgbClr val="1F2A3C"/>
                </a:solidFill>
                <a:latin typeface="Calibri" pitchFamily="34" charset="0"/>
                <a:ea typeface="Calibri" pitchFamily="34" charset="-122"/>
                <a:cs typeface="Calibri" pitchFamily="34" charset="-120"/>
              </a:rPr>
              <a:t>Điểm thưởng và bản đồ khám phá</a:t>
            </a:r>
            <a:endParaRPr lang="en-US" sz="1300" dirty="0"/>
          </a:p>
          <a:p>
            <a:pPr marL="203200" indent="-203200">
              <a:spcAft>
                <a:spcPts val="400"/>
              </a:spcAft>
              <a:buSzPct val="100000"/>
              <a:buChar char="•"/>
            </a:pPr>
            <a:r>
              <a:rPr lang="en-US" sz="1300" dirty="0">
                <a:solidFill>
                  <a:srgbClr val="1F2A3C"/>
                </a:solidFill>
                <a:latin typeface="Calibri" pitchFamily="34" charset="0"/>
                <a:ea typeface="Calibri" pitchFamily="34" charset="-122"/>
                <a:cs typeface="Calibri" pitchFamily="34" charset="-120"/>
              </a:rPr>
              <a:t>Bản chơi thử Mê cung kho báu</a:t>
            </a:r>
            <a:endParaRPr lang="en-US" sz="1300" dirty="0"/>
          </a:p>
          <a:p>
            <a:pPr marL="203200" indent="-203200">
              <a:spcAft>
                <a:spcPts val="400"/>
              </a:spcAft>
              <a:buSzPct val="100000"/>
              <a:buChar char="•"/>
            </a:pPr>
            <a:r>
              <a:rPr lang="en-US" sz="1300" dirty="0">
                <a:solidFill>
                  <a:srgbClr val="1F2A3C"/>
                </a:solidFill>
                <a:latin typeface="Calibri" pitchFamily="34" charset="0"/>
                <a:ea typeface="Calibri" pitchFamily="34" charset="-122"/>
                <a:cs typeface="Calibri" pitchFamily="34" charset="-120"/>
              </a:rPr>
              <a:t>Điều khiển, tạm dừng, lưu tiến độ</a:t>
            </a:r>
            <a:endParaRPr lang="en-US" sz="1300" dirty="0"/>
          </a:p>
          <a:p>
            <a:pPr marL="203200" indent="-203200">
              <a:spcAft>
                <a:spcPts val="400"/>
              </a:spcAft>
              <a:buSzPct val="100000"/>
              <a:buChar char="•"/>
            </a:pPr>
            <a:r>
              <a:rPr lang="en-US" sz="1300" dirty="0">
                <a:solidFill>
                  <a:srgbClr val="1F2A3C"/>
                </a:solidFill>
                <a:latin typeface="Calibri" pitchFamily="34" charset="0"/>
                <a:ea typeface="Calibri" pitchFamily="34" charset="-122"/>
                <a:cs typeface="Calibri" pitchFamily="34" charset="-120"/>
              </a:rPr>
              <a:t>Nền tảng 7 chạm trán và 21 câu hỏi mỗi màn</a:t>
            </a:r>
            <a:endParaRPr lang="en-US" sz="1300" dirty="0"/>
          </a:p>
          <a:p>
            <a:pPr marL="203200" indent="-203200">
              <a:spcAft>
                <a:spcPts val="400"/>
              </a:spcAft>
              <a:buSzPct val="100000"/>
              <a:buChar char="•"/>
            </a:pPr>
            <a:r>
              <a:rPr lang="en-US" sz="1300" dirty="0">
                <a:solidFill>
                  <a:srgbClr val="1F2A3C"/>
                </a:solidFill>
                <a:latin typeface="Calibri" pitchFamily="34" charset="0"/>
                <a:ea typeface="Calibri" pitchFamily="34" charset="-122"/>
                <a:cs typeface="Calibri" pitchFamily="34" charset="-120"/>
              </a:rPr>
              <a:t>Các đợt kiểm thử chức năng và giao diện</a:t>
            </a:r>
            <a:endParaRPr lang="en-US" sz="1300" dirty="0"/>
          </a:p>
        </p:txBody>
      </p:sp>
      <p:sp>
        <p:nvSpPr>
          <p:cNvPr id="8" name="Shape 6"/>
          <p:cNvSpPr/>
          <p:nvPr/>
        </p:nvSpPr>
        <p:spPr>
          <a:xfrm>
            <a:off x="5303520" y="1280160"/>
            <a:ext cx="3383280" cy="2560320"/>
          </a:xfrm>
          <a:prstGeom prst="roundRect">
            <a:avLst>
              <a:gd name="adj" fmla="val 4286"/>
            </a:avLst>
          </a:prstGeom>
          <a:solidFill>
            <a:srgbClr val="FDF6EC"/>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9" name="Shape 7"/>
          <p:cNvSpPr/>
          <p:nvPr/>
        </p:nvSpPr>
        <p:spPr>
          <a:xfrm>
            <a:off x="5486400" y="1389888"/>
            <a:ext cx="2372868" cy="256032"/>
          </a:xfrm>
          <a:prstGeom prst="roundRect">
            <a:avLst>
              <a:gd name="adj" fmla="val 50000"/>
            </a:avLst>
          </a:prstGeom>
          <a:solidFill>
            <a:srgbClr val="FFFFFF"/>
          </a:solidFill>
          <a:ln w="15875">
            <a:solidFill>
              <a:srgbClr val="B8561F"/>
            </a:solidFill>
            <a:prstDash val="solid"/>
          </a:ln>
        </p:spPr>
      </p:sp>
      <p:sp>
        <p:nvSpPr>
          <p:cNvPr id="10" name="Text 8"/>
          <p:cNvSpPr txBox="1"/>
          <p:nvPr/>
        </p:nvSpPr>
        <p:spPr>
          <a:xfrm>
            <a:off x="5486400" y="1389888"/>
            <a:ext cx="2372868" cy="256032"/>
          </a:xfrm>
          <a:prstGeom prst="rect">
            <a:avLst/>
          </a:prstGeom>
          <a:noFill/>
          <a:ln/>
        </p:spPr>
        <p:txBody>
          <a:bodyPr wrap="square" lIns="0" tIns="0" rIns="0" bIns="0" rtlCol="0" anchor="ctr"/>
          <a:lstStyle/>
          <a:p>
            <a:pPr algn="ctr" indent="0" marL="0">
              <a:buNone/>
            </a:pPr>
            <a:r>
              <a:rPr lang="en-US" sz="1000" b="1" dirty="0">
                <a:solidFill>
                  <a:srgbClr val="B8561F"/>
                </a:solidFill>
                <a:latin typeface="Calibri" pitchFamily="34" charset="0"/>
                <a:ea typeface="Calibri" pitchFamily="34" charset="-122"/>
                <a:cs typeface="Calibri" pitchFamily="34" charset="-120"/>
              </a:rPr>
              <a:t>ĐANG HOÀN THIỆN / CHỜ DUYỆT</a:t>
            </a:r>
            <a:endParaRPr lang="en-US" sz="1000" dirty="0"/>
          </a:p>
        </p:txBody>
      </p:sp>
      <p:sp>
        <p:nvSpPr>
          <p:cNvPr id="11" name="Text 9"/>
          <p:cNvSpPr txBox="1"/>
          <p:nvPr/>
        </p:nvSpPr>
        <p:spPr>
          <a:xfrm>
            <a:off x="5532120" y="1755648"/>
            <a:ext cx="3017520" cy="219456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F2A3C"/>
                </a:solidFill>
                <a:latin typeface="Calibri" pitchFamily="34" charset="0"/>
                <a:ea typeface="Calibri" pitchFamily="34" charset="-122"/>
                <a:cs typeface="Calibri" pitchFamily="34" charset="-120"/>
              </a:rPr>
              <a:t>Chạm trán học tập hoàn chỉnh trong Mê cung</a:t>
            </a:r>
            <a:endParaRPr lang="en-US" sz="1300" dirty="0"/>
          </a:p>
          <a:p>
            <a:pPr marL="203200" indent="-203200">
              <a:spcAft>
                <a:spcPts val="600"/>
              </a:spcAft>
              <a:buSzPct val="100000"/>
              <a:buChar char="•"/>
            </a:pPr>
            <a:r>
              <a:rPr lang="en-US" sz="1300" dirty="0">
                <a:solidFill>
                  <a:srgbClr val="1F2A3C"/>
                </a:solidFill>
                <a:latin typeface="Calibri" pitchFamily="34" charset="0"/>
                <a:ea typeface="Calibri" pitchFamily="34" charset="-122"/>
                <a:cs typeface="Calibri" pitchFamily="34" charset="-120"/>
              </a:rPr>
              <a:t>Học liệu thật chờ giáo viên duyệt</a:t>
            </a:r>
            <a:endParaRPr lang="en-US" sz="1300" dirty="0"/>
          </a:p>
          <a:p>
            <a:pPr marL="203200" indent="-203200">
              <a:spcAft>
                <a:spcPts val="600"/>
              </a:spcAft>
              <a:buSzPct val="100000"/>
              <a:buChar char="•"/>
            </a:pPr>
            <a:r>
              <a:rPr lang="en-US" sz="1300" dirty="0">
                <a:solidFill>
                  <a:srgbClr val="1F2A3C"/>
                </a:solidFill>
                <a:latin typeface="Calibri" pitchFamily="34" charset="0"/>
                <a:ea typeface="Calibri" pitchFamily="34" charset="-122"/>
                <a:cs typeface="Calibri" pitchFamily="34" charset="-120"/>
              </a:rPr>
              <a:t>Âm thanh đọc Tiếng Việt</a:t>
            </a:r>
            <a:endParaRPr lang="en-US" sz="1300" dirty="0"/>
          </a:p>
          <a:p>
            <a:pPr marL="203200" indent="-203200">
              <a:spcAft>
                <a:spcPts val="600"/>
              </a:spcAft>
              <a:buSzPct val="100000"/>
              <a:buChar char="•"/>
            </a:pPr>
            <a:r>
              <a:rPr lang="en-US" sz="1300" dirty="0">
                <a:solidFill>
                  <a:srgbClr val="1F2A3C"/>
                </a:solidFill>
                <a:latin typeface="Calibri" pitchFamily="34" charset="0"/>
                <a:ea typeface="Calibri" pitchFamily="34" charset="-122"/>
                <a:cs typeface="Calibri" pitchFamily="34" charset="-120"/>
              </a:rPr>
              <a:t>Bảng xếp hạng, vinh danh: chưa bật cho học sinh</a:t>
            </a:r>
            <a:endParaRPr lang="en-US" sz="1300" dirty="0"/>
          </a:p>
        </p:txBody>
      </p:sp>
      <p:sp>
        <p:nvSpPr>
          <p:cNvPr id="12" name="Text 10"/>
          <p:cNvSpPr txBox="1"/>
          <p:nvPr/>
        </p:nvSpPr>
        <p:spPr>
          <a:xfrm>
            <a:off x="548640" y="3977640"/>
            <a:ext cx="8138160" cy="365760"/>
          </a:xfrm>
          <a:prstGeom prst="rect">
            <a:avLst/>
          </a:prstGeom>
          <a:noFill/>
          <a:ln/>
        </p:spPr>
        <p:txBody>
          <a:bodyPr wrap="square" lIns="0" tIns="0" rIns="0" bIns="0" rtlCol="0" anchor="ctr"/>
          <a:lstStyle/>
          <a:p>
            <a:pPr indent="0" marL="0">
              <a:buNone/>
            </a:pPr>
            <a:r>
              <a:rPr lang="en-US" sz="1400" b="1" i="1" dirty="0">
                <a:solidFill>
                  <a:srgbClr val="0F2447"/>
                </a:solidFill>
                <a:latin typeface="Calibri" pitchFamily="34" charset="0"/>
                <a:ea typeface="Calibri" pitchFamily="34" charset="-122"/>
                <a:cs typeface="Calibri" pitchFamily="34" charset="-120"/>
              </a:rPr>
              <a:t>Chưa triển khai chính thức và chưa thí điểm với học sinh.</a:t>
            </a:r>
            <a:endParaRPr lang="en-US" sz="1400" dirty="0"/>
          </a:p>
        </p:txBody>
      </p:sp>
      <p:sp>
        <p:nvSpPr>
          <p:cNvPr id="13" name="Text 11"/>
          <p:cNvSpPr txBox="1"/>
          <p:nvPr/>
        </p:nvSpPr>
        <p:spPr>
          <a:xfrm>
            <a:off x="548640" y="4389120"/>
            <a:ext cx="1097280" cy="256032"/>
          </a:xfrm>
          <a:prstGeom prst="rect">
            <a:avLst/>
          </a:prstGeom>
          <a:noFill/>
          <a:ln/>
        </p:spPr>
        <p:txBody>
          <a:bodyPr wrap="square" lIns="0" tIns="0" rIns="0" bIns="0" rtlCol="0" anchor="ctr"/>
          <a:lstStyle/>
          <a:p>
            <a:pPr indent="0" marL="0">
              <a:buNone/>
            </a:pPr>
            <a:r>
              <a:rPr lang="en-US" sz="1100" dirty="0">
                <a:solidFill>
                  <a:srgbClr val="566175"/>
                </a:solidFill>
                <a:latin typeface="Calibri" pitchFamily="34" charset="0"/>
                <a:ea typeface="Calibri" pitchFamily="34" charset="-122"/>
                <a:cs typeface="Calibri" pitchFamily="34" charset="-120"/>
              </a:rPr>
              <a:t>Cách đọc nhãn:</a:t>
            </a:r>
            <a:endParaRPr lang="en-US" sz="1100" dirty="0"/>
          </a:p>
        </p:txBody>
      </p:sp>
      <p:sp>
        <p:nvSpPr>
          <p:cNvPr id="14" name="Shape 12"/>
          <p:cNvSpPr/>
          <p:nvPr/>
        </p:nvSpPr>
        <p:spPr>
          <a:xfrm>
            <a:off x="1645920" y="4389120"/>
            <a:ext cx="662940" cy="256032"/>
          </a:xfrm>
          <a:prstGeom prst="roundRect">
            <a:avLst>
              <a:gd name="adj" fmla="val 50000"/>
            </a:avLst>
          </a:prstGeom>
          <a:solidFill>
            <a:srgbClr val="FFFFFF"/>
          </a:solidFill>
          <a:ln w="15875">
            <a:solidFill>
              <a:srgbClr val="0E8A7D"/>
            </a:solidFill>
            <a:prstDash val="solid"/>
          </a:ln>
        </p:spPr>
      </p:sp>
      <p:sp>
        <p:nvSpPr>
          <p:cNvPr id="15" name="Text 13"/>
          <p:cNvSpPr txBox="1"/>
          <p:nvPr/>
        </p:nvSpPr>
        <p:spPr>
          <a:xfrm>
            <a:off x="1645920" y="4389120"/>
            <a:ext cx="662940" cy="256032"/>
          </a:xfrm>
          <a:prstGeom prst="rect">
            <a:avLst/>
          </a:prstGeom>
          <a:noFill/>
          <a:ln/>
        </p:spPr>
        <p:txBody>
          <a:bodyPr wrap="square" lIns="0" tIns="0" rIns="0" bIns="0" rtlCol="0" anchor="ctr"/>
          <a:lstStyle/>
          <a:p>
            <a:pPr algn="ctr" indent="0" marL="0">
              <a:buNone/>
            </a:pPr>
            <a:r>
              <a:rPr lang="en-US" sz="1000" b="1" dirty="0">
                <a:solidFill>
                  <a:srgbClr val="0E8A7D"/>
                </a:solidFill>
                <a:latin typeface="Calibri" pitchFamily="34" charset="0"/>
                <a:ea typeface="Calibri" pitchFamily="34" charset="-122"/>
                <a:cs typeface="Calibri" pitchFamily="34" charset="-120"/>
              </a:rPr>
              <a:t>ĐÃ CÓ</a:t>
            </a:r>
            <a:endParaRPr lang="en-US" sz="1000" dirty="0"/>
          </a:p>
        </p:txBody>
      </p:sp>
      <p:sp>
        <p:nvSpPr>
          <p:cNvPr id="16" name="Shape 14"/>
          <p:cNvSpPr/>
          <p:nvPr/>
        </p:nvSpPr>
        <p:spPr>
          <a:xfrm>
            <a:off x="2446020" y="4389120"/>
            <a:ext cx="1207008" cy="256032"/>
          </a:xfrm>
          <a:prstGeom prst="roundRect">
            <a:avLst>
              <a:gd name="adj" fmla="val 50000"/>
            </a:avLst>
          </a:prstGeom>
          <a:solidFill>
            <a:srgbClr val="FFFFFF"/>
          </a:solidFill>
          <a:ln w="15875">
            <a:solidFill>
              <a:srgbClr val="9A7416"/>
            </a:solidFill>
            <a:prstDash val="solid"/>
          </a:ln>
        </p:spPr>
      </p:sp>
      <p:sp>
        <p:nvSpPr>
          <p:cNvPr id="17" name="Text 15"/>
          <p:cNvSpPr txBox="1"/>
          <p:nvPr/>
        </p:nvSpPr>
        <p:spPr>
          <a:xfrm>
            <a:off x="2446020" y="4389120"/>
            <a:ext cx="1207008" cy="256032"/>
          </a:xfrm>
          <a:prstGeom prst="rect">
            <a:avLst/>
          </a:prstGeom>
          <a:noFill/>
          <a:ln/>
        </p:spPr>
        <p:txBody>
          <a:bodyPr wrap="square" lIns="0" tIns="0" rIns="0" bIns="0" rtlCol="0" anchor="ctr"/>
          <a:lstStyle/>
          <a:p>
            <a:pPr algn="ctr" indent="0" marL="0">
              <a:buNone/>
            </a:pPr>
            <a:r>
              <a:rPr lang="en-US" sz="1000" b="1" dirty="0">
                <a:solidFill>
                  <a:srgbClr val="9A7416"/>
                </a:solidFill>
                <a:latin typeface="Calibri" pitchFamily="34" charset="0"/>
                <a:ea typeface="Calibri" pitchFamily="34" charset="-122"/>
                <a:cs typeface="Calibri" pitchFamily="34" charset="-120"/>
              </a:rPr>
              <a:t>BẢN CHƠI THỬ</a:t>
            </a:r>
            <a:endParaRPr lang="en-US" sz="1000" dirty="0"/>
          </a:p>
        </p:txBody>
      </p:sp>
      <p:sp>
        <p:nvSpPr>
          <p:cNvPr id="18" name="Shape 16"/>
          <p:cNvSpPr/>
          <p:nvPr/>
        </p:nvSpPr>
        <p:spPr>
          <a:xfrm>
            <a:off x="3790188" y="4389120"/>
            <a:ext cx="1440180" cy="256032"/>
          </a:xfrm>
          <a:prstGeom prst="roundRect">
            <a:avLst>
              <a:gd name="adj" fmla="val 50000"/>
            </a:avLst>
          </a:prstGeom>
          <a:solidFill>
            <a:srgbClr val="FFFFFF"/>
          </a:solidFill>
          <a:ln w="15875">
            <a:solidFill>
              <a:srgbClr val="B8561F"/>
            </a:solidFill>
            <a:prstDash val="solid"/>
          </a:ln>
        </p:spPr>
      </p:sp>
      <p:sp>
        <p:nvSpPr>
          <p:cNvPr id="19" name="Text 17"/>
          <p:cNvSpPr txBox="1"/>
          <p:nvPr/>
        </p:nvSpPr>
        <p:spPr>
          <a:xfrm>
            <a:off x="3790188" y="4389120"/>
            <a:ext cx="1440180" cy="256032"/>
          </a:xfrm>
          <a:prstGeom prst="rect">
            <a:avLst/>
          </a:prstGeom>
          <a:noFill/>
          <a:ln/>
        </p:spPr>
        <p:txBody>
          <a:bodyPr wrap="square" lIns="0" tIns="0" rIns="0" bIns="0" rtlCol="0" anchor="ctr"/>
          <a:lstStyle/>
          <a:p>
            <a:pPr algn="ctr" indent="0" marL="0">
              <a:buNone/>
            </a:pPr>
            <a:r>
              <a:rPr lang="en-US" sz="1000" b="1" dirty="0">
                <a:solidFill>
                  <a:srgbClr val="B8561F"/>
                </a:solidFill>
                <a:latin typeface="Calibri" pitchFamily="34" charset="0"/>
                <a:ea typeface="Calibri" pitchFamily="34" charset="-122"/>
                <a:cs typeface="Calibri" pitchFamily="34" charset="-120"/>
              </a:rPr>
              <a:t>ĐANG HOÀN THIỆN</a:t>
            </a:r>
            <a:endParaRPr lang="en-US" sz="1000" dirty="0"/>
          </a:p>
        </p:txBody>
      </p:sp>
      <p:sp>
        <p:nvSpPr>
          <p:cNvPr id="20" name="Shape 18"/>
          <p:cNvSpPr/>
          <p:nvPr/>
        </p:nvSpPr>
        <p:spPr>
          <a:xfrm>
            <a:off x="5367528" y="4389120"/>
            <a:ext cx="818388" cy="256032"/>
          </a:xfrm>
          <a:prstGeom prst="roundRect">
            <a:avLst>
              <a:gd name="adj" fmla="val 50000"/>
            </a:avLst>
          </a:prstGeom>
          <a:solidFill>
            <a:srgbClr val="FFFFFF"/>
          </a:solidFill>
          <a:ln w="15875">
            <a:solidFill>
              <a:srgbClr val="5B6678"/>
            </a:solidFill>
            <a:prstDash val="solid"/>
          </a:ln>
        </p:spPr>
      </p:sp>
      <p:sp>
        <p:nvSpPr>
          <p:cNvPr id="21" name="Text 19"/>
          <p:cNvSpPr txBox="1"/>
          <p:nvPr/>
        </p:nvSpPr>
        <p:spPr>
          <a:xfrm>
            <a:off x="5367528" y="4389120"/>
            <a:ext cx="818388" cy="256032"/>
          </a:xfrm>
          <a:prstGeom prst="rect">
            <a:avLst/>
          </a:prstGeom>
          <a:noFill/>
          <a:ln/>
        </p:spPr>
        <p:txBody>
          <a:bodyPr wrap="square" lIns="0" tIns="0" rIns="0" bIns="0" rtlCol="0" anchor="ctr"/>
          <a:lstStyle/>
          <a:p>
            <a:pPr algn="ctr" indent="0" marL="0">
              <a:buNone/>
            </a:pPr>
            <a:r>
              <a:rPr lang="en-US" sz="1000" b="1" dirty="0">
                <a:solidFill>
                  <a:srgbClr val="5B6678"/>
                </a:solidFill>
                <a:latin typeface="Calibri" pitchFamily="34" charset="0"/>
                <a:ea typeface="Calibri" pitchFamily="34" charset="-122"/>
                <a:cs typeface="Calibri" pitchFamily="34" charset="-120"/>
              </a:rPr>
              <a:t>DỰ KIẾN</a:t>
            </a:r>
            <a:endParaRPr lang="en-US" sz="10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200" b="1" spc="300" kern="0" dirty="0">
                <a:solidFill>
                  <a:srgbClr val="C9A24A"/>
                </a:solidFill>
                <a:latin typeface="Calibri" pitchFamily="34" charset="0"/>
                <a:ea typeface="Calibri" pitchFamily="34" charset="-122"/>
                <a:cs typeface="Calibri" pitchFamily="34" charset="-120"/>
              </a:rPr>
              <a:t>LỘ TRÌNH</a:t>
            </a:r>
            <a:endParaRPr lang="en-US" sz="1200" dirty="0"/>
          </a:p>
        </p:txBody>
      </p:sp>
      <p:sp>
        <p:nvSpPr>
          <p:cNvPr id="3" name="Text 1"/>
          <p:cNvSpPr txBox="1"/>
          <p:nvPr/>
        </p:nvSpPr>
        <p:spPr>
          <a:xfrm>
            <a:off x="548640" y="548640"/>
            <a:ext cx="8046720" cy="566928"/>
          </a:xfrm>
          <a:prstGeom prst="rect">
            <a:avLst/>
          </a:prstGeom>
          <a:noFill/>
          <a:ln/>
        </p:spPr>
        <p:txBody>
          <a:bodyPr wrap="square" lIns="0" tIns="0" rIns="0" bIns="0" rtlCol="0" anchor="ctr"/>
          <a:lstStyle/>
          <a:p>
            <a:pPr indent="0" marL="0">
              <a:buNone/>
            </a:pPr>
            <a:r>
              <a:rPr lang="en-US" sz="3000" b="1" dirty="0">
                <a:solidFill>
                  <a:srgbClr val="0F2447"/>
                </a:solidFill>
                <a:latin typeface="Cambria" pitchFamily="34" charset="0"/>
                <a:ea typeface="Cambria" pitchFamily="34" charset="-122"/>
                <a:cs typeface="Cambria" pitchFamily="34" charset="-120"/>
              </a:rPr>
              <a:t>Hướng phát triển tiếp theo</a:t>
            </a:r>
            <a:endParaRPr lang="en-US" sz="3000" dirty="0"/>
          </a:p>
        </p:txBody>
      </p:sp>
      <p:sp>
        <p:nvSpPr>
          <p:cNvPr id="4" name="Shape 2"/>
          <p:cNvSpPr/>
          <p:nvPr/>
        </p:nvSpPr>
        <p:spPr>
          <a:xfrm>
            <a:off x="548640" y="1371600"/>
            <a:ext cx="1901952" cy="1737360"/>
          </a:xfrm>
          <a:prstGeom prst="roundRect">
            <a:avLst>
              <a:gd name="adj" fmla="val 6316"/>
            </a:avLst>
          </a:prstGeom>
          <a:solidFill>
            <a:srgbClr val="DDF1EE"/>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5" name="Shape 3"/>
          <p:cNvSpPr/>
          <p:nvPr/>
        </p:nvSpPr>
        <p:spPr>
          <a:xfrm>
            <a:off x="704088" y="1508760"/>
            <a:ext cx="365760" cy="365760"/>
          </a:xfrm>
          <a:prstGeom prst="ellipse">
            <a:avLst/>
          </a:prstGeom>
          <a:solidFill>
            <a:srgbClr val="0E8A7D"/>
          </a:solidFill>
          <a:ln/>
        </p:spPr>
      </p:sp>
      <p:sp>
        <p:nvSpPr>
          <p:cNvPr id="6" name="Text 4"/>
          <p:cNvSpPr txBox="1"/>
          <p:nvPr/>
        </p:nvSpPr>
        <p:spPr>
          <a:xfrm>
            <a:off x="704088" y="1508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704088" y="1965960"/>
            <a:ext cx="1645920" cy="502920"/>
          </a:xfrm>
          <a:prstGeom prst="rect">
            <a:avLst/>
          </a:prstGeom>
          <a:noFill/>
          <a:ln/>
        </p:spPr>
        <p:txBody>
          <a:bodyPr wrap="square" lIns="0" tIns="0" rIns="0" bIns="0" rtlCol="0" anchor="t"/>
          <a:lstStyle/>
          <a:p>
            <a:pPr indent="0" marL="0">
              <a:buNone/>
            </a:pPr>
            <a:r>
              <a:rPr lang="en-US" sz="1400" b="1" dirty="0">
                <a:solidFill>
                  <a:srgbClr val="0F2447"/>
                </a:solidFill>
                <a:latin typeface="Cambria" pitchFamily="34" charset="0"/>
                <a:ea typeface="Cambria" pitchFamily="34" charset="-122"/>
                <a:cs typeface="Cambria" pitchFamily="34" charset="-120"/>
              </a:rPr>
              <a:t>Hoàn thiện Mê cung</a:t>
            </a:r>
            <a:endParaRPr lang="en-US" sz="1400" dirty="0"/>
          </a:p>
        </p:txBody>
      </p:sp>
      <p:sp>
        <p:nvSpPr>
          <p:cNvPr id="8" name="Text 6"/>
          <p:cNvSpPr txBox="1"/>
          <p:nvPr/>
        </p:nvSpPr>
        <p:spPr>
          <a:xfrm>
            <a:off x="704088" y="2487168"/>
            <a:ext cx="1645920" cy="548640"/>
          </a:xfrm>
          <a:prstGeom prst="rect">
            <a:avLst/>
          </a:prstGeom>
          <a:noFill/>
          <a:ln/>
        </p:spPr>
        <p:txBody>
          <a:bodyPr wrap="square" lIns="0" tIns="0" rIns="0" bIns="0" rtlCol="0" anchor="t"/>
          <a:lstStyle/>
          <a:p>
            <a:pPr indent="0" marL="0">
              <a:buNone/>
            </a:pPr>
            <a:r>
              <a:rPr lang="en-US" sz="1100" dirty="0">
                <a:solidFill>
                  <a:srgbClr val="566175"/>
                </a:solidFill>
                <a:latin typeface="Calibri" pitchFamily="34" charset="0"/>
                <a:ea typeface="Calibri" pitchFamily="34" charset="-122"/>
                <a:cs typeface="Calibri" pitchFamily="34" charset="-120"/>
              </a:rPr>
              <a:t>Chạm trán, chấm điểm, kho báu</a:t>
            </a:r>
            <a:endParaRPr lang="en-US" sz="1100" dirty="0"/>
          </a:p>
        </p:txBody>
      </p:sp>
      <p:sp>
        <p:nvSpPr>
          <p:cNvPr id="9" name="Shape 7"/>
          <p:cNvSpPr/>
          <p:nvPr/>
        </p:nvSpPr>
        <p:spPr>
          <a:xfrm rot="5400000">
            <a:off x="2468880" y="2148840"/>
            <a:ext cx="128016" cy="182880"/>
          </a:xfrm>
          <a:prstGeom prst="triangle">
            <a:avLst/>
          </a:prstGeom>
          <a:solidFill>
            <a:srgbClr val="C9A24A"/>
          </a:solidFill>
          <a:ln/>
        </p:spPr>
      </p:sp>
      <p:sp>
        <p:nvSpPr>
          <p:cNvPr id="10" name="Shape 8"/>
          <p:cNvSpPr/>
          <p:nvPr/>
        </p:nvSpPr>
        <p:spPr>
          <a:xfrm>
            <a:off x="2633472" y="1371600"/>
            <a:ext cx="1901952" cy="1737360"/>
          </a:xfrm>
          <a:prstGeom prst="roundRect">
            <a:avLst>
              <a:gd name="adj" fmla="val 6316"/>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1" name="Shape 9"/>
          <p:cNvSpPr/>
          <p:nvPr/>
        </p:nvSpPr>
        <p:spPr>
          <a:xfrm>
            <a:off x="2788920" y="1508760"/>
            <a:ext cx="365760" cy="365760"/>
          </a:xfrm>
          <a:prstGeom prst="ellipse">
            <a:avLst/>
          </a:prstGeom>
          <a:solidFill>
            <a:srgbClr val="1D3B6E"/>
          </a:solidFill>
          <a:ln/>
        </p:spPr>
      </p:sp>
      <p:sp>
        <p:nvSpPr>
          <p:cNvPr id="12" name="Text 10"/>
          <p:cNvSpPr txBox="1"/>
          <p:nvPr/>
        </p:nvSpPr>
        <p:spPr>
          <a:xfrm>
            <a:off x="2788920" y="1508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788920" y="1965960"/>
            <a:ext cx="1645920" cy="502920"/>
          </a:xfrm>
          <a:prstGeom prst="rect">
            <a:avLst/>
          </a:prstGeom>
          <a:noFill/>
          <a:ln/>
        </p:spPr>
        <p:txBody>
          <a:bodyPr wrap="square" lIns="0" tIns="0" rIns="0" bIns="0" rtlCol="0" anchor="t"/>
          <a:lstStyle/>
          <a:p>
            <a:pPr indent="0" marL="0">
              <a:buNone/>
            </a:pPr>
            <a:r>
              <a:rPr lang="en-US" sz="1400" b="1" dirty="0">
                <a:solidFill>
                  <a:srgbClr val="0F2447"/>
                </a:solidFill>
                <a:latin typeface="Cambria" pitchFamily="34" charset="0"/>
                <a:ea typeface="Cambria" pitchFamily="34" charset="-122"/>
                <a:cs typeface="Cambria" pitchFamily="34" charset="-120"/>
              </a:rPr>
              <a:t>Âm thanh và học liệu</a:t>
            </a:r>
            <a:endParaRPr lang="en-US" sz="1400" dirty="0"/>
          </a:p>
        </p:txBody>
      </p:sp>
      <p:sp>
        <p:nvSpPr>
          <p:cNvPr id="14" name="Text 12"/>
          <p:cNvSpPr txBox="1"/>
          <p:nvPr/>
        </p:nvSpPr>
        <p:spPr>
          <a:xfrm>
            <a:off x="2788920" y="2487168"/>
            <a:ext cx="1645920" cy="548640"/>
          </a:xfrm>
          <a:prstGeom prst="rect">
            <a:avLst/>
          </a:prstGeom>
          <a:noFill/>
          <a:ln/>
        </p:spPr>
        <p:txBody>
          <a:bodyPr wrap="square" lIns="0" tIns="0" rIns="0" bIns="0" rtlCol="0" anchor="t"/>
          <a:lstStyle/>
          <a:p>
            <a:pPr indent="0" marL="0">
              <a:buNone/>
            </a:pPr>
            <a:r>
              <a:rPr lang="en-US" sz="1100" dirty="0">
                <a:solidFill>
                  <a:srgbClr val="566175"/>
                </a:solidFill>
                <a:latin typeface="Calibri" pitchFamily="34" charset="0"/>
                <a:ea typeface="Calibri" pitchFamily="34" charset="-122"/>
                <a:cs typeface="Calibri" pitchFamily="34" charset="-120"/>
              </a:rPr>
              <a:t>Bổ sung âm thanh; giáo viên duyệt nội dung</a:t>
            </a:r>
            <a:endParaRPr lang="en-US" sz="1100" dirty="0"/>
          </a:p>
        </p:txBody>
      </p:sp>
      <p:sp>
        <p:nvSpPr>
          <p:cNvPr id="15" name="Shape 13"/>
          <p:cNvSpPr/>
          <p:nvPr/>
        </p:nvSpPr>
        <p:spPr>
          <a:xfrm rot="5400000">
            <a:off x="4553712" y="2148840"/>
            <a:ext cx="128016" cy="182880"/>
          </a:xfrm>
          <a:prstGeom prst="triangle">
            <a:avLst/>
          </a:prstGeom>
          <a:solidFill>
            <a:srgbClr val="C9A24A"/>
          </a:solidFill>
          <a:ln/>
        </p:spPr>
      </p:sp>
      <p:sp>
        <p:nvSpPr>
          <p:cNvPr id="16" name="Shape 14"/>
          <p:cNvSpPr/>
          <p:nvPr/>
        </p:nvSpPr>
        <p:spPr>
          <a:xfrm>
            <a:off x="4718304" y="1371600"/>
            <a:ext cx="1901952" cy="1737360"/>
          </a:xfrm>
          <a:prstGeom prst="roundRect">
            <a:avLst>
              <a:gd name="adj" fmla="val 6316"/>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17" name="Shape 15"/>
          <p:cNvSpPr/>
          <p:nvPr/>
        </p:nvSpPr>
        <p:spPr>
          <a:xfrm>
            <a:off x="4873752" y="1508760"/>
            <a:ext cx="365760" cy="365760"/>
          </a:xfrm>
          <a:prstGeom prst="ellipse">
            <a:avLst/>
          </a:prstGeom>
          <a:solidFill>
            <a:srgbClr val="1D3B6E"/>
          </a:solidFill>
          <a:ln/>
        </p:spPr>
      </p:sp>
      <p:sp>
        <p:nvSpPr>
          <p:cNvPr id="18" name="Text 16"/>
          <p:cNvSpPr txBox="1"/>
          <p:nvPr/>
        </p:nvSpPr>
        <p:spPr>
          <a:xfrm>
            <a:off x="4873752" y="1508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4873752" y="1965960"/>
            <a:ext cx="1645920" cy="502920"/>
          </a:xfrm>
          <a:prstGeom prst="rect">
            <a:avLst/>
          </a:prstGeom>
          <a:noFill/>
          <a:ln/>
        </p:spPr>
        <p:txBody>
          <a:bodyPr wrap="square" lIns="0" tIns="0" rIns="0" bIns="0" rtlCol="0" anchor="t"/>
          <a:lstStyle/>
          <a:p>
            <a:pPr indent="0" marL="0">
              <a:buNone/>
            </a:pPr>
            <a:r>
              <a:rPr lang="en-US" sz="1400" b="1" dirty="0">
                <a:solidFill>
                  <a:srgbClr val="0F2447"/>
                </a:solidFill>
                <a:latin typeface="Cambria" pitchFamily="34" charset="0"/>
                <a:ea typeface="Cambria" pitchFamily="34" charset="-122"/>
                <a:cs typeface="Cambria" pitchFamily="34" charset="-120"/>
              </a:rPr>
              <a:t>Kiểm thử tổng thể</a:t>
            </a:r>
            <a:endParaRPr lang="en-US" sz="1400" dirty="0"/>
          </a:p>
        </p:txBody>
      </p:sp>
      <p:sp>
        <p:nvSpPr>
          <p:cNvPr id="20" name="Text 18"/>
          <p:cNvSpPr txBox="1"/>
          <p:nvPr/>
        </p:nvSpPr>
        <p:spPr>
          <a:xfrm>
            <a:off x="4873752" y="2487168"/>
            <a:ext cx="1645920" cy="548640"/>
          </a:xfrm>
          <a:prstGeom prst="rect">
            <a:avLst/>
          </a:prstGeom>
          <a:noFill/>
          <a:ln/>
        </p:spPr>
        <p:txBody>
          <a:bodyPr wrap="square" lIns="0" tIns="0" rIns="0" bIns="0" rtlCol="0" anchor="t"/>
          <a:lstStyle/>
          <a:p>
            <a:pPr indent="0" marL="0">
              <a:buNone/>
            </a:pPr>
            <a:r>
              <a:rPr lang="en-US" sz="1100" dirty="0">
                <a:solidFill>
                  <a:srgbClr val="566175"/>
                </a:solidFill>
                <a:latin typeface="Calibri" pitchFamily="34" charset="0"/>
                <a:ea typeface="Calibri" pitchFamily="34" charset="-122"/>
                <a:cs typeface="Calibri" pitchFamily="34" charset="-120"/>
              </a:rPr>
              <a:t>Rà soát an toàn, giao diện, thiết bị</a:t>
            </a:r>
            <a:endParaRPr lang="en-US" sz="1100" dirty="0"/>
          </a:p>
        </p:txBody>
      </p:sp>
      <p:sp>
        <p:nvSpPr>
          <p:cNvPr id="21" name="Shape 19"/>
          <p:cNvSpPr/>
          <p:nvPr/>
        </p:nvSpPr>
        <p:spPr>
          <a:xfrm rot="5400000">
            <a:off x="6638544" y="2148840"/>
            <a:ext cx="128016" cy="182880"/>
          </a:xfrm>
          <a:prstGeom prst="triangle">
            <a:avLst/>
          </a:prstGeom>
          <a:solidFill>
            <a:srgbClr val="C9A24A"/>
          </a:solidFill>
          <a:ln/>
        </p:spPr>
      </p:sp>
      <p:sp>
        <p:nvSpPr>
          <p:cNvPr id="22" name="Shape 20"/>
          <p:cNvSpPr/>
          <p:nvPr/>
        </p:nvSpPr>
        <p:spPr>
          <a:xfrm>
            <a:off x="6803136" y="1371600"/>
            <a:ext cx="1901952" cy="1737360"/>
          </a:xfrm>
          <a:prstGeom prst="roundRect">
            <a:avLst>
              <a:gd name="adj" fmla="val 6316"/>
            </a:avLst>
          </a:prstGeom>
          <a:solidFill>
            <a:srgbClr val="FFFFFF"/>
          </a:solidFill>
          <a:ln w="9525">
            <a:solidFill>
              <a:srgbClr val="E7E1D3"/>
            </a:solidFill>
            <a:prstDash val="solid"/>
          </a:ln>
          <a:effectLst>
            <a:outerShdw sx="100000" sy="100000" kx="0" ky="0" algn="bl" rotWithShape="0" blurRad="101600" dist="25400" dir="5400000">
              <a:srgbClr val="1F2A3C">
                <a:alpha val="14000"/>
              </a:srgbClr>
            </a:outerShdw>
          </a:effectLst>
        </p:spPr>
      </p:sp>
      <p:sp>
        <p:nvSpPr>
          <p:cNvPr id="23" name="Shape 21"/>
          <p:cNvSpPr/>
          <p:nvPr/>
        </p:nvSpPr>
        <p:spPr>
          <a:xfrm>
            <a:off x="6958584" y="1508760"/>
            <a:ext cx="365760" cy="365760"/>
          </a:xfrm>
          <a:prstGeom prst="ellipse">
            <a:avLst/>
          </a:prstGeom>
          <a:solidFill>
            <a:srgbClr val="1D3B6E"/>
          </a:solidFill>
          <a:ln/>
        </p:spPr>
      </p:sp>
      <p:sp>
        <p:nvSpPr>
          <p:cNvPr id="24" name="Text 22"/>
          <p:cNvSpPr txBox="1"/>
          <p:nvPr/>
        </p:nvSpPr>
        <p:spPr>
          <a:xfrm>
            <a:off x="6958584" y="1508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6958584" y="1965960"/>
            <a:ext cx="1645920" cy="502920"/>
          </a:xfrm>
          <a:prstGeom prst="rect">
            <a:avLst/>
          </a:prstGeom>
          <a:noFill/>
          <a:ln/>
        </p:spPr>
        <p:txBody>
          <a:bodyPr wrap="square" lIns="0" tIns="0" rIns="0" bIns="0" rtlCol="0" anchor="t"/>
          <a:lstStyle/>
          <a:p>
            <a:pPr indent="0" marL="0">
              <a:buNone/>
            </a:pPr>
            <a:r>
              <a:rPr lang="en-US" sz="1400" b="1" dirty="0">
                <a:solidFill>
                  <a:srgbClr val="0F2447"/>
                </a:solidFill>
                <a:latin typeface="Cambria" pitchFamily="34" charset="0"/>
                <a:ea typeface="Cambria" pitchFamily="34" charset="-122"/>
                <a:cs typeface="Cambria" pitchFamily="34" charset="-120"/>
              </a:rPr>
              <a:t>Đưa vào sử dụng</a:t>
            </a:r>
            <a:endParaRPr lang="en-US" sz="1400" dirty="0"/>
          </a:p>
        </p:txBody>
      </p:sp>
      <p:sp>
        <p:nvSpPr>
          <p:cNvPr id="26" name="Text 24"/>
          <p:cNvSpPr txBox="1"/>
          <p:nvPr/>
        </p:nvSpPr>
        <p:spPr>
          <a:xfrm>
            <a:off x="6958584" y="2487168"/>
            <a:ext cx="1645920" cy="548640"/>
          </a:xfrm>
          <a:prstGeom prst="rect">
            <a:avLst/>
          </a:prstGeom>
          <a:noFill/>
          <a:ln/>
        </p:spPr>
        <p:txBody>
          <a:bodyPr wrap="square" lIns="0" tIns="0" rIns="0" bIns="0" rtlCol="0" anchor="t"/>
          <a:lstStyle/>
          <a:p>
            <a:pPr indent="0" marL="0">
              <a:buNone/>
            </a:pPr>
            <a:r>
              <a:rPr lang="en-US" sz="1100" dirty="0">
                <a:solidFill>
                  <a:srgbClr val="566175"/>
                </a:solidFill>
                <a:latin typeface="Calibri" pitchFamily="34" charset="0"/>
                <a:ea typeface="Calibri" pitchFamily="34" charset="-122"/>
                <a:cs typeface="Calibri" pitchFamily="34" charset="-120"/>
              </a:rPr>
              <a:t>Theo kế hoạch, từng bước</a:t>
            </a:r>
            <a:endParaRPr lang="en-US" sz="1100" dirty="0"/>
          </a:p>
        </p:txBody>
      </p:sp>
      <p:sp>
        <p:nvSpPr>
          <p:cNvPr id="27" name="Text 25"/>
          <p:cNvSpPr txBox="1"/>
          <p:nvPr/>
        </p:nvSpPr>
        <p:spPr>
          <a:xfrm>
            <a:off x="548640" y="3337560"/>
            <a:ext cx="4572000" cy="292608"/>
          </a:xfrm>
          <a:prstGeom prst="rect">
            <a:avLst/>
          </a:prstGeom>
          <a:noFill/>
          <a:ln/>
        </p:spPr>
        <p:txBody>
          <a:bodyPr wrap="square" lIns="0" tIns="0" rIns="0" bIns="0" rtlCol="0" anchor="ctr"/>
          <a:lstStyle/>
          <a:p>
            <a:pPr indent="0" marL="0">
              <a:buNone/>
            </a:pPr>
            <a:r>
              <a:rPr lang="en-US" sz="1500" b="1" dirty="0">
                <a:solidFill>
                  <a:srgbClr val="0F2447"/>
                </a:solidFill>
                <a:latin typeface="Cambria" pitchFamily="34" charset="0"/>
                <a:ea typeface="Cambria" pitchFamily="34" charset="-122"/>
                <a:cs typeface="Cambria" pitchFamily="34" charset="-120"/>
              </a:rPr>
              <a:t>Định hướng phát triển sau</a:t>
            </a:r>
            <a:endParaRPr lang="en-US" sz="1500" dirty="0"/>
          </a:p>
        </p:txBody>
      </p:sp>
      <p:sp>
        <p:nvSpPr>
          <p:cNvPr id="28" name="Shape 26"/>
          <p:cNvSpPr/>
          <p:nvPr/>
        </p:nvSpPr>
        <p:spPr>
          <a:xfrm>
            <a:off x="548640" y="3749040"/>
            <a:ext cx="2560320" cy="594360"/>
          </a:xfrm>
          <a:prstGeom prst="roundRect">
            <a:avLst>
              <a:gd name="adj" fmla="val 18462"/>
            </a:avLst>
          </a:prstGeom>
          <a:solidFill>
            <a:srgbClr val="ECE8F6"/>
          </a:solidFill>
          <a:ln w="12700">
            <a:solidFill>
              <a:srgbClr val="CFC6EA"/>
            </a:solidFill>
            <a:prstDash val="solid"/>
          </a:ln>
        </p:spPr>
      </p:sp>
      <p:sp>
        <p:nvSpPr>
          <p:cNvPr id="29" name="Text 27"/>
          <p:cNvSpPr txBox="1"/>
          <p:nvPr/>
        </p:nvSpPr>
        <p:spPr>
          <a:xfrm>
            <a:off x="548640" y="3749040"/>
            <a:ext cx="2560320" cy="594360"/>
          </a:xfrm>
          <a:prstGeom prst="rect">
            <a:avLst/>
          </a:prstGeom>
          <a:noFill/>
          <a:ln/>
        </p:spPr>
        <p:txBody>
          <a:bodyPr wrap="square" lIns="0" tIns="0" rIns="0" bIns="0" rtlCol="0" anchor="ctr"/>
          <a:lstStyle/>
          <a:p>
            <a:pPr algn="ctr" indent="0" marL="0">
              <a:buNone/>
            </a:pPr>
            <a:r>
              <a:rPr lang="en-US" sz="1400" b="1" dirty="0">
                <a:solidFill>
                  <a:srgbClr val="1D3B6E"/>
                </a:solidFill>
                <a:latin typeface="Cambria" pitchFamily="34" charset="0"/>
                <a:ea typeface="Cambria" pitchFamily="34" charset="-122"/>
                <a:cs typeface="Cambria" pitchFamily="34" charset="-120"/>
              </a:rPr>
              <a:t>Rừng chữ kỳ diệu</a:t>
            </a:r>
            <a:endParaRPr lang="en-US" sz="1400" dirty="0"/>
          </a:p>
        </p:txBody>
      </p:sp>
      <p:sp>
        <p:nvSpPr>
          <p:cNvPr id="30" name="Shape 28"/>
          <p:cNvSpPr/>
          <p:nvPr/>
        </p:nvSpPr>
        <p:spPr>
          <a:xfrm>
            <a:off x="3291840" y="3749040"/>
            <a:ext cx="2560320" cy="594360"/>
          </a:xfrm>
          <a:prstGeom prst="roundRect">
            <a:avLst>
              <a:gd name="adj" fmla="val 18462"/>
            </a:avLst>
          </a:prstGeom>
          <a:solidFill>
            <a:srgbClr val="ECE8F6"/>
          </a:solidFill>
          <a:ln w="12700">
            <a:solidFill>
              <a:srgbClr val="CFC6EA"/>
            </a:solidFill>
            <a:prstDash val="solid"/>
          </a:ln>
        </p:spPr>
      </p:sp>
      <p:sp>
        <p:nvSpPr>
          <p:cNvPr id="31" name="Text 29"/>
          <p:cNvSpPr txBox="1"/>
          <p:nvPr/>
        </p:nvSpPr>
        <p:spPr>
          <a:xfrm>
            <a:off x="3291840" y="3749040"/>
            <a:ext cx="2560320" cy="594360"/>
          </a:xfrm>
          <a:prstGeom prst="rect">
            <a:avLst/>
          </a:prstGeom>
          <a:noFill/>
          <a:ln/>
        </p:spPr>
        <p:txBody>
          <a:bodyPr wrap="square" lIns="0" tIns="0" rIns="0" bIns="0" rtlCol="0" anchor="ctr"/>
          <a:lstStyle/>
          <a:p>
            <a:pPr algn="ctr" indent="0" marL="0">
              <a:buNone/>
            </a:pPr>
            <a:r>
              <a:rPr lang="en-US" sz="1400" b="1" dirty="0">
                <a:solidFill>
                  <a:srgbClr val="1D3B6E"/>
                </a:solidFill>
                <a:latin typeface="Cambria" pitchFamily="34" charset="0"/>
                <a:ea typeface="Cambria" pitchFamily="34" charset="-122"/>
                <a:cs typeface="Cambria" pitchFamily="34" charset="-120"/>
              </a:rPr>
              <a:t>Đảo dấu thanh</a:t>
            </a:r>
            <a:endParaRPr lang="en-US" sz="1400" dirty="0"/>
          </a:p>
        </p:txBody>
      </p:sp>
      <p:sp>
        <p:nvSpPr>
          <p:cNvPr id="32" name="Shape 30"/>
          <p:cNvSpPr/>
          <p:nvPr/>
        </p:nvSpPr>
        <p:spPr>
          <a:xfrm>
            <a:off x="6035040" y="3749040"/>
            <a:ext cx="2560320" cy="594360"/>
          </a:xfrm>
          <a:prstGeom prst="roundRect">
            <a:avLst>
              <a:gd name="adj" fmla="val 18462"/>
            </a:avLst>
          </a:prstGeom>
          <a:solidFill>
            <a:srgbClr val="ECE8F6"/>
          </a:solidFill>
          <a:ln w="12700">
            <a:solidFill>
              <a:srgbClr val="CFC6EA"/>
            </a:solidFill>
            <a:prstDash val="solid"/>
          </a:ln>
        </p:spPr>
      </p:sp>
      <p:sp>
        <p:nvSpPr>
          <p:cNvPr id="33" name="Text 31"/>
          <p:cNvSpPr txBox="1"/>
          <p:nvPr/>
        </p:nvSpPr>
        <p:spPr>
          <a:xfrm>
            <a:off x="6035040" y="3749040"/>
            <a:ext cx="2560320" cy="594360"/>
          </a:xfrm>
          <a:prstGeom prst="rect">
            <a:avLst/>
          </a:prstGeom>
          <a:noFill/>
          <a:ln/>
        </p:spPr>
        <p:txBody>
          <a:bodyPr wrap="square" lIns="0" tIns="0" rIns="0" bIns="0" rtlCol="0" anchor="ctr"/>
          <a:lstStyle/>
          <a:p>
            <a:pPr algn="ctr" indent="0" marL="0">
              <a:buNone/>
            </a:pPr>
            <a:r>
              <a:rPr lang="en-US" sz="1400" b="1" dirty="0">
                <a:solidFill>
                  <a:srgbClr val="1D3B6E"/>
                </a:solidFill>
                <a:latin typeface="Cambria" pitchFamily="34" charset="0"/>
                <a:ea typeface="Cambria" pitchFamily="34" charset="-122"/>
                <a:cs typeface="Cambria" pitchFamily="34" charset="-120"/>
              </a:rPr>
              <a:t>Lâu đài ghép vần</a:t>
            </a:r>
            <a:endParaRPr lang="en-US" sz="1400" dirty="0"/>
          </a:p>
        </p:txBody>
      </p:sp>
      <p:sp>
        <p:nvSpPr>
          <p:cNvPr id="34" name="Shape 32"/>
          <p:cNvSpPr/>
          <p:nvPr/>
        </p:nvSpPr>
        <p:spPr>
          <a:xfrm>
            <a:off x="3246120" y="3374136"/>
            <a:ext cx="1595628" cy="256032"/>
          </a:xfrm>
          <a:prstGeom prst="roundRect">
            <a:avLst>
              <a:gd name="adj" fmla="val 50000"/>
            </a:avLst>
          </a:prstGeom>
          <a:solidFill>
            <a:srgbClr val="FFFFFF"/>
          </a:solidFill>
          <a:ln w="15875">
            <a:solidFill>
              <a:srgbClr val="5B6678"/>
            </a:solidFill>
            <a:prstDash val="solid"/>
          </a:ln>
        </p:spPr>
      </p:sp>
      <p:sp>
        <p:nvSpPr>
          <p:cNvPr id="35" name="Text 33"/>
          <p:cNvSpPr txBox="1"/>
          <p:nvPr/>
        </p:nvSpPr>
        <p:spPr>
          <a:xfrm>
            <a:off x="3246120" y="3374136"/>
            <a:ext cx="1595628" cy="256032"/>
          </a:xfrm>
          <a:prstGeom prst="rect">
            <a:avLst/>
          </a:prstGeom>
          <a:noFill/>
          <a:ln/>
        </p:spPr>
        <p:txBody>
          <a:bodyPr wrap="square" lIns="0" tIns="0" rIns="0" bIns="0" rtlCol="0" anchor="ctr"/>
          <a:lstStyle/>
          <a:p>
            <a:pPr algn="ctr" indent="0" marL="0">
              <a:buNone/>
            </a:pPr>
            <a:r>
              <a:rPr lang="en-US" sz="1000" b="1" dirty="0">
                <a:solidFill>
                  <a:srgbClr val="5B6678"/>
                </a:solidFill>
                <a:latin typeface="Calibri" pitchFamily="34" charset="0"/>
                <a:ea typeface="Calibri" pitchFamily="34" charset="-122"/>
                <a:cs typeface="Calibri" pitchFamily="34" charset="-120"/>
              </a:rPr>
              <a:t>SAU KHI NỘP DỰ ÁN</a:t>
            </a:r>
            <a:endParaRPr lang="en-US" sz="1000" dirty="0"/>
          </a:p>
        </p:txBody>
      </p:sp>
      <p:sp>
        <p:nvSpPr>
          <p:cNvPr id="25" name="Slide Number Placeholder 0"/>
          <p:cNvSpPr>
            <a:spLocks noGrp="1"/>
          </p:cNvSpPr>
          <p:nvPr>
            <p:ph type="sldNum" sz="quarter" idx="4294967295"/>
          </p:nvPr>
        </p:nvSpPr>
        <p:spPr>
          <a:xfrm>
            <a:off x="822960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661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1371600" y="2377440"/>
            <a:ext cx="5486400" cy="5486400"/>
          </a:xfrm>
          <a:prstGeom prst="ellipse">
            <a:avLst/>
          </a:prstGeom>
          <a:solidFill>
            <a:srgbClr val="1D3B6E">
              <a:alpha val="55000"/>
            </a:srgbClr>
          </a:solidFill>
          <a:ln/>
        </p:spPr>
      </p:sp>
      <p:sp>
        <p:nvSpPr>
          <p:cNvPr id="3" name="Text 1"/>
          <p:cNvSpPr txBox="1"/>
          <p:nvPr/>
        </p:nvSpPr>
        <p:spPr>
          <a:xfrm>
            <a:off x="640080" y="548640"/>
            <a:ext cx="7863840" cy="320040"/>
          </a:xfrm>
          <a:prstGeom prst="rect">
            <a:avLst/>
          </a:prstGeom>
          <a:noFill/>
          <a:ln/>
        </p:spPr>
        <p:txBody>
          <a:bodyPr wrap="square" lIns="0" tIns="0" rIns="0" bIns="0" rtlCol="0" anchor="ctr"/>
          <a:lstStyle/>
          <a:p>
            <a:pPr algn="ctr" indent="0" marL="0">
              <a:buNone/>
            </a:pPr>
            <a:r>
              <a:rPr lang="en-US" sz="1400" b="1" spc="500" kern="0" dirty="0">
                <a:solidFill>
                  <a:srgbClr val="C9A24A"/>
                </a:solidFill>
                <a:latin typeface="Calibri" pitchFamily="34" charset="0"/>
                <a:ea typeface="Calibri" pitchFamily="34" charset="-122"/>
                <a:cs typeface="Calibri" pitchFamily="34" charset="-120"/>
              </a:rPr>
              <a:t>READMATE AI</a:t>
            </a:r>
            <a:endParaRPr lang="en-US" sz="1400" dirty="0"/>
          </a:p>
        </p:txBody>
      </p:sp>
      <p:sp>
        <p:nvSpPr>
          <p:cNvPr id="4" name="Text 2"/>
          <p:cNvSpPr txBox="1"/>
          <p:nvPr/>
        </p:nvSpPr>
        <p:spPr>
          <a:xfrm>
            <a:off x="1097280" y="960120"/>
            <a:ext cx="6949440" cy="12801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Để mỗi ngày luyện đọc là một hành trình thú vị</a:t>
            </a:r>
            <a:endParaRPr lang="en-US" sz="3400" dirty="0"/>
          </a:p>
        </p:txBody>
      </p:sp>
      <p:pic>
        <p:nvPicPr>
          <p:cNvPr id="5" name="Image 0" descr="Bạn nhỏ thám hiểm">    </p:cNvPr>
          <p:cNvPicPr>
            <a:picLocks noChangeAspect="1"/>
          </p:cNvPicPr>
          <p:nvPr/>
        </p:nvPicPr>
        <p:blipFill>
          <a:blip r:embed="rId1"/>
          <a:stretch>
            <a:fillRect/>
          </a:stretch>
        </p:blipFill>
        <p:spPr>
          <a:xfrm>
            <a:off x="1737360" y="2331720"/>
            <a:ext cx="1737360" cy="1737360"/>
          </a:xfrm>
          <a:prstGeom prst="rect">
            <a:avLst/>
          </a:prstGeom>
        </p:spPr>
      </p:pic>
      <p:pic>
        <p:nvPicPr>
          <p:cNvPr id="6" name="Image 1" descr="Cú Bông">    </p:cNvPr>
          <p:cNvPicPr>
            <a:picLocks noChangeAspect="1"/>
          </p:cNvPicPr>
          <p:nvPr/>
        </p:nvPicPr>
        <p:blipFill>
          <a:blip r:embed="rId2"/>
          <a:stretch>
            <a:fillRect/>
          </a:stretch>
        </p:blipFill>
        <p:spPr>
          <a:xfrm>
            <a:off x="3703320" y="2331720"/>
            <a:ext cx="1737360" cy="1737360"/>
          </a:xfrm>
          <a:prstGeom prst="rect">
            <a:avLst/>
          </a:prstGeom>
        </p:spPr>
      </p:pic>
      <p:pic>
        <p:nvPicPr>
          <p:cNvPr id="7" name="Image 2" descr="Bạn quái vật">    </p:cNvPr>
          <p:cNvPicPr>
            <a:picLocks noChangeAspect="1"/>
          </p:cNvPicPr>
          <p:nvPr/>
        </p:nvPicPr>
        <p:blipFill>
          <a:blip r:embed="rId3"/>
          <a:stretch>
            <a:fillRect/>
          </a:stretch>
        </p:blipFill>
        <p:spPr>
          <a:xfrm>
            <a:off x="5669280" y="2331720"/>
            <a:ext cx="1737360" cy="1737360"/>
          </a:xfrm>
          <a:prstGeom prst="rect">
            <a:avLst/>
          </a:prstGeom>
        </p:spPr>
      </p:pic>
      <p:sp>
        <p:nvSpPr>
          <p:cNvPr id="8" name="Text 3"/>
          <p:cNvSpPr txBox="1"/>
          <p:nvPr/>
        </p:nvSpPr>
        <p:spPr>
          <a:xfrm>
            <a:off x="1097280" y="4114800"/>
            <a:ext cx="6949440" cy="548640"/>
          </a:xfrm>
          <a:prstGeom prst="rect">
            <a:avLst/>
          </a:prstGeom>
          <a:noFill/>
          <a:ln/>
        </p:spPr>
        <p:txBody>
          <a:bodyPr wrap="square" lIns="0" tIns="0" rIns="0" bIns="0" rtlCol="0" anchor="ctr"/>
          <a:lstStyle/>
          <a:p>
            <a:pPr algn="ctr" indent="0" marL="0">
              <a:buNone/>
            </a:pPr>
            <a:r>
              <a:rPr lang="en-US" sz="2400" i="1" dirty="0">
                <a:solidFill>
                  <a:srgbClr val="C9A24A"/>
                </a:solidFill>
                <a:latin typeface="Cambria" pitchFamily="34" charset="0"/>
                <a:ea typeface="Cambria" pitchFamily="34" charset="-122"/>
                <a:cs typeface="Cambria" pitchFamily="34" charset="-120"/>
              </a:rPr>
              <a:t>Xin trân trọng cảm ơn!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ReadMate AI — Báo cáo dự án</dc:title>
  <dc:subject>Học Tiếng Việt qua hành trình khám phá</dc:subject>
  <dc:creator>Nhóm dự án ReadMate AI</dc:creator>
  <cp:lastModifiedBy>Nhóm dự án ReadMate AI</cp:lastModifiedBy>
  <cp:revision>1</cp:revision>
  <dcterms:created xsi:type="dcterms:W3CDTF">2026-10-22T12:10:02Z</dcterms:created>
  <dcterms:modified xsi:type="dcterms:W3CDTF">2026-10-22T12:10:02Z</dcterms:modified>
</cp:coreProperties>
</file>