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thầy cô và hội đồng. Em xin giới thiệu ReadMate AI: một nền tảng giúp học sinh lớp 1 tự luyện Tiếng Việt tại nhà, theo cách giống một hành trình khám phá hơn là một bài tập. Toàn bộ hình ảnh trong bài là ảnh chụp từ bản chơi thử của dự án, với dữ liệu minh họa hư cấu.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lớp 1, các em cần luyện chữ, vần và đọc trơn thật đều đặn. Nhưng luyện ở nhà thường gặp ba vấn đề: bài tập đơn điệu khiến trẻ mau chán, phụ huynh không phải lúc nào cũng biết cách đồng hành, và giáo viên khó nắm các em đang luyện ra sao. Chúng em không nhìn đây là lỗi của học sinh, mà là nhu cầu cần được hỗ trợ tốt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đó, chúng em đặt ra ba giá trị. Thứ nhất, học dễ hiểu: mỗi màn hình chỉ một nhiệm vụ, nút bấm lớn. Thứ hai, luyện tập thú vị: có điểm thưởng và trò chơi phiêu lưu. Thứ ba, tiến bộ từng ngày: các em nhìn thấy hành trình của mình trên bản đồ, chứ không chỉ thấy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ba nhóm cùng tham gia. Học sinh lớp 1 luyện tập tại nhà. Giáo viên quản lý lớp, chuẩn bị và duyệt học liệu. Phụ huynh đồng hành cùng con. Xin lưu ý: phần góc dành riêng cho phụ huynh vẫn nằm trong kế hoạch phát triển, chưa có trong bản hiện tại.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quan trọng nhất. Một lần luyện tập đi theo bảy bước: mở thẻ học, vào đúng trang của con, làm bài, nhận phản hồi, tích điểm, khám phá bản đồ, và cuối cùng là chơi Mê cung kho báu. Sáu bước đầu đã có bản chạy thử. Bước bảy, Mê cung, hiện là bản chơi thử: các em đi được trong mê cung, còn phần câu hỏi trong game đang được hoàn thiện. Các slide sau sẽ đi vào từng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Học sinh không phải tự tạo tài khoản. Giáo viên cấp cho mỗi em một thẻ học có mã QR, phụ huynh quét thẻ trên điện thoại hoặc máy tính bảng của gia đình, và thiết bị đó được liên kết với đúng hồ sơ của con. Từ đó, con thấy tên, ảnh đại diện và điểm của riêng mình, rồi chạm vào Luyện bài hoặc Khám phá thế giới. Ảnh chụp ở đây là trang minh họa với tên hư cấu.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sáu dạng bài: nhận biết chữ, ghép âm và vần, nhận biết tiếng, điền chữ còn thiếu, kết hợp từ với tranh, và luyện đọc từ, câu. Mỗi dạng luôn có cùng biểu tượng và cách trình bày, nên các em quen dần. Các ví dụ trên slide chỉ là minh họa. Học liệu thật phải được giáo viên duyệt trước khi đến tay học sinh, và hiện chưa có mục nào được duyệt.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sư phạm chúng em muốn nhấn mạnh. Mỗi dạng bài có bốn mức hỗ trợ. Ở mức đầu, em được hướng dẫn đầy đủ và gợi ý ngay sau khi sai. Dần dần, gợi ý chỉ hiện khi em cần, rồi cuối cùng là Tự làm, không còn gợi ý. Hệ thống chỉ dùng chữ, âm, vần mà lớp đã học, và không để hình ảnh hay lời đọc làm lộ đáp án. Hiện mức hỗ trợ do người lớn chọn; việc tự động tăng giảm mức vẫn là hướng phát triển.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thật trên điện thoại. Con đọc câu hỏi, chạm vào đáp án, bấm Kiểm tra, rồi xem kết quả và sang câu tiếp theo. Các thẻ rất lớn, chỉ cần chạm, không cần kéo thả. Lưu ý các nút loa đang ghi Chưa có âm thanh: âm thanh đọc Tiếng Việt là phần đang chờ triển khai.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con chọn chưa đúng, màn hình nhẹ nhàng nói: chưa đúng rồi, con xem lại rồi chọn lại nhé. Con có thể bấm Gợi ý, hoặc thử lại. Không có âm thanh chê trách, không đếm ngược thời gian. Chúng em tin rằng sai cũng là một cơ hội để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đúng được cộng mười điểm; trả lời sai trừ năm điểm, và điểm không bao giờ xuống dưới không. Con số được hiển thị trung tính, không kèm âm thanh hay màu cảnh báo. Xin nhấn mạnh: đây là điểm khuyến khích, không phải điểm kiểm tra, và không dùng để đánh giá năng lực học sinh. Cứ ba mươi điểm tích lũy thì mở thêm một mốc trên bản đồ.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thưởng mở dần bản đồ. Có bốn khu vực: Mê cung kho báu, Rừng chữ kỳ diệu, Đảo dấu thanh và Lâu đài ghép vần. Mỗi khu cần đủ điểm mới mở lối vào. Hiện chỉ Mê cung đang được xây dựng; ba khu còn lại ghi Sắp ra mắt và sẽ phát triển sau khi nộp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ảnh chụp bản chơi thử Mê cung kho báu. Bạn nhỏ thám hiểm đi từng ô, tìm đường, gặp các điểm thử thách và hướng tới rương kho báu. Có ba màn với độ khó tăng dần. Ở bản thử nghiệm này chưa có câu hỏi và chưa tính điểm; mục đích là để các em làm quen cách 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khiển rất đơn giản. Trên điện thoại, con chạm bốn nút mũi tên; giữ nút để đi tiếp. Trên máy tính, dùng phím mũi tên hoặc W A S D. Có nút Tạm dừng và Chơi tiếp. Khi con học bằng thẻ học của mình, vị trí trong mê cung được tự động lưu để lần sau tiếp tục hành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em xin nói rõ là ý tưởng đang hoàn thiện. Mỗi màn dự kiến có bảy bạn quái vật thân thiện, mỗi bạn gắn với ba câu hỏi Tiếng Việt, tức hai mươi mốt câu một màn. Trả lời để vượt qua thử thách rồi mở kho báu. Hiện hệ thống đã chuẩn bị được bảy cuộc gặp và hai mươi mốt câu cho mỗi lượt chơi; còn phần tương tác, chấm điểm trong game thì chưa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ảnh chụp khu vực giáo viên, chạy trên máy phát triển với tên giả. Giáo viên quản lý lớp, thêm học sinh bằng biệt danh, cấp thẻ học và ghi nhận sự đồng ý của phụ huynh. Bảng điểm lớp đã có nhưng mặc định tắt, chỉ bật khi nhà trường chấp thuận. Duyệt học liệu, vinh danh và mùa thi đua còn đang hoàn thiện hoặc dự kiến, và chúng em nói rõ như vậy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huynh là người giúp con vào đúng trang học bằng thẻ học, khuyến khích con luyện vừa sức mỗi ngày và quan tâm đến sự tiến bộ thay vì chỉ nhìn điểm. Góc phụ huynh với thông tin chi tiết là phần dự kiến, chưa có trong bản hiện tại.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người dùng là trẻ sáu, bảy tuổi nên an toàn được đặt lên trước. Giao diện thân thiện, phản hồi tích cực. Chỉ dùng biệt danh, không thu thập họ tên, ảnh thật hay giọng nói. Không quảng cáo, không đường dẫn ra ngoài, không ô gõ tự do, và học sinh không trò chuyện trực tiếp với trí tuệ nhân tạo. Dữ liệu học tập chỉ được ghi khi có sự đồng ý của phụ huynh.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dự án đã có: hệ thống bài luyện sáu dạng, giao diện cho học sinh và giáo viên, điểm thưởng chấm trên máy chủ, bản đồ khám phá, bản chơi thử Mê cung có điều khiển, tạm dừng và lưu tiến độ, cùng nền tảng bảy cuộc gặp và hai mươi mốt câu hỏi mỗi màn. Tất cả được kiểm thử tự động. Cũng xin nói thẳng những gì chưa có: chạm trán học tập hoàn chỉnh, âm thanh, học liệu đã được duyệt, và việc bật bảng xếp hạng cho học sinh. Hiện sản phẩm mới chạy thử trên máy phát triển, chưa triển khai chính thức và chưa thí điểm với học sinh.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tiếp theo là hoàn thiện Mê cung: kích hoạt các cuộc gặp, chấm điểm và mở kho báu. Sau đó bổ sung âm thanh, giao diện duyệt học liệu và góc phụ huynh. Rồi kiểm thử tổng thể về an toàn, giao diện, thiết bị, và đưa vào sử dụng từng bước theo kế hoạch. Ba trò chơi còn lại sẽ phát triển sau khi nộp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ReadMate AI mong muốn để mỗi ngày luyện đọc là một hành trình thú vị với các em lớp 1, và là công cụ đồng hành đáng tin cậy với thầy cô và phụ huynh. Em xin trân trọng cảm ơn quý thầy cô và hội đồng đã lắng nghe. Em rất mong nhận được góp 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BF9F4"/>
        </a:solidFill>
      </p:bgPr>
    </p:bg>
    <p:spTree>
      <p:nvGrpSpPr>
        <p:cNvPr id="1" name=""/>
        <p:cNvGrpSpPr/>
        <p:nvPr/>
      </p:nvGrpSpPr>
      <p:grpSpPr>
        <a:xfrm>
          <a:off x="0" y="0"/>
          <a:ext cx="0" cy="0"/>
          <a:chOff x="0" y="0"/>
          <a:chExt cx="0" cy="0"/>
        </a:xfrm>
      </p:grpSpPr>
      <p:sp>
        <p:nvSpPr>
          <p:cNvPr id="2" name="Text 0"/>
          <p:cNvSpPr/>
          <p:nvPr/>
        </p:nvSpPr>
        <p:spPr>
          <a:xfrm>
            <a:off x="548640" y="4773168"/>
            <a:ext cx="5486400" cy="22860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ReadMate AI  ·  Học Tiếng Việt qua hành trình khám phá</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244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846320" y="-1097280"/>
            <a:ext cx="5943600" cy="5943600"/>
          </a:xfrm>
          <a:prstGeom prst="ellipse">
            <a:avLst/>
          </a:prstGeom>
          <a:solidFill>
            <a:srgbClr val="1D3B6E">
              <a:alpha val="60000"/>
            </a:srgbClr>
          </a:solidFill>
          <a:ln/>
        </p:spPr>
      </p:sp>
      <p:sp>
        <p:nvSpPr>
          <p:cNvPr id="3" name="Text 1"/>
          <p:cNvSpPr txBox="1"/>
          <p:nvPr/>
        </p:nvSpPr>
        <p:spPr>
          <a:xfrm>
            <a:off x="640080" y="822960"/>
            <a:ext cx="4572000" cy="274320"/>
          </a:xfrm>
          <a:prstGeom prst="rect">
            <a:avLst/>
          </a:prstGeom>
          <a:noFill/>
          <a:ln/>
        </p:spPr>
        <p:txBody>
          <a:bodyPr wrap="square" lIns="0" tIns="0" rIns="0" bIns="0" rtlCol="0" anchor="ctr"/>
          <a:lstStyle/>
          <a:p>
            <a:pPr indent="0" marL="0">
              <a:buNone/>
            </a:pPr>
            <a:r>
              <a:rPr lang="en-US" sz="1200" b="1" spc="400" kern="0" dirty="0">
                <a:solidFill>
                  <a:srgbClr val="C9A24A"/>
                </a:solidFill>
                <a:latin typeface="Calibri" pitchFamily="34" charset="0"/>
                <a:ea typeface="Calibri" pitchFamily="34" charset="-122"/>
                <a:cs typeface="Calibri" pitchFamily="34" charset="-120"/>
              </a:rPr>
              <a:t>BÁO CÁO DỰ ÁN GIÁO DỤC</a:t>
            </a:r>
            <a:endParaRPr lang="en-US" sz="1200" dirty="0"/>
          </a:p>
        </p:txBody>
      </p:sp>
      <p:sp>
        <p:nvSpPr>
          <p:cNvPr id="4" name="Text 2"/>
          <p:cNvSpPr txBox="1"/>
          <p:nvPr/>
        </p:nvSpPr>
        <p:spPr>
          <a:xfrm>
            <a:off x="640080" y="1188720"/>
            <a:ext cx="4754880"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READMATE AI</a:t>
            </a:r>
            <a:endParaRPr lang="en-US" sz="5000" dirty="0"/>
          </a:p>
        </p:txBody>
      </p:sp>
      <p:sp>
        <p:nvSpPr>
          <p:cNvPr id="5" name="Text 3"/>
          <p:cNvSpPr txBox="1"/>
          <p:nvPr/>
        </p:nvSpPr>
        <p:spPr>
          <a:xfrm>
            <a:off x="640080" y="2194560"/>
            <a:ext cx="4480560" cy="548640"/>
          </a:xfrm>
          <a:prstGeom prst="rect">
            <a:avLst/>
          </a:prstGeom>
          <a:noFill/>
          <a:ln/>
        </p:spPr>
        <p:txBody>
          <a:bodyPr wrap="square" lIns="0" tIns="0" rIns="0" bIns="0" rtlCol="0" anchor="ctr"/>
          <a:lstStyle/>
          <a:p>
            <a:pPr indent="0" marL="0">
              <a:buNone/>
            </a:pPr>
            <a:r>
              <a:rPr lang="en-US" sz="1400" b="1" spc="100" kern="0" dirty="0">
                <a:solidFill>
                  <a:srgbClr val="C9A24A"/>
                </a:solidFill>
                <a:latin typeface="Calibri" pitchFamily="34" charset="0"/>
                <a:ea typeface="Calibri" pitchFamily="34" charset="-122"/>
                <a:cs typeface="Calibri" pitchFamily="34" charset="-120"/>
              </a:rPr>
              <a:t>HỌC TIẾNG VIỆT QUA HÀNH TRÌNH KHÁM PHÁ</a:t>
            </a:r>
            <a:endParaRPr lang="en-US" sz="1400" dirty="0"/>
          </a:p>
        </p:txBody>
      </p:sp>
      <p:sp>
        <p:nvSpPr>
          <p:cNvPr id="6" name="Text 4"/>
          <p:cNvSpPr txBox="1"/>
          <p:nvPr/>
        </p:nvSpPr>
        <p:spPr>
          <a:xfrm>
            <a:off x="640080" y="2926080"/>
            <a:ext cx="4480560" cy="365760"/>
          </a:xfrm>
          <a:prstGeom prst="rect">
            <a:avLst/>
          </a:prstGeom>
          <a:noFill/>
          <a:ln/>
        </p:spPr>
        <p:txBody>
          <a:bodyPr wrap="square" lIns="0" tIns="0" rIns="0" bIns="0" rtlCol="0" anchor="ctr"/>
          <a:lstStyle/>
          <a:p>
            <a:pPr indent="0" marL="0">
              <a:buNone/>
            </a:pPr>
            <a:r>
              <a:rPr lang="en-US" sz="1800" i="1" dirty="0">
                <a:solidFill>
                  <a:srgbClr val="DCE6F5"/>
                </a:solidFill>
                <a:latin typeface="Cambria" pitchFamily="34" charset="0"/>
                <a:ea typeface="Cambria" pitchFamily="34" charset="-122"/>
                <a:cs typeface="Cambria" pitchFamily="34" charset="-120"/>
              </a:rPr>
              <a:t>Học vui mỗi ngày — Tự tin đọc tốt hơn.</a:t>
            </a:r>
            <a:endParaRPr lang="en-US" sz="1800" dirty="0"/>
          </a:p>
        </p:txBody>
      </p:sp>
      <p:sp>
        <p:nvSpPr>
          <p:cNvPr id="7" name="Text 5"/>
          <p:cNvSpPr txBox="1"/>
          <p:nvPr/>
        </p:nvSpPr>
        <p:spPr>
          <a:xfrm>
            <a:off x="640080" y="4114800"/>
            <a:ext cx="4389120" cy="457200"/>
          </a:xfrm>
          <a:prstGeom prst="rect">
            <a:avLst/>
          </a:prstGeom>
          <a:noFill/>
          <a:ln/>
        </p:spPr>
        <p:txBody>
          <a:bodyPr wrap="square" lIns="0" tIns="0" rIns="0" bIns="0" rtlCol="0" anchor="ctr"/>
          <a:lstStyle/>
          <a:p>
            <a:pPr indent="0" marL="0">
              <a:buNone/>
            </a:pPr>
            <a:r>
              <a:rPr lang="en-US" sz="1200" dirty="0">
                <a:solidFill>
                  <a:srgbClr val="AFC0DA"/>
                </a:solidFill>
                <a:latin typeface="Calibri" pitchFamily="34" charset="0"/>
                <a:ea typeface="Calibri" pitchFamily="34" charset="-122"/>
                <a:cs typeface="Calibri" pitchFamily="34" charset="-120"/>
              </a:rPr>
              <a:t>Nền tảng tự luyện Tiếng Việt tại nhà dành cho học sinh lớp 1</a:t>
            </a:r>
            <a:endParaRPr lang="en-US" sz="1200" dirty="0"/>
          </a:p>
        </p:txBody>
      </p:sp>
      <p:pic>
        <p:nvPicPr>
          <p:cNvPr id="8" name="Image 0" descr="Bạn nhỏ thám hiểm và Cú Bông trong thế giới phiêu lưu">    </p:cNvPr>
          <p:cNvPicPr>
            <a:picLocks noChangeAspect="1"/>
          </p:cNvPicPr>
          <p:nvPr/>
        </p:nvPicPr>
        <p:blipFill>
          <a:blip r:embed="rId1"/>
          <a:stretch>
            <a:fillRect/>
          </a:stretch>
        </p:blipFill>
        <p:spPr>
          <a:xfrm>
            <a:off x="5166360" y="868680"/>
            <a:ext cx="3520440" cy="3383280"/>
          </a:xfrm>
          <a:prstGeom prst="rect">
            <a:avLst/>
          </a:prstGeom>
        </p:spPr>
      </p:pic>
      <p:sp>
        <p:nvSpPr>
          <p:cNvPr id="9" name="Text 6"/>
          <p:cNvSpPr txBox="1"/>
          <p:nvPr/>
        </p:nvSpPr>
        <p:spPr>
          <a:xfrm>
            <a:off x="640080" y="4434840"/>
            <a:ext cx="4389120" cy="274320"/>
          </a:xfrm>
          <a:prstGeom prst="rect">
            <a:avLst/>
          </a:prstGeom>
          <a:noFill/>
          <a:ln/>
        </p:spPr>
        <p:txBody>
          <a:bodyPr wrap="square" lIns="0" tIns="0" rIns="0" bIns="0" rtlCol="0" anchor="ctr"/>
          <a:lstStyle/>
          <a:p>
            <a:pPr indent="0" marL="0">
              <a:buNone/>
            </a:pPr>
            <a:r>
              <a:rPr lang="en-US" sz="1100" dirty="0">
                <a:solidFill>
                  <a:srgbClr val="8FA3C4"/>
                </a:solidFill>
                <a:latin typeface="Calibri" pitchFamily="34" charset="0"/>
                <a:ea typeface="Calibri" pitchFamily="34" charset="-122"/>
                <a:cs typeface="Calibri" pitchFamily="34" charset="-120"/>
              </a:rPr>
              <a:t>Báo cáo tiến độ dự án  ·  Tháng 10/2026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BỐI CẢNH</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Vì sao có ReadMate AI?</a:t>
            </a:r>
            <a:endParaRPr lang="en-US" sz="3000" dirty="0"/>
          </a:p>
        </p:txBody>
      </p:sp>
      <p:sp>
        <p:nvSpPr>
          <p:cNvPr id="4" name="Shape 2"/>
          <p:cNvSpPr/>
          <p:nvPr/>
        </p:nvSpPr>
        <p:spPr>
          <a:xfrm>
            <a:off x="548640" y="1371600"/>
            <a:ext cx="251460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5" name="Shape 3"/>
          <p:cNvSpPr/>
          <p:nvPr/>
        </p:nvSpPr>
        <p:spPr>
          <a:xfrm>
            <a:off x="731520" y="1554480"/>
            <a:ext cx="329184" cy="329184"/>
          </a:xfrm>
          <a:prstGeom prst="ellipse">
            <a:avLst/>
          </a:prstGeom>
          <a:solidFill>
            <a:srgbClr val="0E8A7D"/>
          </a:solidFill>
          <a:ln/>
        </p:spPr>
      </p:sp>
      <p:sp>
        <p:nvSpPr>
          <p:cNvPr id="6" name="Text 4"/>
          <p:cNvSpPr txBox="1"/>
          <p:nvPr/>
        </p:nvSpPr>
        <p:spPr>
          <a:xfrm>
            <a:off x="731520" y="155448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731520" y="1938528"/>
            <a:ext cx="2148840" cy="310896"/>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Luyện tập đều đặn</a:t>
            </a:r>
            <a:endParaRPr lang="en-US" sz="1400" dirty="0"/>
          </a:p>
        </p:txBody>
      </p:sp>
      <p:sp>
        <p:nvSpPr>
          <p:cNvPr id="8" name="Text 6"/>
          <p:cNvSpPr txBox="1"/>
          <p:nvPr/>
        </p:nvSpPr>
        <p:spPr>
          <a:xfrm>
            <a:off x="731520" y="2249424"/>
            <a:ext cx="2194560" cy="50292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Học sinh lớp 1 cần luyện chữ, vần và đọc trơn thường xuyên.</a:t>
            </a:r>
            <a:endParaRPr lang="en-US" sz="1200" dirty="0"/>
          </a:p>
        </p:txBody>
      </p:sp>
      <p:sp>
        <p:nvSpPr>
          <p:cNvPr id="9" name="Shape 7"/>
          <p:cNvSpPr/>
          <p:nvPr/>
        </p:nvSpPr>
        <p:spPr>
          <a:xfrm>
            <a:off x="3246120" y="1371600"/>
            <a:ext cx="251460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0" name="Shape 8"/>
          <p:cNvSpPr/>
          <p:nvPr/>
        </p:nvSpPr>
        <p:spPr>
          <a:xfrm>
            <a:off x="3429000" y="1554480"/>
            <a:ext cx="329184" cy="329184"/>
          </a:xfrm>
          <a:prstGeom prst="ellipse">
            <a:avLst/>
          </a:prstGeom>
          <a:solidFill>
            <a:srgbClr val="C9A24A"/>
          </a:solidFill>
          <a:ln/>
        </p:spPr>
      </p:sp>
      <p:sp>
        <p:nvSpPr>
          <p:cNvPr id="11" name="Text 9"/>
          <p:cNvSpPr txBox="1"/>
          <p:nvPr/>
        </p:nvSpPr>
        <p:spPr>
          <a:xfrm>
            <a:off x="3429000" y="155448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3429000" y="1938528"/>
            <a:ext cx="2148840" cy="310896"/>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Giữ được hứng thú</a:t>
            </a:r>
            <a:endParaRPr lang="en-US" sz="1400" dirty="0"/>
          </a:p>
        </p:txBody>
      </p:sp>
      <p:sp>
        <p:nvSpPr>
          <p:cNvPr id="13" name="Text 11"/>
          <p:cNvSpPr txBox="1"/>
          <p:nvPr/>
        </p:nvSpPr>
        <p:spPr>
          <a:xfrm>
            <a:off x="3429000" y="2249424"/>
            <a:ext cx="2194560" cy="50292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Bài luyện đơn điệu dễ khiến các em mau chán.</a:t>
            </a:r>
            <a:endParaRPr lang="en-US" sz="1200" dirty="0"/>
          </a:p>
        </p:txBody>
      </p:sp>
      <p:sp>
        <p:nvSpPr>
          <p:cNvPr id="14" name="Shape 12"/>
          <p:cNvSpPr/>
          <p:nvPr/>
        </p:nvSpPr>
        <p:spPr>
          <a:xfrm>
            <a:off x="548640" y="3017520"/>
            <a:ext cx="251460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5" name="Shape 13"/>
          <p:cNvSpPr/>
          <p:nvPr/>
        </p:nvSpPr>
        <p:spPr>
          <a:xfrm>
            <a:off x="731520" y="3200400"/>
            <a:ext cx="329184" cy="329184"/>
          </a:xfrm>
          <a:prstGeom prst="ellipse">
            <a:avLst/>
          </a:prstGeom>
          <a:solidFill>
            <a:srgbClr val="0E8A7D"/>
          </a:solidFill>
          <a:ln/>
        </p:spPr>
      </p:sp>
      <p:sp>
        <p:nvSpPr>
          <p:cNvPr id="16" name="Text 14"/>
          <p:cNvSpPr txBox="1"/>
          <p:nvPr/>
        </p:nvSpPr>
        <p:spPr>
          <a:xfrm>
            <a:off x="731520" y="320040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731520" y="3584448"/>
            <a:ext cx="2148840" cy="310896"/>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Phụ huynh cần đồng hành</a:t>
            </a:r>
            <a:endParaRPr lang="en-US" sz="1400" dirty="0"/>
          </a:p>
        </p:txBody>
      </p:sp>
      <p:sp>
        <p:nvSpPr>
          <p:cNvPr id="18" name="Text 16"/>
          <p:cNvSpPr txBox="1"/>
          <p:nvPr/>
        </p:nvSpPr>
        <p:spPr>
          <a:xfrm>
            <a:off x="731520" y="3895344"/>
            <a:ext cx="2194560" cy="50292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Đơn giản, rõ ràng, không đòi hỏi chuyên môn.</a:t>
            </a:r>
            <a:endParaRPr lang="en-US" sz="1200" dirty="0"/>
          </a:p>
        </p:txBody>
      </p:sp>
      <p:sp>
        <p:nvSpPr>
          <p:cNvPr id="19" name="Shape 17"/>
          <p:cNvSpPr/>
          <p:nvPr/>
        </p:nvSpPr>
        <p:spPr>
          <a:xfrm>
            <a:off x="3246120" y="3017520"/>
            <a:ext cx="251460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0" name="Shape 18"/>
          <p:cNvSpPr/>
          <p:nvPr/>
        </p:nvSpPr>
        <p:spPr>
          <a:xfrm>
            <a:off x="3429000" y="3200400"/>
            <a:ext cx="329184" cy="329184"/>
          </a:xfrm>
          <a:prstGeom prst="ellipse">
            <a:avLst/>
          </a:prstGeom>
          <a:solidFill>
            <a:srgbClr val="C9A24A"/>
          </a:solidFill>
          <a:ln/>
        </p:spPr>
      </p:sp>
      <p:sp>
        <p:nvSpPr>
          <p:cNvPr id="21" name="Text 19"/>
          <p:cNvSpPr txBox="1"/>
          <p:nvPr/>
        </p:nvSpPr>
        <p:spPr>
          <a:xfrm>
            <a:off x="3429000" y="320040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3429000" y="3584448"/>
            <a:ext cx="2148840" cy="310896"/>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Giáo viên cần theo dõi</a:t>
            </a:r>
            <a:endParaRPr lang="en-US" sz="1400" dirty="0"/>
          </a:p>
        </p:txBody>
      </p:sp>
      <p:sp>
        <p:nvSpPr>
          <p:cNvPr id="23" name="Text 21"/>
          <p:cNvSpPr txBox="1"/>
          <p:nvPr/>
        </p:nvSpPr>
        <p:spPr>
          <a:xfrm>
            <a:off x="3429000" y="3895344"/>
            <a:ext cx="2194560" cy="50292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Để động viên đúng lúc, đúng người.</a:t>
            </a:r>
            <a:endParaRPr lang="en-US" sz="1200" dirty="0"/>
          </a:p>
        </p:txBody>
      </p:sp>
      <p:sp>
        <p:nvSpPr>
          <p:cNvPr id="24" name="Shape 22"/>
          <p:cNvSpPr/>
          <p:nvPr/>
        </p:nvSpPr>
        <p:spPr>
          <a:xfrm>
            <a:off x="6172200" y="1371600"/>
            <a:ext cx="2423160" cy="3108960"/>
          </a:xfrm>
          <a:prstGeom prst="roundRect">
            <a:avLst>
              <a:gd name="adj" fmla="val 7547"/>
            </a:avLst>
          </a:prstGeom>
          <a:solidFill>
            <a:srgbClr val="DDF1EE"/>
          </a:solidFill>
          <a:ln/>
        </p:spPr>
      </p:sp>
      <p:pic>
        <p:nvPicPr>
          <p:cNvPr id="25" name="Image 0" descr="Bạn nhỏ thám hiểm">    </p:cNvPr>
          <p:cNvPicPr>
            <a:picLocks noChangeAspect="1"/>
          </p:cNvPicPr>
          <p:nvPr/>
        </p:nvPicPr>
        <p:blipFill>
          <a:blip r:embed="rId1"/>
          <a:stretch>
            <a:fillRect/>
          </a:stretch>
        </p:blipFill>
        <p:spPr>
          <a:xfrm>
            <a:off x="6217920" y="1600200"/>
            <a:ext cx="2331720" cy="2331720"/>
          </a:xfrm>
          <a:prstGeom prst="rect">
            <a:avLst/>
          </a:prstGeom>
        </p:spPr>
      </p:pic>
      <p:sp>
        <p:nvSpPr>
          <p:cNvPr id="26" name="Text 23"/>
          <p:cNvSpPr txBox="1"/>
          <p:nvPr/>
        </p:nvSpPr>
        <p:spPr>
          <a:xfrm>
            <a:off x="6309360" y="3886200"/>
            <a:ext cx="2148840" cy="457200"/>
          </a:xfrm>
          <a:prstGeom prst="rect">
            <a:avLst/>
          </a:prstGeom>
          <a:noFill/>
          <a:ln/>
        </p:spPr>
        <p:txBody>
          <a:bodyPr wrap="square" lIns="0" tIns="0" rIns="0" bIns="0" rtlCol="0" anchor="ctr"/>
          <a:lstStyle/>
          <a:p>
            <a:pPr algn="ctr" indent="0" marL="0">
              <a:buNone/>
            </a:pPr>
            <a:r>
              <a:rPr lang="en-US" sz="1400" b="1" dirty="0">
                <a:solidFill>
                  <a:srgbClr val="0F2447"/>
                </a:solidFill>
                <a:latin typeface="Cambria" pitchFamily="34" charset="0"/>
                <a:ea typeface="Cambria" pitchFamily="34" charset="-122"/>
                <a:cs typeface="Cambria" pitchFamily="34" charset="-120"/>
              </a:rPr>
              <a:t>Luyện đọc nên là một niềm vui</a:t>
            </a:r>
            <a:endParaRPr lang="en-US" sz="14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GIÁ TRỊ CỐT LÕI</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ReadMate AI mang lại điều gì?</a:t>
            </a:r>
            <a:endParaRPr lang="en-US" sz="3000" dirty="0"/>
          </a:p>
        </p:txBody>
      </p:sp>
      <p:sp>
        <p:nvSpPr>
          <p:cNvPr id="4" name="Shape 2"/>
          <p:cNvSpPr/>
          <p:nvPr/>
        </p:nvSpPr>
        <p:spPr>
          <a:xfrm>
            <a:off x="548640" y="1325880"/>
            <a:ext cx="2560320" cy="3200400"/>
          </a:xfrm>
          <a:prstGeom prst="roundRect">
            <a:avLst>
              <a:gd name="adj" fmla="val 428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pic>
        <p:nvPicPr>
          <p:cNvPr id="5" name="Image 0" descr="Học dễ hiểu">    </p:cNvPr>
          <p:cNvPicPr>
            <a:picLocks noChangeAspect="1"/>
          </p:cNvPicPr>
          <p:nvPr/>
        </p:nvPicPr>
        <p:blipFill>
          <a:blip r:embed="rId1"/>
          <a:stretch>
            <a:fillRect/>
          </a:stretch>
        </p:blipFill>
        <p:spPr>
          <a:xfrm>
            <a:off x="658368" y="1435608"/>
            <a:ext cx="2340864" cy="1600200"/>
          </a:xfrm>
          <a:prstGeom prst="rect">
            <a:avLst/>
          </a:prstGeom>
        </p:spPr>
      </p:pic>
      <p:sp>
        <p:nvSpPr>
          <p:cNvPr id="6" name="Text 3"/>
          <p:cNvSpPr txBox="1"/>
          <p:nvPr/>
        </p:nvSpPr>
        <p:spPr>
          <a:xfrm>
            <a:off x="731520" y="3154680"/>
            <a:ext cx="2194560" cy="347472"/>
          </a:xfrm>
          <a:prstGeom prst="rect">
            <a:avLst/>
          </a:prstGeom>
          <a:noFill/>
          <a:ln/>
        </p:spPr>
        <p:txBody>
          <a:bodyPr wrap="square" lIns="0" tIns="0" rIns="0" bIns="0" rtlCol="0" anchor="ctr"/>
          <a:lstStyle/>
          <a:p>
            <a:pPr indent="0" marL="0">
              <a:buNone/>
            </a:pPr>
            <a:r>
              <a:rPr lang="en-US" sz="1700" b="1" dirty="0">
                <a:solidFill>
                  <a:srgbClr val="0F2447"/>
                </a:solidFill>
                <a:latin typeface="Cambria" pitchFamily="34" charset="0"/>
                <a:ea typeface="Cambria" pitchFamily="34" charset="-122"/>
                <a:cs typeface="Cambria" pitchFamily="34" charset="-120"/>
              </a:rPr>
              <a:t>Học dễ hiểu</a:t>
            </a:r>
            <a:endParaRPr lang="en-US" sz="1700" dirty="0"/>
          </a:p>
        </p:txBody>
      </p:sp>
      <p:sp>
        <p:nvSpPr>
          <p:cNvPr id="7" name="Text 4"/>
          <p:cNvSpPr txBox="1"/>
          <p:nvPr/>
        </p:nvSpPr>
        <p:spPr>
          <a:xfrm>
            <a:off x="731520" y="3547872"/>
            <a:ext cx="2194560" cy="822960"/>
          </a:xfrm>
          <a:prstGeom prst="rect">
            <a:avLst/>
          </a:prstGeom>
          <a:noFill/>
          <a:ln/>
        </p:spPr>
        <p:txBody>
          <a:bodyPr wrap="square" lIns="0" tIns="0" rIns="0" bIns="0" rtlCol="0" anchor="t"/>
          <a:lstStyle/>
          <a:p>
            <a:pPr indent="0" marL="0">
              <a:buNone/>
            </a:pPr>
            <a:r>
              <a:rPr lang="en-US" sz="1300" dirty="0">
                <a:solidFill>
                  <a:srgbClr val="566175"/>
                </a:solidFill>
                <a:latin typeface="Calibri" pitchFamily="34" charset="0"/>
                <a:ea typeface="Calibri" pitchFamily="34" charset="-122"/>
                <a:cs typeface="Calibri" pitchFamily="34" charset="-120"/>
              </a:rPr>
              <a:t>Mỗi bài một nhiệm vụ, nút bấm lớn, câu lệnh ngắn gọn.</a:t>
            </a:r>
            <a:endParaRPr lang="en-US" sz="1300" dirty="0"/>
          </a:p>
        </p:txBody>
      </p:sp>
      <p:sp>
        <p:nvSpPr>
          <p:cNvPr id="8" name="Shape 5"/>
          <p:cNvSpPr/>
          <p:nvPr/>
        </p:nvSpPr>
        <p:spPr>
          <a:xfrm>
            <a:off x="3291840" y="1325880"/>
            <a:ext cx="2560320" cy="3200400"/>
          </a:xfrm>
          <a:prstGeom prst="roundRect">
            <a:avLst>
              <a:gd name="adj" fmla="val 428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pic>
        <p:nvPicPr>
          <p:cNvPr id="9" name="Image 1" descr="Luyện tập thú vị">    </p:cNvPr>
          <p:cNvPicPr>
            <a:picLocks noChangeAspect="1"/>
          </p:cNvPicPr>
          <p:nvPr/>
        </p:nvPicPr>
        <p:blipFill>
          <a:blip r:embed="rId2"/>
          <a:stretch>
            <a:fillRect/>
          </a:stretch>
        </p:blipFill>
        <p:spPr>
          <a:xfrm>
            <a:off x="3401568" y="1435608"/>
            <a:ext cx="2340864" cy="1600200"/>
          </a:xfrm>
          <a:prstGeom prst="rect">
            <a:avLst/>
          </a:prstGeom>
        </p:spPr>
      </p:pic>
      <p:sp>
        <p:nvSpPr>
          <p:cNvPr id="10" name="Text 6"/>
          <p:cNvSpPr txBox="1"/>
          <p:nvPr/>
        </p:nvSpPr>
        <p:spPr>
          <a:xfrm>
            <a:off x="3474720" y="3154680"/>
            <a:ext cx="2194560" cy="347472"/>
          </a:xfrm>
          <a:prstGeom prst="rect">
            <a:avLst/>
          </a:prstGeom>
          <a:noFill/>
          <a:ln/>
        </p:spPr>
        <p:txBody>
          <a:bodyPr wrap="square" lIns="0" tIns="0" rIns="0" bIns="0" rtlCol="0" anchor="ctr"/>
          <a:lstStyle/>
          <a:p>
            <a:pPr indent="0" marL="0">
              <a:buNone/>
            </a:pPr>
            <a:r>
              <a:rPr lang="en-US" sz="1700" b="1" dirty="0">
                <a:solidFill>
                  <a:srgbClr val="0F2447"/>
                </a:solidFill>
                <a:latin typeface="Cambria" pitchFamily="34" charset="0"/>
                <a:ea typeface="Cambria" pitchFamily="34" charset="-122"/>
                <a:cs typeface="Cambria" pitchFamily="34" charset="-120"/>
              </a:rPr>
              <a:t>Luyện tập thú vị</a:t>
            </a:r>
            <a:endParaRPr lang="en-US" sz="1700" dirty="0"/>
          </a:p>
        </p:txBody>
      </p:sp>
      <p:sp>
        <p:nvSpPr>
          <p:cNvPr id="11" name="Text 7"/>
          <p:cNvSpPr txBox="1"/>
          <p:nvPr/>
        </p:nvSpPr>
        <p:spPr>
          <a:xfrm>
            <a:off x="3474720" y="3547872"/>
            <a:ext cx="2194560" cy="822960"/>
          </a:xfrm>
          <a:prstGeom prst="rect">
            <a:avLst/>
          </a:prstGeom>
          <a:noFill/>
          <a:ln/>
        </p:spPr>
        <p:txBody>
          <a:bodyPr wrap="square" lIns="0" tIns="0" rIns="0" bIns="0" rtlCol="0" anchor="t"/>
          <a:lstStyle/>
          <a:p>
            <a:pPr indent="0" marL="0">
              <a:buNone/>
            </a:pPr>
            <a:r>
              <a:rPr lang="en-US" sz="1300" dirty="0">
                <a:solidFill>
                  <a:srgbClr val="566175"/>
                </a:solidFill>
                <a:latin typeface="Calibri" pitchFamily="34" charset="0"/>
                <a:ea typeface="Calibri" pitchFamily="34" charset="-122"/>
                <a:cs typeface="Calibri" pitchFamily="34" charset="-120"/>
              </a:rPr>
              <a:t>Trò chơi phiêu lưu và điểm thưởng giữ cho các em hào hứng.</a:t>
            </a:r>
            <a:endParaRPr lang="en-US" sz="1300" dirty="0"/>
          </a:p>
        </p:txBody>
      </p:sp>
      <p:sp>
        <p:nvSpPr>
          <p:cNvPr id="12" name="Shape 8"/>
          <p:cNvSpPr/>
          <p:nvPr/>
        </p:nvSpPr>
        <p:spPr>
          <a:xfrm>
            <a:off x="6035040" y="1325880"/>
            <a:ext cx="2560320" cy="3200400"/>
          </a:xfrm>
          <a:prstGeom prst="roundRect">
            <a:avLst>
              <a:gd name="adj" fmla="val 428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pic>
        <p:nvPicPr>
          <p:cNvPr id="13" name="Image 2" descr="Tiến bộ từng ngày">    </p:cNvPr>
          <p:cNvPicPr>
            <a:picLocks noChangeAspect="1"/>
          </p:cNvPicPr>
          <p:nvPr/>
        </p:nvPicPr>
        <p:blipFill>
          <a:blip r:embed="rId3"/>
          <a:stretch>
            <a:fillRect/>
          </a:stretch>
        </p:blipFill>
        <p:spPr>
          <a:xfrm>
            <a:off x="6144768" y="1435608"/>
            <a:ext cx="2340864" cy="1600200"/>
          </a:xfrm>
          <a:prstGeom prst="rect">
            <a:avLst/>
          </a:prstGeom>
        </p:spPr>
      </p:pic>
      <p:sp>
        <p:nvSpPr>
          <p:cNvPr id="14" name="Text 9"/>
          <p:cNvSpPr txBox="1"/>
          <p:nvPr/>
        </p:nvSpPr>
        <p:spPr>
          <a:xfrm>
            <a:off x="6217920" y="3154680"/>
            <a:ext cx="2194560" cy="347472"/>
          </a:xfrm>
          <a:prstGeom prst="rect">
            <a:avLst/>
          </a:prstGeom>
          <a:noFill/>
          <a:ln/>
        </p:spPr>
        <p:txBody>
          <a:bodyPr wrap="square" lIns="0" tIns="0" rIns="0" bIns="0" rtlCol="0" anchor="ctr"/>
          <a:lstStyle/>
          <a:p>
            <a:pPr indent="0" marL="0">
              <a:buNone/>
            </a:pPr>
            <a:r>
              <a:rPr lang="en-US" sz="1700" b="1" dirty="0">
                <a:solidFill>
                  <a:srgbClr val="0F2447"/>
                </a:solidFill>
                <a:latin typeface="Cambria" pitchFamily="34" charset="0"/>
                <a:ea typeface="Cambria" pitchFamily="34" charset="-122"/>
                <a:cs typeface="Cambria" pitchFamily="34" charset="-120"/>
              </a:rPr>
              <a:t>Tiến bộ từng ngày</a:t>
            </a:r>
            <a:endParaRPr lang="en-US" sz="1700" dirty="0"/>
          </a:p>
        </p:txBody>
      </p:sp>
      <p:sp>
        <p:nvSpPr>
          <p:cNvPr id="15" name="Text 10"/>
          <p:cNvSpPr txBox="1"/>
          <p:nvPr/>
        </p:nvSpPr>
        <p:spPr>
          <a:xfrm>
            <a:off x="6217920" y="3547872"/>
            <a:ext cx="2194560" cy="822960"/>
          </a:xfrm>
          <a:prstGeom prst="rect">
            <a:avLst/>
          </a:prstGeom>
          <a:noFill/>
          <a:ln/>
        </p:spPr>
        <p:txBody>
          <a:bodyPr wrap="square" lIns="0" tIns="0" rIns="0" bIns="0" rtlCol="0" anchor="t"/>
          <a:lstStyle/>
          <a:p>
            <a:pPr indent="0" marL="0">
              <a:buNone/>
            </a:pPr>
            <a:r>
              <a:rPr lang="en-US" sz="1300" dirty="0">
                <a:solidFill>
                  <a:srgbClr val="566175"/>
                </a:solidFill>
                <a:latin typeface="Calibri" pitchFamily="34" charset="0"/>
                <a:ea typeface="Calibri" pitchFamily="34" charset="-122"/>
                <a:cs typeface="Calibri" pitchFamily="34" charset="-120"/>
              </a:rPr>
              <a:t>Các mốc khám phá cho các em thấy hành trình của mình.</a:t>
            </a:r>
            <a:endParaRPr lang="en-US" sz="13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NGƯỜI DÙNG</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Ai sử dụng ReadMate AI?</a:t>
            </a:r>
            <a:endParaRPr lang="en-US" sz="3000" dirty="0"/>
          </a:p>
        </p:txBody>
      </p:sp>
      <p:sp>
        <p:nvSpPr>
          <p:cNvPr id="4" name="Shape 2"/>
          <p:cNvSpPr/>
          <p:nvPr/>
        </p:nvSpPr>
        <p:spPr>
          <a:xfrm>
            <a:off x="548640" y="1325880"/>
            <a:ext cx="2560320" cy="3200400"/>
          </a:xfrm>
          <a:prstGeom prst="roundRect">
            <a:avLst>
              <a:gd name="adj" fmla="val 428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5" name="Shape 3"/>
          <p:cNvSpPr/>
          <p:nvPr/>
        </p:nvSpPr>
        <p:spPr>
          <a:xfrm>
            <a:off x="1188720" y="1508760"/>
            <a:ext cx="1280160" cy="1280160"/>
          </a:xfrm>
          <a:prstGeom prst="ellipse">
            <a:avLst/>
          </a:prstGeom>
          <a:solidFill>
            <a:srgbClr val="DDF1EE"/>
          </a:solidFill>
          <a:ln/>
        </p:spPr>
      </p:sp>
      <p:pic>
        <p:nvPicPr>
          <p:cNvPr id="6" name="Image 0" descr="Học sinh">    </p:cNvPr>
          <p:cNvPicPr>
            <a:picLocks noChangeAspect="1"/>
          </p:cNvPicPr>
          <p:nvPr/>
        </p:nvPicPr>
        <p:blipFill>
          <a:blip r:embed="rId1"/>
          <a:stretch>
            <a:fillRect/>
          </a:stretch>
        </p:blipFill>
        <p:spPr>
          <a:xfrm>
            <a:off x="1207008" y="1527048"/>
            <a:ext cx="1243584" cy="1243584"/>
          </a:xfrm>
          <a:prstGeom prst="rect">
            <a:avLst/>
          </a:prstGeom>
        </p:spPr>
      </p:pic>
      <p:sp>
        <p:nvSpPr>
          <p:cNvPr id="7" name="Text 4"/>
          <p:cNvSpPr txBox="1"/>
          <p:nvPr/>
        </p:nvSpPr>
        <p:spPr>
          <a:xfrm>
            <a:off x="731520" y="2926080"/>
            <a:ext cx="2194560" cy="365760"/>
          </a:xfrm>
          <a:prstGeom prst="rect">
            <a:avLst/>
          </a:prstGeom>
          <a:noFill/>
          <a:ln/>
        </p:spPr>
        <p:txBody>
          <a:bodyPr wrap="square" lIns="0" tIns="0" rIns="0" bIns="0" rtlCol="0" anchor="ctr"/>
          <a:lstStyle/>
          <a:p>
            <a:pPr algn="ctr" indent="0" marL="0">
              <a:buNone/>
            </a:pPr>
            <a:r>
              <a:rPr lang="en-US" sz="1800" b="1" dirty="0">
                <a:solidFill>
                  <a:srgbClr val="0F2447"/>
                </a:solidFill>
                <a:latin typeface="Cambria" pitchFamily="34" charset="0"/>
                <a:ea typeface="Cambria" pitchFamily="34" charset="-122"/>
                <a:cs typeface="Cambria" pitchFamily="34" charset="-120"/>
              </a:rPr>
              <a:t>Học sinh lớp 1</a:t>
            </a:r>
            <a:endParaRPr lang="en-US" sz="1800" dirty="0"/>
          </a:p>
        </p:txBody>
      </p:sp>
      <p:sp>
        <p:nvSpPr>
          <p:cNvPr id="8" name="Text 5"/>
          <p:cNvSpPr txBox="1"/>
          <p:nvPr/>
        </p:nvSpPr>
        <p:spPr>
          <a:xfrm>
            <a:off x="777240" y="3337560"/>
            <a:ext cx="2103120" cy="1005840"/>
          </a:xfrm>
          <a:prstGeom prst="rect">
            <a:avLst/>
          </a:prstGeom>
          <a:noFill/>
          <a:ln/>
        </p:spPr>
        <p:txBody>
          <a:bodyPr wrap="square" lIns="0" tIns="0" rIns="0" bIns="0" rtlCol="0" anchor="t"/>
          <a:lstStyle/>
          <a:p>
            <a:pPr algn="ctr" indent="0" marL="0">
              <a:buNone/>
            </a:pPr>
            <a:r>
              <a:rPr lang="en-US" sz="1300" dirty="0">
                <a:solidFill>
                  <a:srgbClr val="566175"/>
                </a:solidFill>
                <a:latin typeface="Calibri" pitchFamily="34" charset="0"/>
                <a:ea typeface="Calibri" pitchFamily="34" charset="-122"/>
                <a:cs typeface="Calibri" pitchFamily="34" charset="-120"/>
              </a:rPr>
              <a:t>Luyện chữ, vần, đọc trơn qua trò chơi và phần thưởng — ngay tại nhà.</a:t>
            </a:r>
            <a:endParaRPr lang="en-US" sz="1300" dirty="0"/>
          </a:p>
        </p:txBody>
      </p:sp>
      <p:sp>
        <p:nvSpPr>
          <p:cNvPr id="9" name="Shape 6"/>
          <p:cNvSpPr/>
          <p:nvPr/>
        </p:nvSpPr>
        <p:spPr>
          <a:xfrm>
            <a:off x="3291840" y="1325880"/>
            <a:ext cx="2560320" cy="3200400"/>
          </a:xfrm>
          <a:prstGeom prst="roundRect">
            <a:avLst>
              <a:gd name="adj" fmla="val 428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0" name="Shape 7"/>
          <p:cNvSpPr/>
          <p:nvPr/>
        </p:nvSpPr>
        <p:spPr>
          <a:xfrm>
            <a:off x="3931920" y="1508760"/>
            <a:ext cx="1280160" cy="1280160"/>
          </a:xfrm>
          <a:prstGeom prst="ellipse">
            <a:avLst/>
          </a:prstGeom>
          <a:solidFill>
            <a:srgbClr val="F5EBCF"/>
          </a:solidFill>
          <a:ln/>
        </p:spPr>
      </p:sp>
      <p:sp>
        <p:nvSpPr>
          <p:cNvPr id="11" name="Shape 8"/>
          <p:cNvSpPr/>
          <p:nvPr/>
        </p:nvSpPr>
        <p:spPr>
          <a:xfrm>
            <a:off x="4160520" y="1828800"/>
            <a:ext cx="822960" cy="594360"/>
          </a:xfrm>
          <a:prstGeom prst="roundRect">
            <a:avLst>
              <a:gd name="adj" fmla="val 7692"/>
            </a:avLst>
          </a:prstGeom>
          <a:solidFill>
            <a:srgbClr val="0F2447"/>
          </a:solidFill>
          <a:ln/>
        </p:spPr>
      </p:sp>
      <p:sp>
        <p:nvSpPr>
          <p:cNvPr id="12" name="Shape 9"/>
          <p:cNvSpPr/>
          <p:nvPr/>
        </p:nvSpPr>
        <p:spPr>
          <a:xfrm>
            <a:off x="4251960" y="1920240"/>
            <a:ext cx="640080" cy="45720"/>
          </a:xfrm>
          <a:prstGeom prst="rect">
            <a:avLst/>
          </a:prstGeom>
          <a:solidFill>
            <a:srgbClr val="FFFFFF"/>
          </a:solidFill>
          <a:ln/>
        </p:spPr>
      </p:sp>
      <p:sp>
        <p:nvSpPr>
          <p:cNvPr id="13" name="Shape 10"/>
          <p:cNvSpPr/>
          <p:nvPr/>
        </p:nvSpPr>
        <p:spPr>
          <a:xfrm>
            <a:off x="4251960" y="2057400"/>
            <a:ext cx="640080" cy="45720"/>
          </a:xfrm>
          <a:prstGeom prst="rect">
            <a:avLst/>
          </a:prstGeom>
          <a:solidFill>
            <a:srgbClr val="FFFFFF"/>
          </a:solidFill>
          <a:ln/>
        </p:spPr>
      </p:sp>
      <p:sp>
        <p:nvSpPr>
          <p:cNvPr id="14" name="Shape 11"/>
          <p:cNvSpPr/>
          <p:nvPr/>
        </p:nvSpPr>
        <p:spPr>
          <a:xfrm>
            <a:off x="4251960" y="2194560"/>
            <a:ext cx="365760" cy="45720"/>
          </a:xfrm>
          <a:prstGeom prst="rect">
            <a:avLst/>
          </a:prstGeom>
          <a:solidFill>
            <a:srgbClr val="FFFFFF"/>
          </a:solidFill>
          <a:ln/>
        </p:spPr>
      </p:sp>
      <p:sp>
        <p:nvSpPr>
          <p:cNvPr id="15" name="Shape 12"/>
          <p:cNvSpPr/>
          <p:nvPr/>
        </p:nvSpPr>
        <p:spPr>
          <a:xfrm>
            <a:off x="4526280" y="2423160"/>
            <a:ext cx="91440" cy="182880"/>
          </a:xfrm>
          <a:prstGeom prst="rect">
            <a:avLst/>
          </a:prstGeom>
          <a:solidFill>
            <a:srgbClr val="0F2447"/>
          </a:solidFill>
          <a:ln/>
        </p:spPr>
      </p:sp>
      <p:sp>
        <p:nvSpPr>
          <p:cNvPr id="16" name="Text 13"/>
          <p:cNvSpPr txBox="1"/>
          <p:nvPr/>
        </p:nvSpPr>
        <p:spPr>
          <a:xfrm>
            <a:off x="3474720" y="2926080"/>
            <a:ext cx="2194560" cy="365760"/>
          </a:xfrm>
          <a:prstGeom prst="rect">
            <a:avLst/>
          </a:prstGeom>
          <a:noFill/>
          <a:ln/>
        </p:spPr>
        <p:txBody>
          <a:bodyPr wrap="square" lIns="0" tIns="0" rIns="0" bIns="0" rtlCol="0" anchor="ctr"/>
          <a:lstStyle/>
          <a:p>
            <a:pPr algn="ctr" indent="0" marL="0">
              <a:buNone/>
            </a:pPr>
            <a:r>
              <a:rPr lang="en-US" sz="1800" b="1" dirty="0">
                <a:solidFill>
                  <a:srgbClr val="0F2447"/>
                </a:solidFill>
                <a:latin typeface="Cambria" pitchFamily="34" charset="0"/>
                <a:ea typeface="Cambria" pitchFamily="34" charset="-122"/>
                <a:cs typeface="Cambria" pitchFamily="34" charset="-120"/>
              </a:rPr>
              <a:t>Giáo viên</a:t>
            </a:r>
            <a:endParaRPr lang="en-US" sz="1800" dirty="0"/>
          </a:p>
        </p:txBody>
      </p:sp>
      <p:sp>
        <p:nvSpPr>
          <p:cNvPr id="17" name="Text 14"/>
          <p:cNvSpPr txBox="1"/>
          <p:nvPr/>
        </p:nvSpPr>
        <p:spPr>
          <a:xfrm>
            <a:off x="3520440" y="3337560"/>
            <a:ext cx="2103120" cy="1005840"/>
          </a:xfrm>
          <a:prstGeom prst="rect">
            <a:avLst/>
          </a:prstGeom>
          <a:noFill/>
          <a:ln/>
        </p:spPr>
        <p:txBody>
          <a:bodyPr wrap="square" lIns="0" tIns="0" rIns="0" bIns="0" rtlCol="0" anchor="t"/>
          <a:lstStyle/>
          <a:p>
            <a:pPr algn="ctr" indent="0" marL="0">
              <a:buNone/>
            </a:pPr>
            <a:r>
              <a:rPr lang="en-US" sz="1300" dirty="0">
                <a:solidFill>
                  <a:srgbClr val="566175"/>
                </a:solidFill>
                <a:latin typeface="Calibri" pitchFamily="34" charset="0"/>
                <a:ea typeface="Calibri" pitchFamily="34" charset="-122"/>
                <a:cs typeface="Calibri" pitchFamily="34" charset="-120"/>
              </a:rPr>
              <a:t>Quản lý lớp, chuẩn bị học liệu và động viên học sinh.</a:t>
            </a:r>
            <a:endParaRPr lang="en-US" sz="1300" dirty="0"/>
          </a:p>
        </p:txBody>
      </p:sp>
      <p:sp>
        <p:nvSpPr>
          <p:cNvPr id="18" name="Shape 15"/>
          <p:cNvSpPr/>
          <p:nvPr/>
        </p:nvSpPr>
        <p:spPr>
          <a:xfrm>
            <a:off x="6035040" y="1325880"/>
            <a:ext cx="2560320" cy="3200400"/>
          </a:xfrm>
          <a:prstGeom prst="roundRect">
            <a:avLst>
              <a:gd name="adj" fmla="val 428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9" name="Shape 16"/>
          <p:cNvSpPr/>
          <p:nvPr/>
        </p:nvSpPr>
        <p:spPr>
          <a:xfrm>
            <a:off x="6675120" y="1508760"/>
            <a:ext cx="1280160" cy="1280160"/>
          </a:xfrm>
          <a:prstGeom prst="ellipse">
            <a:avLst/>
          </a:prstGeom>
          <a:solidFill>
            <a:srgbClr val="E4EAF6"/>
          </a:solidFill>
          <a:ln/>
        </p:spPr>
      </p:sp>
      <p:sp>
        <p:nvSpPr>
          <p:cNvPr id="20" name="Shape 17"/>
          <p:cNvSpPr/>
          <p:nvPr/>
        </p:nvSpPr>
        <p:spPr>
          <a:xfrm>
            <a:off x="6903720" y="1828800"/>
            <a:ext cx="822960" cy="731520"/>
          </a:xfrm>
          <a:prstGeom prst="heart">
            <a:avLst/>
          </a:prstGeom>
          <a:solidFill>
            <a:srgbClr val="D9694F"/>
          </a:solidFill>
          <a:ln/>
        </p:spPr>
      </p:sp>
      <p:sp>
        <p:nvSpPr>
          <p:cNvPr id="21" name="Text 18"/>
          <p:cNvSpPr txBox="1"/>
          <p:nvPr/>
        </p:nvSpPr>
        <p:spPr>
          <a:xfrm>
            <a:off x="6217920" y="2926080"/>
            <a:ext cx="2194560" cy="365760"/>
          </a:xfrm>
          <a:prstGeom prst="rect">
            <a:avLst/>
          </a:prstGeom>
          <a:noFill/>
          <a:ln/>
        </p:spPr>
        <p:txBody>
          <a:bodyPr wrap="square" lIns="0" tIns="0" rIns="0" bIns="0" rtlCol="0" anchor="ctr"/>
          <a:lstStyle/>
          <a:p>
            <a:pPr algn="ctr" indent="0" marL="0">
              <a:buNone/>
            </a:pPr>
            <a:r>
              <a:rPr lang="en-US" sz="1800" b="1" dirty="0">
                <a:solidFill>
                  <a:srgbClr val="0F2447"/>
                </a:solidFill>
                <a:latin typeface="Cambria" pitchFamily="34" charset="0"/>
                <a:ea typeface="Cambria" pitchFamily="34" charset="-122"/>
                <a:cs typeface="Cambria" pitchFamily="34" charset="-120"/>
              </a:rPr>
              <a:t>Phụ huynh</a:t>
            </a:r>
            <a:endParaRPr lang="en-US" sz="1800" dirty="0"/>
          </a:p>
        </p:txBody>
      </p:sp>
      <p:sp>
        <p:nvSpPr>
          <p:cNvPr id="22" name="Text 19"/>
          <p:cNvSpPr txBox="1"/>
          <p:nvPr/>
        </p:nvSpPr>
        <p:spPr>
          <a:xfrm>
            <a:off x="6263640" y="3337560"/>
            <a:ext cx="2103120" cy="1005840"/>
          </a:xfrm>
          <a:prstGeom prst="rect">
            <a:avLst/>
          </a:prstGeom>
          <a:noFill/>
          <a:ln/>
        </p:spPr>
        <p:txBody>
          <a:bodyPr wrap="square" lIns="0" tIns="0" rIns="0" bIns="0" rtlCol="0" anchor="t"/>
          <a:lstStyle/>
          <a:p>
            <a:pPr algn="ctr" indent="0" marL="0">
              <a:buNone/>
            </a:pPr>
            <a:r>
              <a:rPr lang="en-US" sz="1300" dirty="0">
                <a:solidFill>
                  <a:srgbClr val="566175"/>
                </a:solidFill>
                <a:latin typeface="Calibri" pitchFamily="34" charset="0"/>
                <a:ea typeface="Calibri" pitchFamily="34" charset="-122"/>
                <a:cs typeface="Calibri" pitchFamily="34" charset="-120"/>
              </a:rPr>
              <a:t>Đồng hành, nhắc nhở và chia sẻ niềm vui tiến bộ cùng con.</a:t>
            </a:r>
            <a:endParaRPr lang="en-US" sz="13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HÀNH TRÌNH HỌC TẬP</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Một lần luyện tập của học sinh</a:t>
            </a:r>
            <a:endParaRPr lang="en-US" sz="3000" dirty="0"/>
          </a:p>
        </p:txBody>
      </p:sp>
      <p:sp>
        <p:nvSpPr>
          <p:cNvPr id="4" name="Shape 2"/>
          <p:cNvSpPr/>
          <p:nvPr/>
        </p:nvSpPr>
        <p:spPr>
          <a:xfrm>
            <a:off x="548640" y="1280160"/>
            <a:ext cx="1039673" cy="1554480"/>
          </a:xfrm>
          <a:prstGeom prst="roundRect">
            <a:avLst>
              <a:gd name="adj" fmla="val 10554"/>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5" name="Shape 3"/>
          <p:cNvSpPr/>
          <p:nvPr/>
        </p:nvSpPr>
        <p:spPr>
          <a:xfrm>
            <a:off x="885596" y="1389888"/>
            <a:ext cx="365760" cy="365760"/>
          </a:xfrm>
          <a:prstGeom prst="ellipse">
            <a:avLst/>
          </a:prstGeom>
          <a:solidFill>
            <a:srgbClr val="0E8A7D"/>
          </a:solidFill>
          <a:ln/>
        </p:spPr>
      </p:sp>
      <p:sp>
        <p:nvSpPr>
          <p:cNvPr id="6" name="Text 4"/>
          <p:cNvSpPr txBox="1"/>
          <p:nvPr/>
        </p:nvSpPr>
        <p:spPr>
          <a:xfrm>
            <a:off x="885596" y="1389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594360" y="1828800"/>
            <a:ext cx="948233" cy="640080"/>
          </a:xfrm>
          <a:prstGeom prst="rect">
            <a:avLst/>
          </a:prstGeom>
          <a:noFill/>
          <a:ln/>
        </p:spPr>
        <p:txBody>
          <a:bodyPr wrap="square" lIns="0" tIns="0" rIns="0" bIns="0" rtlCol="0" anchor="ctr"/>
          <a:lstStyle/>
          <a:p>
            <a:pPr algn="ctr" indent="0" marL="0">
              <a:buNone/>
            </a:pPr>
            <a:r>
              <a:rPr lang="en-US" sz="1300" b="1" dirty="0">
                <a:solidFill>
                  <a:srgbClr val="0F2447"/>
                </a:solidFill>
                <a:latin typeface="Cambria" pitchFamily="34" charset="0"/>
                <a:ea typeface="Cambria" pitchFamily="34" charset="-122"/>
                <a:cs typeface="Cambria" pitchFamily="34" charset="-120"/>
              </a:rPr>
              <a:t>Mở thẻ học</a:t>
            </a:r>
            <a:endParaRPr lang="en-US" sz="1300" dirty="0"/>
          </a:p>
        </p:txBody>
      </p:sp>
      <p:sp>
        <p:nvSpPr>
          <p:cNvPr id="8" name="Text 6"/>
          <p:cNvSpPr txBox="1"/>
          <p:nvPr/>
        </p:nvSpPr>
        <p:spPr>
          <a:xfrm>
            <a:off x="576072" y="2514600"/>
            <a:ext cx="984809" cy="228600"/>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a:t>
            </a:r>
            <a:endParaRPr lang="en-US" sz="1000" dirty="0"/>
          </a:p>
        </p:txBody>
      </p:sp>
      <p:sp>
        <p:nvSpPr>
          <p:cNvPr id="9" name="Shape 7"/>
          <p:cNvSpPr/>
          <p:nvPr/>
        </p:nvSpPr>
        <p:spPr>
          <a:xfrm rot="5400000">
            <a:off x="1606601" y="1920240"/>
            <a:ext cx="91440" cy="146304"/>
          </a:xfrm>
          <a:prstGeom prst="triangle">
            <a:avLst/>
          </a:prstGeom>
          <a:solidFill>
            <a:srgbClr val="C9A24A"/>
          </a:solidFill>
          <a:ln/>
        </p:spPr>
      </p:sp>
      <p:sp>
        <p:nvSpPr>
          <p:cNvPr id="10" name="Shape 8"/>
          <p:cNvSpPr/>
          <p:nvPr/>
        </p:nvSpPr>
        <p:spPr>
          <a:xfrm>
            <a:off x="1716329" y="1280160"/>
            <a:ext cx="1039673" cy="1554480"/>
          </a:xfrm>
          <a:prstGeom prst="roundRect">
            <a:avLst>
              <a:gd name="adj" fmla="val 10554"/>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1" name="Shape 9"/>
          <p:cNvSpPr/>
          <p:nvPr/>
        </p:nvSpPr>
        <p:spPr>
          <a:xfrm>
            <a:off x="2053285" y="1389888"/>
            <a:ext cx="365760" cy="365760"/>
          </a:xfrm>
          <a:prstGeom prst="ellipse">
            <a:avLst/>
          </a:prstGeom>
          <a:solidFill>
            <a:srgbClr val="0E8A7D"/>
          </a:solidFill>
          <a:ln/>
        </p:spPr>
      </p:sp>
      <p:sp>
        <p:nvSpPr>
          <p:cNvPr id="12" name="Text 10"/>
          <p:cNvSpPr txBox="1"/>
          <p:nvPr/>
        </p:nvSpPr>
        <p:spPr>
          <a:xfrm>
            <a:off x="2053285" y="1389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1762049" y="1828800"/>
            <a:ext cx="948233" cy="640080"/>
          </a:xfrm>
          <a:prstGeom prst="rect">
            <a:avLst/>
          </a:prstGeom>
          <a:noFill/>
          <a:ln/>
        </p:spPr>
        <p:txBody>
          <a:bodyPr wrap="square" lIns="0" tIns="0" rIns="0" bIns="0" rtlCol="0" anchor="ctr"/>
          <a:lstStyle/>
          <a:p>
            <a:pPr algn="ctr" indent="0" marL="0">
              <a:buNone/>
            </a:pPr>
            <a:r>
              <a:rPr lang="en-US" sz="1300" b="1" dirty="0">
                <a:solidFill>
                  <a:srgbClr val="0F2447"/>
                </a:solidFill>
                <a:latin typeface="Cambria" pitchFamily="34" charset="0"/>
                <a:ea typeface="Cambria" pitchFamily="34" charset="-122"/>
                <a:cs typeface="Cambria" pitchFamily="34" charset="-120"/>
              </a:rPr>
              <a:t>Vào trang của con</a:t>
            </a:r>
            <a:endParaRPr lang="en-US" sz="1300" dirty="0"/>
          </a:p>
        </p:txBody>
      </p:sp>
      <p:sp>
        <p:nvSpPr>
          <p:cNvPr id="14" name="Text 12"/>
          <p:cNvSpPr txBox="1"/>
          <p:nvPr/>
        </p:nvSpPr>
        <p:spPr>
          <a:xfrm>
            <a:off x="1743761" y="2514600"/>
            <a:ext cx="984809" cy="228600"/>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a:t>
            </a:r>
            <a:endParaRPr lang="en-US" sz="1000" dirty="0"/>
          </a:p>
        </p:txBody>
      </p:sp>
      <p:sp>
        <p:nvSpPr>
          <p:cNvPr id="15" name="Shape 13"/>
          <p:cNvSpPr/>
          <p:nvPr/>
        </p:nvSpPr>
        <p:spPr>
          <a:xfrm rot="5400000">
            <a:off x="2774290" y="1920240"/>
            <a:ext cx="91440" cy="146304"/>
          </a:xfrm>
          <a:prstGeom prst="triangle">
            <a:avLst/>
          </a:prstGeom>
          <a:solidFill>
            <a:srgbClr val="C9A24A"/>
          </a:solidFill>
          <a:ln/>
        </p:spPr>
      </p:sp>
      <p:sp>
        <p:nvSpPr>
          <p:cNvPr id="16" name="Shape 14"/>
          <p:cNvSpPr/>
          <p:nvPr/>
        </p:nvSpPr>
        <p:spPr>
          <a:xfrm>
            <a:off x="2884018" y="1280160"/>
            <a:ext cx="1039673" cy="1554480"/>
          </a:xfrm>
          <a:prstGeom prst="roundRect">
            <a:avLst>
              <a:gd name="adj" fmla="val 10554"/>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7" name="Shape 15"/>
          <p:cNvSpPr/>
          <p:nvPr/>
        </p:nvSpPr>
        <p:spPr>
          <a:xfrm>
            <a:off x="3220974" y="1389888"/>
            <a:ext cx="365760" cy="365760"/>
          </a:xfrm>
          <a:prstGeom prst="ellipse">
            <a:avLst/>
          </a:prstGeom>
          <a:solidFill>
            <a:srgbClr val="0E8A7D"/>
          </a:solidFill>
          <a:ln/>
        </p:spPr>
      </p:sp>
      <p:sp>
        <p:nvSpPr>
          <p:cNvPr id="18" name="Text 16"/>
          <p:cNvSpPr txBox="1"/>
          <p:nvPr/>
        </p:nvSpPr>
        <p:spPr>
          <a:xfrm>
            <a:off x="3220974" y="1389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2929738" y="1828800"/>
            <a:ext cx="948233" cy="640080"/>
          </a:xfrm>
          <a:prstGeom prst="rect">
            <a:avLst/>
          </a:prstGeom>
          <a:noFill/>
          <a:ln/>
        </p:spPr>
        <p:txBody>
          <a:bodyPr wrap="square" lIns="0" tIns="0" rIns="0" bIns="0" rtlCol="0" anchor="ctr"/>
          <a:lstStyle/>
          <a:p>
            <a:pPr algn="ctr" indent="0" marL="0">
              <a:buNone/>
            </a:pPr>
            <a:r>
              <a:rPr lang="en-US" sz="1300" b="1" dirty="0">
                <a:solidFill>
                  <a:srgbClr val="0F2447"/>
                </a:solidFill>
                <a:latin typeface="Cambria" pitchFamily="34" charset="0"/>
                <a:ea typeface="Cambria" pitchFamily="34" charset="-122"/>
                <a:cs typeface="Cambria" pitchFamily="34" charset="-120"/>
              </a:rPr>
              <a:t>Làm bài</a:t>
            </a:r>
            <a:endParaRPr lang="en-US" sz="1300" dirty="0"/>
          </a:p>
        </p:txBody>
      </p:sp>
      <p:sp>
        <p:nvSpPr>
          <p:cNvPr id="20" name="Text 18"/>
          <p:cNvSpPr txBox="1"/>
          <p:nvPr/>
        </p:nvSpPr>
        <p:spPr>
          <a:xfrm>
            <a:off x="2911450" y="2514600"/>
            <a:ext cx="984809" cy="228600"/>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a:t>
            </a:r>
            <a:endParaRPr lang="en-US" sz="1000" dirty="0"/>
          </a:p>
        </p:txBody>
      </p:sp>
      <p:sp>
        <p:nvSpPr>
          <p:cNvPr id="21" name="Shape 19"/>
          <p:cNvSpPr/>
          <p:nvPr/>
        </p:nvSpPr>
        <p:spPr>
          <a:xfrm rot="5400000">
            <a:off x="3941978" y="1920240"/>
            <a:ext cx="91440" cy="146304"/>
          </a:xfrm>
          <a:prstGeom prst="triangle">
            <a:avLst/>
          </a:prstGeom>
          <a:solidFill>
            <a:srgbClr val="C9A24A"/>
          </a:solidFill>
          <a:ln/>
        </p:spPr>
      </p:sp>
      <p:sp>
        <p:nvSpPr>
          <p:cNvPr id="22" name="Shape 20"/>
          <p:cNvSpPr/>
          <p:nvPr/>
        </p:nvSpPr>
        <p:spPr>
          <a:xfrm>
            <a:off x="4051706" y="1280160"/>
            <a:ext cx="1039673" cy="1554480"/>
          </a:xfrm>
          <a:prstGeom prst="roundRect">
            <a:avLst>
              <a:gd name="adj" fmla="val 10554"/>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3" name="Shape 21"/>
          <p:cNvSpPr/>
          <p:nvPr/>
        </p:nvSpPr>
        <p:spPr>
          <a:xfrm>
            <a:off x="4388663" y="1389888"/>
            <a:ext cx="365760" cy="365760"/>
          </a:xfrm>
          <a:prstGeom prst="ellipse">
            <a:avLst/>
          </a:prstGeom>
          <a:solidFill>
            <a:srgbClr val="0E8A7D"/>
          </a:solidFill>
          <a:ln/>
        </p:spPr>
      </p:sp>
      <p:sp>
        <p:nvSpPr>
          <p:cNvPr id="24" name="Text 22"/>
          <p:cNvSpPr txBox="1"/>
          <p:nvPr/>
        </p:nvSpPr>
        <p:spPr>
          <a:xfrm>
            <a:off x="4388663" y="1389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4097426" y="1828800"/>
            <a:ext cx="948233" cy="640080"/>
          </a:xfrm>
          <a:prstGeom prst="rect">
            <a:avLst/>
          </a:prstGeom>
          <a:noFill/>
          <a:ln/>
        </p:spPr>
        <p:txBody>
          <a:bodyPr wrap="square" lIns="0" tIns="0" rIns="0" bIns="0" rtlCol="0" anchor="ctr"/>
          <a:lstStyle/>
          <a:p>
            <a:pPr algn="ctr" indent="0" marL="0">
              <a:buNone/>
            </a:pPr>
            <a:r>
              <a:rPr lang="en-US" sz="1300" b="1" dirty="0">
                <a:solidFill>
                  <a:srgbClr val="0F2447"/>
                </a:solidFill>
                <a:latin typeface="Cambria" pitchFamily="34" charset="0"/>
                <a:ea typeface="Cambria" pitchFamily="34" charset="-122"/>
                <a:cs typeface="Cambria" pitchFamily="34" charset="-120"/>
              </a:rPr>
              <a:t>Nhận phản hồi</a:t>
            </a:r>
            <a:endParaRPr lang="en-US" sz="1300" dirty="0"/>
          </a:p>
        </p:txBody>
      </p:sp>
      <p:sp>
        <p:nvSpPr>
          <p:cNvPr id="26" name="Text 24"/>
          <p:cNvSpPr txBox="1"/>
          <p:nvPr/>
        </p:nvSpPr>
        <p:spPr>
          <a:xfrm>
            <a:off x="4079138" y="2514600"/>
            <a:ext cx="984809" cy="228600"/>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a:t>
            </a:r>
            <a:endParaRPr lang="en-US" sz="1000" dirty="0"/>
          </a:p>
        </p:txBody>
      </p:sp>
      <p:sp>
        <p:nvSpPr>
          <p:cNvPr id="27" name="Shape 25"/>
          <p:cNvSpPr/>
          <p:nvPr/>
        </p:nvSpPr>
        <p:spPr>
          <a:xfrm rot="5400000">
            <a:off x="5109667" y="1920240"/>
            <a:ext cx="91440" cy="146304"/>
          </a:xfrm>
          <a:prstGeom prst="triangle">
            <a:avLst/>
          </a:prstGeom>
          <a:solidFill>
            <a:srgbClr val="C9A24A"/>
          </a:solidFill>
          <a:ln/>
        </p:spPr>
      </p:sp>
      <p:sp>
        <p:nvSpPr>
          <p:cNvPr id="28" name="Shape 26"/>
          <p:cNvSpPr/>
          <p:nvPr/>
        </p:nvSpPr>
        <p:spPr>
          <a:xfrm>
            <a:off x="5219395" y="1280160"/>
            <a:ext cx="1039673" cy="1554480"/>
          </a:xfrm>
          <a:prstGeom prst="roundRect">
            <a:avLst>
              <a:gd name="adj" fmla="val 10554"/>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9" name="Shape 27"/>
          <p:cNvSpPr/>
          <p:nvPr/>
        </p:nvSpPr>
        <p:spPr>
          <a:xfrm>
            <a:off x="5556352" y="1389888"/>
            <a:ext cx="365760" cy="365760"/>
          </a:xfrm>
          <a:prstGeom prst="ellipse">
            <a:avLst/>
          </a:prstGeom>
          <a:solidFill>
            <a:srgbClr val="0E8A7D"/>
          </a:solidFill>
          <a:ln/>
        </p:spPr>
      </p:sp>
      <p:sp>
        <p:nvSpPr>
          <p:cNvPr id="30" name="Text 28"/>
          <p:cNvSpPr txBox="1"/>
          <p:nvPr/>
        </p:nvSpPr>
        <p:spPr>
          <a:xfrm>
            <a:off x="5556352" y="1389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5265115" y="1828800"/>
            <a:ext cx="948233" cy="640080"/>
          </a:xfrm>
          <a:prstGeom prst="rect">
            <a:avLst/>
          </a:prstGeom>
          <a:noFill/>
          <a:ln/>
        </p:spPr>
        <p:txBody>
          <a:bodyPr wrap="square" lIns="0" tIns="0" rIns="0" bIns="0" rtlCol="0" anchor="ctr"/>
          <a:lstStyle/>
          <a:p>
            <a:pPr algn="ctr" indent="0" marL="0">
              <a:buNone/>
            </a:pPr>
            <a:r>
              <a:rPr lang="en-US" sz="1300" b="1" dirty="0">
                <a:solidFill>
                  <a:srgbClr val="0F2447"/>
                </a:solidFill>
                <a:latin typeface="Cambria" pitchFamily="34" charset="0"/>
                <a:ea typeface="Cambria" pitchFamily="34" charset="-122"/>
                <a:cs typeface="Cambria" pitchFamily="34" charset="-120"/>
              </a:rPr>
              <a:t>Tích điểm</a:t>
            </a:r>
            <a:endParaRPr lang="en-US" sz="1300" dirty="0"/>
          </a:p>
        </p:txBody>
      </p:sp>
      <p:sp>
        <p:nvSpPr>
          <p:cNvPr id="32" name="Text 30"/>
          <p:cNvSpPr txBox="1"/>
          <p:nvPr/>
        </p:nvSpPr>
        <p:spPr>
          <a:xfrm>
            <a:off x="5246827" y="2514600"/>
            <a:ext cx="984809" cy="228600"/>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a:t>
            </a:r>
            <a:endParaRPr lang="en-US" sz="1000" dirty="0"/>
          </a:p>
        </p:txBody>
      </p:sp>
      <p:sp>
        <p:nvSpPr>
          <p:cNvPr id="33" name="Shape 31"/>
          <p:cNvSpPr/>
          <p:nvPr/>
        </p:nvSpPr>
        <p:spPr>
          <a:xfrm rot="5400000">
            <a:off x="6277356" y="1920240"/>
            <a:ext cx="91440" cy="146304"/>
          </a:xfrm>
          <a:prstGeom prst="triangle">
            <a:avLst/>
          </a:prstGeom>
          <a:solidFill>
            <a:srgbClr val="C9A24A"/>
          </a:solidFill>
          <a:ln/>
        </p:spPr>
      </p:sp>
      <p:sp>
        <p:nvSpPr>
          <p:cNvPr id="34" name="Shape 32"/>
          <p:cNvSpPr/>
          <p:nvPr/>
        </p:nvSpPr>
        <p:spPr>
          <a:xfrm>
            <a:off x="6387084" y="1280160"/>
            <a:ext cx="1039673" cy="1554480"/>
          </a:xfrm>
          <a:prstGeom prst="roundRect">
            <a:avLst>
              <a:gd name="adj" fmla="val 10554"/>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35" name="Shape 33"/>
          <p:cNvSpPr/>
          <p:nvPr/>
        </p:nvSpPr>
        <p:spPr>
          <a:xfrm>
            <a:off x="6724040" y="1389888"/>
            <a:ext cx="365760" cy="365760"/>
          </a:xfrm>
          <a:prstGeom prst="ellipse">
            <a:avLst/>
          </a:prstGeom>
          <a:solidFill>
            <a:srgbClr val="0E8A7D"/>
          </a:solidFill>
          <a:ln/>
        </p:spPr>
      </p:sp>
      <p:sp>
        <p:nvSpPr>
          <p:cNvPr id="36" name="Text 34"/>
          <p:cNvSpPr txBox="1"/>
          <p:nvPr/>
        </p:nvSpPr>
        <p:spPr>
          <a:xfrm>
            <a:off x="6724040" y="1389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6432804" y="1828800"/>
            <a:ext cx="948233" cy="640080"/>
          </a:xfrm>
          <a:prstGeom prst="rect">
            <a:avLst/>
          </a:prstGeom>
          <a:noFill/>
          <a:ln/>
        </p:spPr>
        <p:txBody>
          <a:bodyPr wrap="square" lIns="0" tIns="0" rIns="0" bIns="0" rtlCol="0" anchor="ctr"/>
          <a:lstStyle/>
          <a:p>
            <a:pPr algn="ctr" indent="0" marL="0">
              <a:buNone/>
            </a:pPr>
            <a:r>
              <a:rPr lang="en-US" sz="1300" b="1" dirty="0">
                <a:solidFill>
                  <a:srgbClr val="0F2447"/>
                </a:solidFill>
                <a:latin typeface="Cambria" pitchFamily="34" charset="0"/>
                <a:ea typeface="Cambria" pitchFamily="34" charset="-122"/>
                <a:cs typeface="Cambria" pitchFamily="34" charset="-120"/>
              </a:rPr>
              <a:t>Khám phá bản đồ</a:t>
            </a:r>
            <a:endParaRPr lang="en-US" sz="1300" dirty="0"/>
          </a:p>
        </p:txBody>
      </p:sp>
      <p:sp>
        <p:nvSpPr>
          <p:cNvPr id="38" name="Text 36"/>
          <p:cNvSpPr txBox="1"/>
          <p:nvPr/>
        </p:nvSpPr>
        <p:spPr>
          <a:xfrm>
            <a:off x="6414516" y="2514600"/>
            <a:ext cx="984809" cy="228600"/>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a:t>
            </a:r>
            <a:endParaRPr lang="en-US" sz="1000" dirty="0"/>
          </a:p>
        </p:txBody>
      </p:sp>
      <p:sp>
        <p:nvSpPr>
          <p:cNvPr id="39" name="Shape 37"/>
          <p:cNvSpPr/>
          <p:nvPr/>
        </p:nvSpPr>
        <p:spPr>
          <a:xfrm rot="5400000">
            <a:off x="7445045" y="1920240"/>
            <a:ext cx="91440" cy="146304"/>
          </a:xfrm>
          <a:prstGeom prst="triangle">
            <a:avLst/>
          </a:prstGeom>
          <a:solidFill>
            <a:srgbClr val="C9A24A"/>
          </a:solidFill>
          <a:ln/>
        </p:spPr>
      </p:sp>
      <p:sp>
        <p:nvSpPr>
          <p:cNvPr id="40" name="Shape 38"/>
          <p:cNvSpPr/>
          <p:nvPr/>
        </p:nvSpPr>
        <p:spPr>
          <a:xfrm>
            <a:off x="7554773" y="1280160"/>
            <a:ext cx="1039673" cy="1554480"/>
          </a:xfrm>
          <a:prstGeom prst="roundRect">
            <a:avLst>
              <a:gd name="adj" fmla="val 10554"/>
            </a:avLst>
          </a:prstGeom>
          <a:solidFill>
            <a:srgbClr val="F5EBC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41" name="Shape 39"/>
          <p:cNvSpPr/>
          <p:nvPr/>
        </p:nvSpPr>
        <p:spPr>
          <a:xfrm>
            <a:off x="7891729" y="1389888"/>
            <a:ext cx="365760" cy="365760"/>
          </a:xfrm>
          <a:prstGeom prst="ellipse">
            <a:avLst/>
          </a:prstGeom>
          <a:solidFill>
            <a:srgbClr val="C9A24A"/>
          </a:solidFill>
          <a:ln/>
        </p:spPr>
      </p:sp>
      <p:sp>
        <p:nvSpPr>
          <p:cNvPr id="42" name="Text 40"/>
          <p:cNvSpPr txBox="1"/>
          <p:nvPr/>
        </p:nvSpPr>
        <p:spPr>
          <a:xfrm>
            <a:off x="7891729" y="13898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7600493" y="1828800"/>
            <a:ext cx="948233" cy="640080"/>
          </a:xfrm>
          <a:prstGeom prst="rect">
            <a:avLst/>
          </a:prstGeom>
          <a:noFill/>
          <a:ln/>
        </p:spPr>
        <p:txBody>
          <a:bodyPr wrap="square" lIns="0" tIns="0" rIns="0" bIns="0" rtlCol="0" anchor="ctr"/>
          <a:lstStyle/>
          <a:p>
            <a:pPr algn="ctr" indent="0" marL="0">
              <a:buNone/>
            </a:pPr>
            <a:r>
              <a:rPr lang="en-US" sz="1300" b="1" dirty="0">
                <a:solidFill>
                  <a:srgbClr val="0F2447"/>
                </a:solidFill>
                <a:latin typeface="Cambria" pitchFamily="34" charset="0"/>
                <a:ea typeface="Cambria" pitchFamily="34" charset="-122"/>
                <a:cs typeface="Cambria" pitchFamily="34" charset="-120"/>
              </a:rPr>
              <a:t>Chơi Mê cung</a:t>
            </a:r>
            <a:endParaRPr lang="en-US" sz="1300" dirty="0"/>
          </a:p>
        </p:txBody>
      </p:sp>
      <p:sp>
        <p:nvSpPr>
          <p:cNvPr id="44" name="Text 42"/>
          <p:cNvSpPr txBox="1"/>
          <p:nvPr/>
        </p:nvSpPr>
        <p:spPr>
          <a:xfrm>
            <a:off x="7582205" y="2514600"/>
            <a:ext cx="984809" cy="228600"/>
          </a:xfrm>
          <a:prstGeom prst="rect">
            <a:avLst/>
          </a:prstGeom>
          <a:noFill/>
          <a:ln/>
        </p:spPr>
        <p:txBody>
          <a:bodyPr wrap="square" lIns="0" tIns="0" rIns="0" bIns="0" rtlCol="0" anchor="ctr"/>
          <a:lstStyle/>
          <a:p>
            <a:pPr algn="ctr" indent="0" marL="0">
              <a:buNone/>
            </a:pPr>
            <a:r>
              <a:rPr lang="en-US" sz="1000" b="1" dirty="0">
                <a:solidFill>
                  <a:srgbClr val="9A7416"/>
                </a:solidFill>
                <a:latin typeface="Calibri" pitchFamily="34" charset="0"/>
                <a:ea typeface="Calibri" pitchFamily="34" charset="-122"/>
                <a:cs typeface="Calibri" pitchFamily="34" charset="-120"/>
              </a:rPr>
              <a:t>BẢN CHƠI THỬ</a:t>
            </a:r>
            <a:endParaRPr lang="en-US" sz="1000" dirty="0"/>
          </a:p>
        </p:txBody>
      </p:sp>
      <p:pic>
        <p:nvPicPr>
          <p:cNvPr id="45" name="Image 0" descr="Bản đồ thế giới phiêu lưu">    </p:cNvPr>
          <p:cNvPicPr>
            <a:picLocks noChangeAspect="1"/>
          </p:cNvPicPr>
          <p:nvPr/>
        </p:nvPicPr>
        <p:blipFill>
          <a:blip r:embed="rId1"/>
          <a:stretch>
            <a:fillRect/>
          </a:stretch>
        </p:blipFill>
        <p:spPr>
          <a:xfrm>
            <a:off x="548640" y="3017520"/>
            <a:ext cx="2743200" cy="1554480"/>
          </a:xfrm>
          <a:prstGeom prst="rect">
            <a:avLst/>
          </a:prstGeom>
        </p:spPr>
      </p:pic>
      <p:pic>
        <p:nvPicPr>
          <p:cNvPr id="46" name="Image 1" descr="Các mốc khám phá">    </p:cNvPr>
          <p:cNvPicPr>
            <a:picLocks noChangeAspect="1"/>
          </p:cNvPicPr>
          <p:nvPr/>
        </p:nvPicPr>
        <p:blipFill>
          <a:blip r:embed="rId2"/>
          <a:stretch>
            <a:fillRect/>
          </a:stretch>
        </p:blipFill>
        <p:spPr>
          <a:xfrm>
            <a:off x="3429000" y="3017520"/>
            <a:ext cx="5166360" cy="850392"/>
          </a:xfrm>
          <a:prstGeom prst="rect">
            <a:avLst/>
          </a:prstGeom>
        </p:spPr>
      </p:pic>
      <p:sp>
        <p:nvSpPr>
          <p:cNvPr id="47" name="Shape 43"/>
          <p:cNvSpPr/>
          <p:nvPr/>
        </p:nvSpPr>
        <p:spPr>
          <a:xfrm>
            <a:off x="3429000" y="4005072"/>
            <a:ext cx="5166360" cy="566928"/>
          </a:xfrm>
          <a:prstGeom prst="roundRect">
            <a:avLst>
              <a:gd name="adj" fmla="val 16129"/>
            </a:avLst>
          </a:prstGeom>
          <a:solidFill>
            <a:srgbClr val="F5EBCF"/>
          </a:solidFill>
          <a:ln/>
        </p:spPr>
      </p:sp>
      <p:sp>
        <p:nvSpPr>
          <p:cNvPr id="48" name="Text 44"/>
          <p:cNvSpPr txBox="1"/>
          <p:nvPr/>
        </p:nvSpPr>
        <p:spPr>
          <a:xfrm>
            <a:off x="3611880" y="4005072"/>
            <a:ext cx="4846320" cy="566928"/>
          </a:xfrm>
          <a:prstGeom prst="rect">
            <a:avLst/>
          </a:prstGeom>
          <a:noFill/>
          <a:ln/>
        </p:spPr>
        <p:txBody>
          <a:bodyPr wrap="square" lIns="0" tIns="0" rIns="0" bIns="0" rtlCol="0" anchor="ctr"/>
          <a:lstStyle/>
          <a:p>
            <a:pPr indent="0" marL="0">
              <a:buNone/>
            </a:pPr>
            <a:r>
              <a:rPr lang="en-US" sz="1300" dirty="0">
                <a:solidFill>
                  <a:srgbClr val="1F2A3C"/>
                </a:solidFill>
                <a:latin typeface="Calibri" pitchFamily="34" charset="0"/>
                <a:ea typeface="Calibri" pitchFamily="34" charset="-122"/>
                <a:cs typeface="Calibri" pitchFamily="34" charset="-120"/>
              </a:rPr>
              <a:t>Đã chạy thử với nội dung mẫu; học liệu thật chờ giáo viên duyệt.</a:t>
            </a:r>
            <a:endParaRPr lang="en-US" sz="13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BƯỚC 1</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Học sinh bắt đầu như thế nào?</a:t>
            </a:r>
            <a:endParaRPr lang="en-US" sz="3000" dirty="0"/>
          </a:p>
        </p:txBody>
      </p:sp>
      <p:sp>
        <p:nvSpPr>
          <p:cNvPr id="4" name="Shape 2"/>
          <p:cNvSpPr/>
          <p:nvPr/>
        </p:nvSpPr>
        <p:spPr>
          <a:xfrm>
            <a:off x="548640" y="1371600"/>
            <a:ext cx="420624" cy="420624"/>
          </a:xfrm>
          <a:prstGeom prst="ellipse">
            <a:avLst/>
          </a:prstGeom>
          <a:solidFill>
            <a:srgbClr val="0E8A7D"/>
          </a:solidFill>
          <a:ln/>
        </p:spPr>
      </p:sp>
      <p:sp>
        <p:nvSpPr>
          <p:cNvPr id="5" name="Text 3"/>
          <p:cNvSpPr txBox="1"/>
          <p:nvPr/>
        </p:nvSpPr>
        <p:spPr>
          <a:xfrm>
            <a:off x="548640" y="13716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43000" y="1353312"/>
            <a:ext cx="3108960" cy="310896"/>
          </a:xfrm>
          <a:prstGeom prst="rect">
            <a:avLst/>
          </a:prstGeom>
          <a:noFill/>
          <a:ln/>
        </p:spPr>
        <p:txBody>
          <a:bodyPr wrap="square" lIns="0" tIns="0" rIns="0" bIns="0" rtlCol="0" anchor="ctr"/>
          <a:lstStyle/>
          <a:p>
            <a:pPr indent="0" marL="0">
              <a:buNone/>
            </a:pPr>
            <a:r>
              <a:rPr lang="en-US" sz="1600" b="1" dirty="0">
                <a:solidFill>
                  <a:srgbClr val="0F2447"/>
                </a:solidFill>
                <a:latin typeface="Cambria" pitchFamily="34" charset="0"/>
                <a:ea typeface="Cambria" pitchFamily="34" charset="-122"/>
                <a:cs typeface="Cambria" pitchFamily="34" charset="-120"/>
              </a:rPr>
              <a:t>Mở thẻ học</a:t>
            </a:r>
            <a:endParaRPr lang="en-US" sz="1600" dirty="0"/>
          </a:p>
        </p:txBody>
      </p:sp>
      <p:sp>
        <p:nvSpPr>
          <p:cNvPr id="7" name="Text 5"/>
          <p:cNvSpPr txBox="1"/>
          <p:nvPr/>
        </p:nvSpPr>
        <p:spPr>
          <a:xfrm>
            <a:off x="1143000" y="1664208"/>
            <a:ext cx="3108960" cy="548640"/>
          </a:xfrm>
          <a:prstGeom prst="rect">
            <a:avLst/>
          </a:prstGeom>
          <a:noFill/>
          <a:ln/>
        </p:spPr>
        <p:txBody>
          <a:bodyPr wrap="square" lIns="0" tIns="0" rIns="0" bIns="0" rtlCol="0" anchor="t"/>
          <a:lstStyle/>
          <a:p>
            <a:pPr indent="0" marL="0">
              <a:buNone/>
            </a:pPr>
            <a:r>
              <a:rPr lang="en-US" sz="1300" dirty="0">
                <a:solidFill>
                  <a:srgbClr val="566175"/>
                </a:solidFill>
                <a:latin typeface="Calibri" pitchFamily="34" charset="0"/>
                <a:ea typeface="Calibri" pitchFamily="34" charset="-122"/>
                <a:cs typeface="Calibri" pitchFamily="34" charset="-120"/>
              </a:rPr>
              <a:t>Quét mã QR (hoặc nhập mã dự phòng) trên thẻ học do giáo viên cấp.</a:t>
            </a:r>
            <a:endParaRPr lang="en-US" sz="1300" dirty="0"/>
          </a:p>
        </p:txBody>
      </p:sp>
      <p:sp>
        <p:nvSpPr>
          <p:cNvPr id="8" name="Shape 6"/>
          <p:cNvSpPr/>
          <p:nvPr/>
        </p:nvSpPr>
        <p:spPr>
          <a:xfrm>
            <a:off x="548640" y="2423160"/>
            <a:ext cx="420624" cy="420624"/>
          </a:xfrm>
          <a:prstGeom prst="ellipse">
            <a:avLst/>
          </a:prstGeom>
          <a:solidFill>
            <a:srgbClr val="0E8A7D"/>
          </a:solidFill>
          <a:ln/>
        </p:spPr>
      </p:sp>
      <p:sp>
        <p:nvSpPr>
          <p:cNvPr id="9" name="Text 7"/>
          <p:cNvSpPr txBox="1"/>
          <p:nvPr/>
        </p:nvSpPr>
        <p:spPr>
          <a:xfrm>
            <a:off x="548640" y="24231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43000" y="2404872"/>
            <a:ext cx="3108960" cy="310896"/>
          </a:xfrm>
          <a:prstGeom prst="rect">
            <a:avLst/>
          </a:prstGeom>
          <a:noFill/>
          <a:ln/>
        </p:spPr>
        <p:txBody>
          <a:bodyPr wrap="square" lIns="0" tIns="0" rIns="0" bIns="0" rtlCol="0" anchor="ctr"/>
          <a:lstStyle/>
          <a:p>
            <a:pPr indent="0" marL="0">
              <a:buNone/>
            </a:pPr>
            <a:r>
              <a:rPr lang="en-US" sz="1600" b="1" dirty="0">
                <a:solidFill>
                  <a:srgbClr val="0F2447"/>
                </a:solidFill>
                <a:latin typeface="Cambria" pitchFamily="34" charset="0"/>
                <a:ea typeface="Cambria" pitchFamily="34" charset="-122"/>
                <a:cs typeface="Cambria" pitchFamily="34" charset="-120"/>
              </a:rPr>
              <a:t>Vào đúng trang của con</a:t>
            </a:r>
            <a:endParaRPr lang="en-US" sz="1600" dirty="0"/>
          </a:p>
        </p:txBody>
      </p:sp>
      <p:sp>
        <p:nvSpPr>
          <p:cNvPr id="11" name="Text 9"/>
          <p:cNvSpPr txBox="1"/>
          <p:nvPr/>
        </p:nvSpPr>
        <p:spPr>
          <a:xfrm>
            <a:off x="1143000" y="2715768"/>
            <a:ext cx="3108960" cy="548640"/>
          </a:xfrm>
          <a:prstGeom prst="rect">
            <a:avLst/>
          </a:prstGeom>
          <a:noFill/>
          <a:ln/>
        </p:spPr>
        <p:txBody>
          <a:bodyPr wrap="square" lIns="0" tIns="0" rIns="0" bIns="0" rtlCol="0" anchor="t"/>
          <a:lstStyle/>
          <a:p>
            <a:pPr indent="0" marL="0">
              <a:buNone/>
            </a:pPr>
            <a:r>
              <a:rPr lang="en-US" sz="1300" dirty="0">
                <a:solidFill>
                  <a:srgbClr val="566175"/>
                </a:solidFill>
                <a:latin typeface="Calibri" pitchFamily="34" charset="0"/>
                <a:ea typeface="Calibri" pitchFamily="34" charset="-122"/>
                <a:cs typeface="Calibri" pitchFamily="34" charset="-120"/>
              </a:rPr>
              <a:t>Thiết bị liên kết với hồ sơ của con: tên, ảnh đại diện, điểm thưởng riêng.</a:t>
            </a:r>
            <a:endParaRPr lang="en-US" sz="1300" dirty="0"/>
          </a:p>
        </p:txBody>
      </p:sp>
      <p:sp>
        <p:nvSpPr>
          <p:cNvPr id="12" name="Shape 10"/>
          <p:cNvSpPr/>
          <p:nvPr/>
        </p:nvSpPr>
        <p:spPr>
          <a:xfrm>
            <a:off x="548640" y="3474720"/>
            <a:ext cx="420624" cy="420624"/>
          </a:xfrm>
          <a:prstGeom prst="ellipse">
            <a:avLst/>
          </a:prstGeom>
          <a:solidFill>
            <a:srgbClr val="0E8A7D"/>
          </a:solidFill>
          <a:ln/>
        </p:spPr>
      </p:sp>
      <p:sp>
        <p:nvSpPr>
          <p:cNvPr id="13" name="Text 11"/>
          <p:cNvSpPr txBox="1"/>
          <p:nvPr/>
        </p:nvSpPr>
        <p:spPr>
          <a:xfrm>
            <a:off x="548640" y="34747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456432"/>
            <a:ext cx="3108960" cy="310896"/>
          </a:xfrm>
          <a:prstGeom prst="rect">
            <a:avLst/>
          </a:prstGeom>
          <a:noFill/>
          <a:ln/>
        </p:spPr>
        <p:txBody>
          <a:bodyPr wrap="square" lIns="0" tIns="0" rIns="0" bIns="0" rtlCol="0" anchor="ctr"/>
          <a:lstStyle/>
          <a:p>
            <a:pPr indent="0" marL="0">
              <a:buNone/>
            </a:pPr>
            <a:r>
              <a:rPr lang="en-US" sz="1600" b="1" dirty="0">
                <a:solidFill>
                  <a:srgbClr val="0F2447"/>
                </a:solidFill>
                <a:latin typeface="Cambria" pitchFamily="34" charset="0"/>
                <a:ea typeface="Cambria" pitchFamily="34" charset="-122"/>
                <a:cs typeface="Cambria" pitchFamily="34" charset="-120"/>
              </a:rPr>
              <a:t>Chạm vào khu vực học tập</a:t>
            </a:r>
            <a:endParaRPr lang="en-US" sz="1600" dirty="0"/>
          </a:p>
        </p:txBody>
      </p:sp>
      <p:sp>
        <p:nvSpPr>
          <p:cNvPr id="15" name="Text 13"/>
          <p:cNvSpPr txBox="1"/>
          <p:nvPr/>
        </p:nvSpPr>
        <p:spPr>
          <a:xfrm>
            <a:off x="1143000" y="3767328"/>
            <a:ext cx="3108960" cy="548640"/>
          </a:xfrm>
          <a:prstGeom prst="rect">
            <a:avLst/>
          </a:prstGeom>
          <a:noFill/>
          <a:ln/>
        </p:spPr>
        <p:txBody>
          <a:bodyPr wrap="square" lIns="0" tIns="0" rIns="0" bIns="0" rtlCol="0" anchor="t"/>
          <a:lstStyle/>
          <a:p>
            <a:pPr indent="0" marL="0">
              <a:buNone/>
            </a:pPr>
            <a:r>
              <a:rPr lang="en-US" sz="1300" dirty="0">
                <a:solidFill>
                  <a:srgbClr val="566175"/>
                </a:solidFill>
                <a:latin typeface="Calibri" pitchFamily="34" charset="0"/>
                <a:ea typeface="Calibri" pitchFamily="34" charset="-122"/>
                <a:cs typeface="Calibri" pitchFamily="34" charset="-120"/>
              </a:rPr>
              <a:t>Chọn “Luyện bài” hoặc “Khám phá Game World”.</a:t>
            </a:r>
            <a:endParaRPr lang="en-US" sz="1300" dirty="0"/>
          </a:p>
        </p:txBody>
      </p:sp>
      <p:sp>
        <p:nvSpPr>
          <p:cNvPr id="16" name="Shape 14"/>
          <p:cNvSpPr/>
          <p:nvPr/>
        </p:nvSpPr>
        <p:spPr>
          <a:xfrm>
            <a:off x="4526280" y="1325880"/>
            <a:ext cx="4160520" cy="2834640"/>
          </a:xfrm>
          <a:prstGeom prst="roundRect">
            <a:avLst>
              <a:gd name="adj" fmla="val 3871"/>
            </a:avLst>
          </a:prstGeom>
          <a:solidFill>
            <a:srgbClr val="E9E4D8"/>
          </a:solidFill>
          <a:ln/>
          <a:effectLst>
            <a:outerShdw sx="100000" sy="100000" kx="0" ky="0" algn="bl" rotWithShape="0" blurRad="101600" dist="25400" dir="5400000">
              <a:srgbClr val="1F2A3C">
                <a:alpha val="14000"/>
              </a:srgbClr>
            </a:outerShdw>
          </a:effectLst>
        </p:spPr>
      </p:sp>
      <p:sp>
        <p:nvSpPr>
          <p:cNvPr id="17" name="Shape 15"/>
          <p:cNvSpPr/>
          <p:nvPr/>
        </p:nvSpPr>
        <p:spPr>
          <a:xfrm>
            <a:off x="4663440" y="1426464"/>
            <a:ext cx="91440" cy="91440"/>
          </a:xfrm>
          <a:prstGeom prst="ellipse">
            <a:avLst/>
          </a:prstGeom>
          <a:solidFill>
            <a:srgbClr val="E07A6B"/>
          </a:solidFill>
          <a:ln/>
        </p:spPr>
      </p:sp>
      <p:sp>
        <p:nvSpPr>
          <p:cNvPr id="18" name="Shape 16"/>
          <p:cNvSpPr/>
          <p:nvPr/>
        </p:nvSpPr>
        <p:spPr>
          <a:xfrm>
            <a:off x="4818888" y="1426464"/>
            <a:ext cx="91440" cy="91440"/>
          </a:xfrm>
          <a:prstGeom prst="ellipse">
            <a:avLst/>
          </a:prstGeom>
          <a:solidFill>
            <a:srgbClr val="E8C15A"/>
          </a:solidFill>
          <a:ln/>
        </p:spPr>
      </p:sp>
      <p:sp>
        <p:nvSpPr>
          <p:cNvPr id="19" name="Shape 17"/>
          <p:cNvSpPr/>
          <p:nvPr/>
        </p:nvSpPr>
        <p:spPr>
          <a:xfrm>
            <a:off x="4974336" y="1426464"/>
            <a:ext cx="91440" cy="91440"/>
          </a:xfrm>
          <a:prstGeom prst="ellipse">
            <a:avLst/>
          </a:prstGeom>
          <a:solidFill>
            <a:srgbClr val="7DC49B"/>
          </a:solidFill>
          <a:ln/>
        </p:spPr>
      </p:sp>
      <p:pic>
        <p:nvPicPr>
          <p:cNvPr id="20" name="Image 0" descr="Ảnh chụp bản chơi thử">    </p:cNvPr>
          <p:cNvPicPr>
            <a:picLocks noChangeAspect="1"/>
          </p:cNvPicPr>
          <p:nvPr/>
        </p:nvPicPr>
        <p:blipFill>
          <a:blip r:embed="rId1"/>
          <a:stretch>
            <a:fillRect/>
          </a:stretch>
        </p:blipFill>
        <p:spPr>
          <a:xfrm>
            <a:off x="4581144" y="1600200"/>
            <a:ext cx="4050792" cy="2505456"/>
          </a:xfrm>
          <a:prstGeom prst="rect">
            <a:avLst/>
          </a:prstGeom>
        </p:spPr>
      </p:pic>
      <p:sp>
        <p:nvSpPr>
          <p:cNvPr id="21" name="Shape 18"/>
          <p:cNvSpPr/>
          <p:nvPr/>
        </p:nvSpPr>
        <p:spPr>
          <a:xfrm>
            <a:off x="4526280" y="4297680"/>
            <a:ext cx="1207008" cy="256032"/>
          </a:xfrm>
          <a:prstGeom prst="roundRect">
            <a:avLst>
              <a:gd name="adj" fmla="val 50000"/>
            </a:avLst>
          </a:prstGeom>
          <a:solidFill>
            <a:srgbClr val="FFFFFF"/>
          </a:solidFill>
          <a:ln w="15875">
            <a:solidFill>
              <a:srgbClr val="9A7416"/>
            </a:solidFill>
            <a:prstDash val="solid"/>
          </a:ln>
        </p:spPr>
      </p:sp>
      <p:sp>
        <p:nvSpPr>
          <p:cNvPr id="22" name="Text 19"/>
          <p:cNvSpPr txBox="1"/>
          <p:nvPr/>
        </p:nvSpPr>
        <p:spPr>
          <a:xfrm>
            <a:off x="4526280" y="4297680"/>
            <a:ext cx="1207008" cy="256032"/>
          </a:xfrm>
          <a:prstGeom prst="rect">
            <a:avLst/>
          </a:prstGeom>
          <a:noFill/>
          <a:ln/>
        </p:spPr>
        <p:txBody>
          <a:bodyPr wrap="square" lIns="0" tIns="0" rIns="0" bIns="0" rtlCol="0" anchor="ctr"/>
          <a:lstStyle/>
          <a:p>
            <a:pPr algn="ctr" indent="0" marL="0">
              <a:buNone/>
            </a:pPr>
            <a:r>
              <a:rPr lang="en-US" sz="1000" b="1" dirty="0">
                <a:solidFill>
                  <a:srgbClr val="9A7416"/>
                </a:solidFill>
                <a:latin typeface="Calibri" pitchFamily="34" charset="0"/>
                <a:ea typeface="Calibri" pitchFamily="34" charset="-122"/>
                <a:cs typeface="Calibri" pitchFamily="34" charset="-120"/>
              </a:rPr>
              <a:t>BẢN CHƠI THỬ</a:t>
            </a:r>
            <a:endParaRPr lang="en-US" sz="1000" dirty="0"/>
          </a:p>
        </p:txBody>
      </p:sp>
      <p:sp>
        <p:nvSpPr>
          <p:cNvPr id="23" name="Text 20"/>
          <p:cNvSpPr txBox="1"/>
          <p:nvPr/>
        </p:nvSpPr>
        <p:spPr>
          <a:xfrm>
            <a:off x="5989320" y="4334256"/>
            <a:ext cx="2743200" cy="219456"/>
          </a:xfrm>
          <a:prstGeom prst="rect">
            <a:avLst/>
          </a:prstGeom>
          <a:noFill/>
          <a:ln/>
        </p:spPr>
        <p:txBody>
          <a:bodyPr wrap="square" lIns="0" tIns="0" rIns="0" bIns="0" rtlCol="0" anchor="ctr"/>
          <a:lstStyle/>
          <a:p>
            <a:pPr algn="l" indent="0" marL="0">
              <a:buNone/>
            </a:pPr>
            <a:r>
              <a:rPr lang="en-US" sz="1000" i="1" dirty="0">
                <a:solidFill>
                  <a:srgbClr val="566175"/>
                </a:solidFill>
                <a:latin typeface="Calibri" pitchFamily="34" charset="0"/>
                <a:ea typeface="Calibri" pitchFamily="34" charset="-122"/>
                <a:cs typeface="Calibri" pitchFamily="34" charset="-120"/>
              </a:rPr>
              <a:t>Ảnh chụp trang của học sinh — tên và điểm là dữ liệu minh họa</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BƯỚC 2</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Chọn bài luyện Tiếng Việt</a:t>
            </a:r>
            <a:endParaRPr lang="en-US" sz="3000" dirty="0"/>
          </a:p>
        </p:txBody>
      </p:sp>
      <p:sp>
        <p:nvSpPr>
          <p:cNvPr id="4" name="Shape 2"/>
          <p:cNvSpPr/>
          <p:nvPr/>
        </p:nvSpPr>
        <p:spPr>
          <a:xfrm>
            <a:off x="548640" y="1325880"/>
            <a:ext cx="256032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5" name="Shape 3"/>
          <p:cNvSpPr/>
          <p:nvPr/>
        </p:nvSpPr>
        <p:spPr>
          <a:xfrm>
            <a:off x="685800" y="1463040"/>
            <a:ext cx="2286000" cy="685800"/>
          </a:xfrm>
          <a:prstGeom prst="roundRect">
            <a:avLst>
              <a:gd name="adj" fmla="val 13333"/>
            </a:avLst>
          </a:prstGeom>
          <a:solidFill>
            <a:srgbClr val="0F2447"/>
          </a:solidFill>
          <a:ln/>
        </p:spPr>
      </p:sp>
      <p:sp>
        <p:nvSpPr>
          <p:cNvPr id="6" name="Text 4"/>
          <p:cNvSpPr txBox="1"/>
          <p:nvPr/>
        </p:nvSpPr>
        <p:spPr>
          <a:xfrm>
            <a:off x="685800" y="1463040"/>
            <a:ext cx="22860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b</a:t>
            </a:r>
            <a:endParaRPr lang="en-US" sz="2600" dirty="0"/>
          </a:p>
        </p:txBody>
      </p:sp>
      <p:sp>
        <p:nvSpPr>
          <p:cNvPr id="7" name="Text 5"/>
          <p:cNvSpPr txBox="1"/>
          <p:nvPr/>
        </p:nvSpPr>
        <p:spPr>
          <a:xfrm>
            <a:off x="713232" y="2221992"/>
            <a:ext cx="2240280" cy="256032"/>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Nhận biết chữ</a:t>
            </a:r>
            <a:endParaRPr lang="en-US" sz="1400" dirty="0"/>
          </a:p>
        </p:txBody>
      </p:sp>
      <p:sp>
        <p:nvSpPr>
          <p:cNvPr id="8" name="Text 6"/>
          <p:cNvSpPr txBox="1"/>
          <p:nvPr/>
        </p:nvSpPr>
        <p:spPr>
          <a:xfrm>
            <a:off x="713232" y="2478024"/>
            <a:ext cx="2240280" cy="237744"/>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Làm quen chữ cái và âm.</a:t>
            </a:r>
            <a:endParaRPr lang="en-US" sz="1200" dirty="0"/>
          </a:p>
        </p:txBody>
      </p:sp>
      <p:sp>
        <p:nvSpPr>
          <p:cNvPr id="9" name="Shape 7"/>
          <p:cNvSpPr/>
          <p:nvPr/>
        </p:nvSpPr>
        <p:spPr>
          <a:xfrm>
            <a:off x="3291840" y="1325880"/>
            <a:ext cx="256032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0" name="Shape 8"/>
          <p:cNvSpPr/>
          <p:nvPr/>
        </p:nvSpPr>
        <p:spPr>
          <a:xfrm>
            <a:off x="3429000" y="1463040"/>
            <a:ext cx="2286000" cy="685800"/>
          </a:xfrm>
          <a:prstGeom prst="roundRect">
            <a:avLst>
              <a:gd name="adj" fmla="val 13333"/>
            </a:avLst>
          </a:prstGeom>
          <a:solidFill>
            <a:srgbClr val="0F2447"/>
          </a:solidFill>
          <a:ln/>
        </p:spPr>
      </p:sp>
      <p:sp>
        <p:nvSpPr>
          <p:cNvPr id="11" name="Text 9"/>
          <p:cNvSpPr txBox="1"/>
          <p:nvPr/>
        </p:nvSpPr>
        <p:spPr>
          <a:xfrm>
            <a:off x="3429000" y="1463040"/>
            <a:ext cx="22860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ng + ang</a:t>
            </a:r>
            <a:endParaRPr lang="en-US" sz="2600" dirty="0"/>
          </a:p>
        </p:txBody>
      </p:sp>
      <p:sp>
        <p:nvSpPr>
          <p:cNvPr id="12" name="Text 10"/>
          <p:cNvSpPr txBox="1"/>
          <p:nvPr/>
        </p:nvSpPr>
        <p:spPr>
          <a:xfrm>
            <a:off x="3456432" y="2221992"/>
            <a:ext cx="2240280" cy="256032"/>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Ghép âm, ghép vần</a:t>
            </a:r>
            <a:endParaRPr lang="en-US" sz="1400" dirty="0"/>
          </a:p>
        </p:txBody>
      </p:sp>
      <p:sp>
        <p:nvSpPr>
          <p:cNvPr id="13" name="Text 11"/>
          <p:cNvSpPr txBox="1"/>
          <p:nvPr/>
        </p:nvSpPr>
        <p:spPr>
          <a:xfrm>
            <a:off x="3456432" y="2478024"/>
            <a:ext cx="2240280" cy="237744"/>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Ghép thành tiếng đúng.</a:t>
            </a:r>
            <a:endParaRPr lang="en-US" sz="1200" dirty="0"/>
          </a:p>
        </p:txBody>
      </p:sp>
      <p:sp>
        <p:nvSpPr>
          <p:cNvPr id="14" name="Shape 12"/>
          <p:cNvSpPr/>
          <p:nvPr/>
        </p:nvSpPr>
        <p:spPr>
          <a:xfrm>
            <a:off x="6035040" y="1325880"/>
            <a:ext cx="256032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5" name="Shape 13"/>
          <p:cNvSpPr/>
          <p:nvPr/>
        </p:nvSpPr>
        <p:spPr>
          <a:xfrm>
            <a:off x="6172200" y="1463040"/>
            <a:ext cx="2286000" cy="685800"/>
          </a:xfrm>
          <a:prstGeom prst="roundRect">
            <a:avLst>
              <a:gd name="adj" fmla="val 13333"/>
            </a:avLst>
          </a:prstGeom>
          <a:solidFill>
            <a:srgbClr val="0F2447"/>
          </a:solidFill>
          <a:ln/>
        </p:spPr>
      </p:sp>
      <p:sp>
        <p:nvSpPr>
          <p:cNvPr id="16" name="Text 14"/>
          <p:cNvSpPr txBox="1"/>
          <p:nvPr/>
        </p:nvSpPr>
        <p:spPr>
          <a:xfrm>
            <a:off x="6172200" y="1463040"/>
            <a:ext cx="22860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vàng</a:t>
            </a:r>
            <a:endParaRPr lang="en-US" sz="2600" dirty="0"/>
          </a:p>
        </p:txBody>
      </p:sp>
      <p:sp>
        <p:nvSpPr>
          <p:cNvPr id="17" name="Text 15"/>
          <p:cNvSpPr txBox="1"/>
          <p:nvPr/>
        </p:nvSpPr>
        <p:spPr>
          <a:xfrm>
            <a:off x="6199632" y="2221992"/>
            <a:ext cx="2240280" cy="256032"/>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Nhận biết tiếng</a:t>
            </a:r>
            <a:endParaRPr lang="en-US" sz="1400" dirty="0"/>
          </a:p>
        </p:txBody>
      </p:sp>
      <p:sp>
        <p:nvSpPr>
          <p:cNvPr id="18" name="Text 16"/>
          <p:cNvSpPr txBox="1"/>
          <p:nvPr/>
        </p:nvSpPr>
        <p:spPr>
          <a:xfrm>
            <a:off x="6199632" y="2478024"/>
            <a:ext cx="2240280" cy="237744"/>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Tìm vần, âm, thanh của tiếng.</a:t>
            </a:r>
            <a:endParaRPr lang="en-US" sz="1200" dirty="0"/>
          </a:p>
        </p:txBody>
      </p:sp>
      <p:sp>
        <p:nvSpPr>
          <p:cNvPr id="19" name="Shape 17"/>
          <p:cNvSpPr/>
          <p:nvPr/>
        </p:nvSpPr>
        <p:spPr>
          <a:xfrm>
            <a:off x="548640" y="2971800"/>
            <a:ext cx="256032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0" name="Shape 18"/>
          <p:cNvSpPr/>
          <p:nvPr/>
        </p:nvSpPr>
        <p:spPr>
          <a:xfrm>
            <a:off x="685800" y="3108960"/>
            <a:ext cx="2286000" cy="685800"/>
          </a:xfrm>
          <a:prstGeom prst="roundRect">
            <a:avLst>
              <a:gd name="adj" fmla="val 13333"/>
            </a:avLst>
          </a:prstGeom>
          <a:solidFill>
            <a:srgbClr val="0F2447"/>
          </a:solidFill>
          <a:ln/>
        </p:spPr>
      </p:sp>
      <p:sp>
        <p:nvSpPr>
          <p:cNvPr id="21" name="Text 19"/>
          <p:cNvSpPr txBox="1"/>
          <p:nvPr/>
        </p:nvSpPr>
        <p:spPr>
          <a:xfrm>
            <a:off x="685800" y="3108960"/>
            <a:ext cx="22860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m _ o</a:t>
            </a:r>
            <a:endParaRPr lang="en-US" sz="2600" dirty="0"/>
          </a:p>
        </p:txBody>
      </p:sp>
      <p:sp>
        <p:nvSpPr>
          <p:cNvPr id="22" name="Text 20"/>
          <p:cNvSpPr txBox="1"/>
          <p:nvPr/>
        </p:nvSpPr>
        <p:spPr>
          <a:xfrm>
            <a:off x="713232" y="3867912"/>
            <a:ext cx="2240280" cy="256032"/>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Điền chữ còn thiếu</a:t>
            </a:r>
            <a:endParaRPr lang="en-US" sz="1400" dirty="0"/>
          </a:p>
        </p:txBody>
      </p:sp>
      <p:sp>
        <p:nvSpPr>
          <p:cNvPr id="23" name="Text 21"/>
          <p:cNvSpPr txBox="1"/>
          <p:nvPr/>
        </p:nvSpPr>
        <p:spPr>
          <a:xfrm>
            <a:off x="713232" y="4123944"/>
            <a:ext cx="2240280" cy="237744"/>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Hoàn thiện tiếng, từ.</a:t>
            </a:r>
            <a:endParaRPr lang="en-US" sz="1200" dirty="0"/>
          </a:p>
        </p:txBody>
      </p:sp>
      <p:sp>
        <p:nvSpPr>
          <p:cNvPr id="24" name="Shape 22"/>
          <p:cNvSpPr/>
          <p:nvPr/>
        </p:nvSpPr>
        <p:spPr>
          <a:xfrm>
            <a:off x="3291840" y="2971800"/>
            <a:ext cx="256032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5" name="Shape 23"/>
          <p:cNvSpPr/>
          <p:nvPr/>
        </p:nvSpPr>
        <p:spPr>
          <a:xfrm>
            <a:off x="3429000" y="3108960"/>
            <a:ext cx="2286000" cy="685800"/>
          </a:xfrm>
          <a:prstGeom prst="roundRect">
            <a:avLst>
              <a:gd name="adj" fmla="val 13333"/>
            </a:avLst>
          </a:prstGeom>
          <a:solidFill>
            <a:srgbClr val="0F2447"/>
          </a:solidFill>
          <a:ln/>
        </p:spPr>
      </p:sp>
      <p:sp>
        <p:nvSpPr>
          <p:cNvPr id="26" name="Text 24"/>
          <p:cNvSpPr txBox="1"/>
          <p:nvPr/>
        </p:nvSpPr>
        <p:spPr>
          <a:xfrm>
            <a:off x="3429000" y="3108960"/>
            <a:ext cx="228600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từ + hình</a:t>
            </a:r>
            <a:endParaRPr lang="en-US" sz="1800" dirty="0"/>
          </a:p>
        </p:txBody>
      </p:sp>
      <p:sp>
        <p:nvSpPr>
          <p:cNvPr id="27" name="Text 25"/>
          <p:cNvSpPr txBox="1"/>
          <p:nvPr/>
        </p:nvSpPr>
        <p:spPr>
          <a:xfrm>
            <a:off x="3456432" y="3867912"/>
            <a:ext cx="2240280" cy="256032"/>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Kết hợp từ với tranh</a:t>
            </a:r>
            <a:endParaRPr lang="en-US" sz="1400" dirty="0"/>
          </a:p>
        </p:txBody>
      </p:sp>
      <p:sp>
        <p:nvSpPr>
          <p:cNvPr id="28" name="Text 26"/>
          <p:cNvSpPr txBox="1"/>
          <p:nvPr/>
        </p:nvSpPr>
        <p:spPr>
          <a:xfrm>
            <a:off x="3456432" y="4123944"/>
            <a:ext cx="2240280" cy="237744"/>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Chọn từ khớp với hình.</a:t>
            </a:r>
            <a:endParaRPr lang="en-US" sz="1200" dirty="0"/>
          </a:p>
        </p:txBody>
      </p:sp>
      <p:sp>
        <p:nvSpPr>
          <p:cNvPr id="29" name="Shape 27"/>
          <p:cNvSpPr/>
          <p:nvPr/>
        </p:nvSpPr>
        <p:spPr>
          <a:xfrm>
            <a:off x="6035040" y="2971800"/>
            <a:ext cx="256032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30" name="Shape 28"/>
          <p:cNvSpPr/>
          <p:nvPr/>
        </p:nvSpPr>
        <p:spPr>
          <a:xfrm>
            <a:off x="6172200" y="3108960"/>
            <a:ext cx="2286000" cy="685800"/>
          </a:xfrm>
          <a:prstGeom prst="roundRect">
            <a:avLst>
              <a:gd name="adj" fmla="val 13333"/>
            </a:avLst>
          </a:prstGeom>
          <a:solidFill>
            <a:srgbClr val="0F2447"/>
          </a:solidFill>
          <a:ln/>
        </p:spPr>
      </p:sp>
      <p:sp>
        <p:nvSpPr>
          <p:cNvPr id="31" name="Text 29"/>
          <p:cNvSpPr txBox="1"/>
          <p:nvPr/>
        </p:nvSpPr>
        <p:spPr>
          <a:xfrm>
            <a:off x="6172200" y="3108960"/>
            <a:ext cx="228600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Bé đọc sách.</a:t>
            </a:r>
            <a:endParaRPr lang="en-US" sz="1800" dirty="0"/>
          </a:p>
        </p:txBody>
      </p:sp>
      <p:sp>
        <p:nvSpPr>
          <p:cNvPr id="32" name="Text 30"/>
          <p:cNvSpPr txBox="1"/>
          <p:nvPr/>
        </p:nvSpPr>
        <p:spPr>
          <a:xfrm>
            <a:off x="6199632" y="3867912"/>
            <a:ext cx="2240280" cy="256032"/>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Luyện đọc từ và câu</a:t>
            </a:r>
            <a:endParaRPr lang="en-US" sz="1400" dirty="0"/>
          </a:p>
        </p:txBody>
      </p:sp>
      <p:sp>
        <p:nvSpPr>
          <p:cNvPr id="33" name="Text 31"/>
          <p:cNvSpPr txBox="1"/>
          <p:nvPr/>
        </p:nvSpPr>
        <p:spPr>
          <a:xfrm>
            <a:off x="6199632" y="4123944"/>
            <a:ext cx="2240280" cy="237744"/>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Đọc trơn, hiểu nghĩa.</a:t>
            </a:r>
            <a:endParaRPr lang="en-US" sz="1200" dirty="0"/>
          </a:p>
        </p:txBody>
      </p:sp>
      <p:sp>
        <p:nvSpPr>
          <p:cNvPr id="34" name="Shape 32"/>
          <p:cNvSpPr/>
          <p:nvPr/>
        </p:nvSpPr>
        <p:spPr>
          <a:xfrm>
            <a:off x="548640" y="4462272"/>
            <a:ext cx="1207008" cy="256032"/>
          </a:xfrm>
          <a:prstGeom prst="roundRect">
            <a:avLst>
              <a:gd name="adj" fmla="val 50000"/>
            </a:avLst>
          </a:prstGeom>
          <a:solidFill>
            <a:srgbClr val="FFFFFF"/>
          </a:solidFill>
          <a:ln w="15875">
            <a:solidFill>
              <a:srgbClr val="9A7416"/>
            </a:solidFill>
            <a:prstDash val="solid"/>
          </a:ln>
        </p:spPr>
      </p:sp>
      <p:sp>
        <p:nvSpPr>
          <p:cNvPr id="35" name="Text 33"/>
          <p:cNvSpPr txBox="1"/>
          <p:nvPr/>
        </p:nvSpPr>
        <p:spPr>
          <a:xfrm>
            <a:off x="548640" y="4462272"/>
            <a:ext cx="1207008" cy="256032"/>
          </a:xfrm>
          <a:prstGeom prst="rect">
            <a:avLst/>
          </a:prstGeom>
          <a:noFill/>
          <a:ln/>
        </p:spPr>
        <p:txBody>
          <a:bodyPr wrap="square" lIns="0" tIns="0" rIns="0" bIns="0" rtlCol="0" anchor="ctr"/>
          <a:lstStyle/>
          <a:p>
            <a:pPr algn="ctr" indent="0" marL="0">
              <a:buNone/>
            </a:pPr>
            <a:r>
              <a:rPr lang="en-US" sz="1000" b="1" dirty="0">
                <a:solidFill>
                  <a:srgbClr val="9A7416"/>
                </a:solidFill>
                <a:latin typeface="Calibri" pitchFamily="34" charset="0"/>
                <a:ea typeface="Calibri" pitchFamily="34" charset="-122"/>
                <a:cs typeface="Calibri" pitchFamily="34" charset="-120"/>
              </a:rPr>
              <a:t>BẢN CHƠI THỬ</a:t>
            </a:r>
            <a:endParaRPr lang="en-US" sz="1000" dirty="0"/>
          </a:p>
        </p:txBody>
      </p:sp>
      <p:sp>
        <p:nvSpPr>
          <p:cNvPr id="36" name="Text 34"/>
          <p:cNvSpPr txBox="1"/>
          <p:nvPr/>
        </p:nvSpPr>
        <p:spPr>
          <a:xfrm>
            <a:off x="2194560" y="4498848"/>
            <a:ext cx="6309360" cy="219456"/>
          </a:xfrm>
          <a:prstGeom prst="rect">
            <a:avLst/>
          </a:prstGeom>
          <a:noFill/>
          <a:ln/>
        </p:spPr>
        <p:txBody>
          <a:bodyPr wrap="square" lIns="0" tIns="0" rIns="0" bIns="0" rtlCol="0" anchor="ctr"/>
          <a:lstStyle/>
          <a:p>
            <a:pPr algn="l" indent="0" marL="0">
              <a:buNone/>
            </a:pPr>
            <a:r>
              <a:rPr lang="en-US" sz="1000" i="1" dirty="0">
                <a:solidFill>
                  <a:srgbClr val="566175"/>
                </a:solidFill>
                <a:latin typeface="Calibri" pitchFamily="34" charset="0"/>
                <a:ea typeface="Calibri" pitchFamily="34" charset="-122"/>
                <a:cs typeface="Calibri" pitchFamily="34" charset="-120"/>
              </a:rPr>
              <a:t>Ví dụ minh họa. Học liệu thật sẽ do giáo viên duyệt trước khi đến tay học sinh.</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PHƯƠNG PHÁP</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Hỗ trợ giảm dần, từng bước tự lập</a:t>
            </a:r>
            <a:endParaRPr lang="en-US" sz="3000" dirty="0"/>
          </a:p>
        </p:txBody>
      </p:sp>
      <p:sp>
        <p:nvSpPr>
          <p:cNvPr id="4" name="Shape 2"/>
          <p:cNvSpPr/>
          <p:nvPr/>
        </p:nvSpPr>
        <p:spPr>
          <a:xfrm>
            <a:off x="548640" y="2880360"/>
            <a:ext cx="1097280" cy="868680"/>
          </a:xfrm>
          <a:prstGeom prst="roundRect">
            <a:avLst>
              <a:gd name="adj" fmla="val 8421"/>
            </a:avLst>
          </a:prstGeom>
          <a:solidFill>
            <a:srgbClr val="DDF1EE"/>
          </a:solidFill>
          <a:ln/>
        </p:spPr>
      </p:sp>
      <p:sp>
        <p:nvSpPr>
          <p:cNvPr id="5" name="Text 3"/>
          <p:cNvSpPr txBox="1"/>
          <p:nvPr/>
        </p:nvSpPr>
        <p:spPr>
          <a:xfrm>
            <a:off x="594360" y="2953512"/>
            <a:ext cx="1005840" cy="566928"/>
          </a:xfrm>
          <a:prstGeom prst="rect">
            <a:avLst/>
          </a:prstGeom>
          <a:noFill/>
          <a:ln/>
        </p:spPr>
        <p:txBody>
          <a:bodyPr wrap="square" lIns="0" tIns="0" rIns="0" bIns="0" rtlCol="0" anchor="t"/>
          <a:lstStyle/>
          <a:p>
            <a:pPr algn="ctr" indent="0" marL="0">
              <a:buNone/>
            </a:pPr>
            <a:r>
              <a:rPr lang="en-US" sz="1200" b="1" dirty="0">
                <a:solidFill>
                  <a:srgbClr val="0F2447"/>
                </a:solidFill>
                <a:latin typeface="Cambria" pitchFamily="34" charset="0"/>
                <a:ea typeface="Cambria" pitchFamily="34" charset="-122"/>
                <a:cs typeface="Cambria" pitchFamily="34" charset="-120"/>
              </a:rPr>
              <a:t>Hỗ trợ đầy đủ</a:t>
            </a:r>
            <a:endParaRPr lang="en-US" sz="1200" dirty="0"/>
          </a:p>
        </p:txBody>
      </p:sp>
      <p:sp>
        <p:nvSpPr>
          <p:cNvPr id="6" name="Text 4"/>
          <p:cNvSpPr txBox="1"/>
          <p:nvPr/>
        </p:nvSpPr>
        <p:spPr>
          <a:xfrm>
            <a:off x="530352" y="3822192"/>
            <a:ext cx="1133856" cy="73152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Có bài mẫu; gợi ý hiện ngay khi sai</a:t>
            </a:r>
            <a:endParaRPr lang="en-US" sz="1100" dirty="0"/>
          </a:p>
        </p:txBody>
      </p:sp>
      <p:sp>
        <p:nvSpPr>
          <p:cNvPr id="7" name="Shape 5"/>
          <p:cNvSpPr/>
          <p:nvPr/>
        </p:nvSpPr>
        <p:spPr>
          <a:xfrm>
            <a:off x="1737360" y="2423160"/>
            <a:ext cx="1097280" cy="1325880"/>
          </a:xfrm>
          <a:prstGeom prst="roundRect">
            <a:avLst>
              <a:gd name="adj" fmla="val 6667"/>
            </a:avLst>
          </a:prstGeom>
          <a:solidFill>
            <a:srgbClr val="9ED5CC"/>
          </a:solidFill>
          <a:ln/>
        </p:spPr>
      </p:sp>
      <p:sp>
        <p:nvSpPr>
          <p:cNvPr id="8" name="Text 6"/>
          <p:cNvSpPr txBox="1"/>
          <p:nvPr/>
        </p:nvSpPr>
        <p:spPr>
          <a:xfrm>
            <a:off x="1783080" y="2496312"/>
            <a:ext cx="1005840" cy="566928"/>
          </a:xfrm>
          <a:prstGeom prst="rect">
            <a:avLst/>
          </a:prstGeom>
          <a:noFill/>
          <a:ln/>
        </p:spPr>
        <p:txBody>
          <a:bodyPr wrap="square" lIns="0" tIns="0" rIns="0" bIns="0" rtlCol="0" anchor="t"/>
          <a:lstStyle/>
          <a:p>
            <a:pPr algn="ctr" indent="0" marL="0">
              <a:buNone/>
            </a:pPr>
            <a:r>
              <a:rPr lang="en-US" sz="1200" b="1" dirty="0">
                <a:solidFill>
                  <a:srgbClr val="0F2447"/>
                </a:solidFill>
                <a:latin typeface="Cambria" pitchFamily="34" charset="0"/>
                <a:ea typeface="Cambria" pitchFamily="34" charset="-122"/>
                <a:cs typeface="Cambria" pitchFamily="34" charset="-120"/>
              </a:rPr>
              <a:t>Hỗ trợ một phần</a:t>
            </a:r>
            <a:endParaRPr lang="en-US" sz="1200" dirty="0"/>
          </a:p>
        </p:txBody>
      </p:sp>
      <p:sp>
        <p:nvSpPr>
          <p:cNvPr id="9" name="Text 7"/>
          <p:cNvSpPr txBox="1"/>
          <p:nvPr/>
        </p:nvSpPr>
        <p:spPr>
          <a:xfrm>
            <a:off x="1719072" y="3822192"/>
            <a:ext cx="1133856" cy="73152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Gợi ý khi con bấm</a:t>
            </a:r>
            <a:endParaRPr lang="en-US" sz="1100" dirty="0"/>
          </a:p>
        </p:txBody>
      </p:sp>
      <p:sp>
        <p:nvSpPr>
          <p:cNvPr id="10" name="Shape 8"/>
          <p:cNvSpPr/>
          <p:nvPr/>
        </p:nvSpPr>
        <p:spPr>
          <a:xfrm>
            <a:off x="2926080" y="1965960"/>
            <a:ext cx="1097280" cy="1783080"/>
          </a:xfrm>
          <a:prstGeom prst="roundRect">
            <a:avLst>
              <a:gd name="adj" fmla="val 6667"/>
            </a:avLst>
          </a:prstGeom>
          <a:solidFill>
            <a:srgbClr val="0E8A7D"/>
          </a:solidFill>
          <a:ln/>
        </p:spPr>
      </p:sp>
      <p:sp>
        <p:nvSpPr>
          <p:cNvPr id="11" name="Text 9"/>
          <p:cNvSpPr txBox="1"/>
          <p:nvPr/>
        </p:nvSpPr>
        <p:spPr>
          <a:xfrm>
            <a:off x="2971800" y="2039112"/>
            <a:ext cx="1005840" cy="566928"/>
          </a:xfrm>
          <a:prstGeom prst="rect">
            <a:avLst/>
          </a:prstGeom>
          <a:noFill/>
          <a:ln/>
        </p:spPr>
        <p:txBody>
          <a:bodyPr wrap="square" lIns="0" tIns="0" rIns="0" bIns="0" rtlCol="0" anchor="t"/>
          <a:lstStyle/>
          <a:p>
            <a:pPr algn="ctr" indent="0" marL="0">
              <a:buNone/>
            </a:pPr>
            <a:r>
              <a:rPr lang="en-US" sz="1200" b="1" dirty="0">
                <a:solidFill>
                  <a:srgbClr val="FFFFFF"/>
                </a:solidFill>
                <a:latin typeface="Cambria" pitchFamily="34" charset="0"/>
                <a:ea typeface="Cambria" pitchFamily="34" charset="-122"/>
                <a:cs typeface="Cambria" pitchFamily="34" charset="-120"/>
              </a:rPr>
              <a:t>Gợi ý tối thiểu</a:t>
            </a:r>
            <a:endParaRPr lang="en-US" sz="1200" dirty="0"/>
          </a:p>
        </p:txBody>
      </p:sp>
      <p:sp>
        <p:nvSpPr>
          <p:cNvPr id="12" name="Text 10"/>
          <p:cNvSpPr txBox="1"/>
          <p:nvPr/>
        </p:nvSpPr>
        <p:spPr>
          <a:xfrm>
            <a:off x="2907792" y="3822192"/>
            <a:ext cx="1133856" cy="73152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Ít gợi ý, ít lượt thử</a:t>
            </a:r>
            <a:endParaRPr lang="en-US" sz="1100" dirty="0"/>
          </a:p>
        </p:txBody>
      </p:sp>
      <p:sp>
        <p:nvSpPr>
          <p:cNvPr id="13" name="Shape 11"/>
          <p:cNvSpPr/>
          <p:nvPr/>
        </p:nvSpPr>
        <p:spPr>
          <a:xfrm>
            <a:off x="4114800" y="1508760"/>
            <a:ext cx="1097280" cy="2240280"/>
          </a:xfrm>
          <a:prstGeom prst="roundRect">
            <a:avLst>
              <a:gd name="adj" fmla="val 6667"/>
            </a:avLst>
          </a:prstGeom>
          <a:solidFill>
            <a:srgbClr val="0F2447"/>
          </a:solidFill>
          <a:ln/>
        </p:spPr>
      </p:sp>
      <p:sp>
        <p:nvSpPr>
          <p:cNvPr id="14" name="Text 12"/>
          <p:cNvSpPr txBox="1"/>
          <p:nvPr/>
        </p:nvSpPr>
        <p:spPr>
          <a:xfrm>
            <a:off x="4160520" y="1581912"/>
            <a:ext cx="1005840" cy="566928"/>
          </a:xfrm>
          <a:prstGeom prst="rect">
            <a:avLst/>
          </a:prstGeom>
          <a:noFill/>
          <a:ln/>
        </p:spPr>
        <p:txBody>
          <a:bodyPr wrap="square" lIns="0" tIns="0" rIns="0" bIns="0" rtlCol="0" anchor="t"/>
          <a:lstStyle/>
          <a:p>
            <a:pPr algn="ctr" indent="0" marL="0">
              <a:buNone/>
            </a:pPr>
            <a:r>
              <a:rPr lang="en-US" sz="1200" b="1" dirty="0">
                <a:solidFill>
                  <a:srgbClr val="FFFFFF"/>
                </a:solidFill>
                <a:latin typeface="Cambria" pitchFamily="34" charset="0"/>
                <a:ea typeface="Cambria" pitchFamily="34" charset="-122"/>
                <a:cs typeface="Cambria" pitchFamily="34" charset="-120"/>
              </a:rPr>
              <a:t>Tự làm</a:t>
            </a:r>
            <a:endParaRPr lang="en-US" sz="1200" dirty="0"/>
          </a:p>
        </p:txBody>
      </p:sp>
      <p:sp>
        <p:nvSpPr>
          <p:cNvPr id="15" name="Text 13"/>
          <p:cNvSpPr txBox="1"/>
          <p:nvPr/>
        </p:nvSpPr>
        <p:spPr>
          <a:xfrm>
            <a:off x="4096512" y="3822192"/>
            <a:ext cx="1133856" cy="73152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Con tự hoàn thành, không gợi ý</a:t>
            </a:r>
            <a:endParaRPr lang="en-US" sz="1100" dirty="0"/>
          </a:p>
        </p:txBody>
      </p:sp>
      <p:sp>
        <p:nvSpPr>
          <p:cNvPr id="16" name="Shape 14"/>
          <p:cNvSpPr/>
          <p:nvPr/>
        </p:nvSpPr>
        <p:spPr>
          <a:xfrm>
            <a:off x="5532120" y="1691640"/>
            <a:ext cx="3154680" cy="822960"/>
          </a:xfrm>
          <a:prstGeom prst="roundRect">
            <a:avLst>
              <a:gd name="adj" fmla="val 13333"/>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7" name="Shape 15"/>
          <p:cNvSpPr/>
          <p:nvPr/>
        </p:nvSpPr>
        <p:spPr>
          <a:xfrm>
            <a:off x="5669280" y="1965960"/>
            <a:ext cx="256032" cy="256032"/>
          </a:xfrm>
          <a:prstGeom prst="ellipse">
            <a:avLst/>
          </a:prstGeom>
          <a:solidFill>
            <a:srgbClr val="C9A24A"/>
          </a:solidFill>
          <a:ln/>
        </p:spPr>
      </p:sp>
      <p:sp>
        <p:nvSpPr>
          <p:cNvPr id="18" name="Text 16"/>
          <p:cNvSpPr txBox="1"/>
          <p:nvPr/>
        </p:nvSpPr>
        <p:spPr>
          <a:xfrm>
            <a:off x="6035040" y="1764792"/>
            <a:ext cx="2560320" cy="274320"/>
          </a:xfrm>
          <a:prstGeom prst="rect">
            <a:avLst/>
          </a:prstGeom>
          <a:noFill/>
          <a:ln/>
        </p:spPr>
        <p:txBody>
          <a:bodyPr wrap="square" lIns="0" tIns="0" rIns="0" bIns="0" rtlCol="0" anchor="ctr"/>
          <a:lstStyle/>
          <a:p>
            <a:pPr indent="0" marL="0">
              <a:buNone/>
            </a:pPr>
            <a:r>
              <a:rPr lang="en-US" sz="1300" b="1" dirty="0">
                <a:solidFill>
                  <a:srgbClr val="0F2447"/>
                </a:solidFill>
                <a:latin typeface="Cambria" pitchFamily="34" charset="0"/>
                <a:ea typeface="Cambria" pitchFamily="34" charset="-122"/>
                <a:cs typeface="Cambria" pitchFamily="34" charset="-120"/>
              </a:rPr>
              <a:t>Một buổi luyện có ba phần</a:t>
            </a:r>
            <a:endParaRPr lang="en-US" sz="1300" dirty="0"/>
          </a:p>
        </p:txBody>
      </p:sp>
      <p:sp>
        <p:nvSpPr>
          <p:cNvPr id="19" name="Text 17"/>
          <p:cNvSpPr txBox="1"/>
          <p:nvPr/>
        </p:nvSpPr>
        <p:spPr>
          <a:xfrm>
            <a:off x="6035040" y="2057400"/>
            <a:ext cx="2560320" cy="411480"/>
          </a:xfrm>
          <a:prstGeom prst="rect">
            <a:avLst/>
          </a:prstGeom>
          <a:noFill/>
          <a:ln/>
        </p:spPr>
        <p:txBody>
          <a:bodyPr wrap="square" lIns="0" tIns="0" rIns="0" bIns="0" rtlCol="0" anchor="t"/>
          <a:lstStyle/>
          <a:p>
            <a:pPr indent="0" marL="0">
              <a:buNone/>
            </a:pPr>
            <a:r>
              <a:rPr lang="en-US" sz="1100" dirty="0">
                <a:solidFill>
                  <a:srgbClr val="566175"/>
                </a:solidFill>
                <a:latin typeface="Calibri" pitchFamily="34" charset="0"/>
                <a:ea typeface="Calibri" pitchFamily="34" charset="-122"/>
                <a:cs typeface="Calibri" pitchFamily="34" charset="-120"/>
              </a:rPr>
              <a:t>Ôn bài cũ, luyện tập, rồi thử thách tự làm.</a:t>
            </a:r>
            <a:endParaRPr lang="en-US" sz="1100" dirty="0"/>
          </a:p>
        </p:txBody>
      </p:sp>
      <p:sp>
        <p:nvSpPr>
          <p:cNvPr id="20" name="Shape 18"/>
          <p:cNvSpPr/>
          <p:nvPr/>
        </p:nvSpPr>
        <p:spPr>
          <a:xfrm>
            <a:off x="5532120" y="2651760"/>
            <a:ext cx="3154680" cy="822960"/>
          </a:xfrm>
          <a:prstGeom prst="roundRect">
            <a:avLst>
              <a:gd name="adj" fmla="val 13333"/>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1" name="Shape 19"/>
          <p:cNvSpPr/>
          <p:nvPr/>
        </p:nvSpPr>
        <p:spPr>
          <a:xfrm>
            <a:off x="5669280" y="2926080"/>
            <a:ext cx="256032" cy="256032"/>
          </a:xfrm>
          <a:prstGeom prst="ellipse">
            <a:avLst/>
          </a:prstGeom>
          <a:solidFill>
            <a:srgbClr val="C9A24A"/>
          </a:solidFill>
          <a:ln/>
        </p:spPr>
      </p:sp>
      <p:sp>
        <p:nvSpPr>
          <p:cNvPr id="22" name="Text 20"/>
          <p:cNvSpPr txBox="1"/>
          <p:nvPr/>
        </p:nvSpPr>
        <p:spPr>
          <a:xfrm>
            <a:off x="6035040" y="2724912"/>
            <a:ext cx="2560320" cy="274320"/>
          </a:xfrm>
          <a:prstGeom prst="rect">
            <a:avLst/>
          </a:prstGeom>
          <a:noFill/>
          <a:ln/>
        </p:spPr>
        <p:txBody>
          <a:bodyPr wrap="square" lIns="0" tIns="0" rIns="0" bIns="0" rtlCol="0" anchor="ctr"/>
          <a:lstStyle/>
          <a:p>
            <a:pPr indent="0" marL="0">
              <a:buNone/>
            </a:pPr>
            <a:r>
              <a:rPr lang="en-US" sz="1300" b="1" dirty="0">
                <a:solidFill>
                  <a:srgbClr val="0F2447"/>
                </a:solidFill>
                <a:latin typeface="Cambria" pitchFamily="34" charset="0"/>
                <a:ea typeface="Cambria" pitchFamily="34" charset="-122"/>
                <a:cs typeface="Cambria" pitchFamily="34" charset="-120"/>
              </a:rPr>
              <a:t>Chỉ dùng chữ, âm, vần đã học</a:t>
            </a:r>
            <a:endParaRPr lang="en-US" sz="1300" dirty="0"/>
          </a:p>
        </p:txBody>
      </p:sp>
      <p:sp>
        <p:nvSpPr>
          <p:cNvPr id="23" name="Text 21"/>
          <p:cNvSpPr txBox="1"/>
          <p:nvPr/>
        </p:nvSpPr>
        <p:spPr>
          <a:xfrm>
            <a:off x="6035040" y="3017520"/>
            <a:ext cx="2560320" cy="411480"/>
          </a:xfrm>
          <a:prstGeom prst="rect">
            <a:avLst/>
          </a:prstGeom>
          <a:noFill/>
          <a:ln/>
        </p:spPr>
        <p:txBody>
          <a:bodyPr wrap="square" lIns="0" tIns="0" rIns="0" bIns="0" rtlCol="0" anchor="t"/>
          <a:lstStyle/>
          <a:p>
            <a:pPr indent="0" marL="0">
              <a:buNone/>
            </a:pPr>
            <a:r>
              <a:rPr lang="en-US" sz="1100" dirty="0">
                <a:solidFill>
                  <a:srgbClr val="566175"/>
                </a:solidFill>
                <a:latin typeface="Calibri" pitchFamily="34" charset="0"/>
                <a:ea typeface="Calibri" pitchFamily="34" charset="-122"/>
                <a:cs typeface="Calibri" pitchFamily="34" charset="-120"/>
              </a:rPr>
              <a:t>Theo đúng vị trí bài học của lớp.</a:t>
            </a:r>
            <a:endParaRPr lang="en-US" sz="1100" dirty="0"/>
          </a:p>
        </p:txBody>
      </p:sp>
      <p:sp>
        <p:nvSpPr>
          <p:cNvPr id="24" name="Shape 22"/>
          <p:cNvSpPr/>
          <p:nvPr/>
        </p:nvSpPr>
        <p:spPr>
          <a:xfrm>
            <a:off x="5532120" y="3611880"/>
            <a:ext cx="3154680" cy="822960"/>
          </a:xfrm>
          <a:prstGeom prst="roundRect">
            <a:avLst>
              <a:gd name="adj" fmla="val 13333"/>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5" name="Shape 23"/>
          <p:cNvSpPr/>
          <p:nvPr/>
        </p:nvSpPr>
        <p:spPr>
          <a:xfrm>
            <a:off x="5669280" y="3886200"/>
            <a:ext cx="256032" cy="256032"/>
          </a:xfrm>
          <a:prstGeom prst="ellipse">
            <a:avLst/>
          </a:prstGeom>
          <a:solidFill>
            <a:srgbClr val="C9A24A"/>
          </a:solidFill>
          <a:ln/>
        </p:spPr>
      </p:sp>
      <p:sp>
        <p:nvSpPr>
          <p:cNvPr id="26" name="Text 24"/>
          <p:cNvSpPr txBox="1"/>
          <p:nvPr/>
        </p:nvSpPr>
        <p:spPr>
          <a:xfrm>
            <a:off x="6035040" y="3685032"/>
            <a:ext cx="2560320" cy="274320"/>
          </a:xfrm>
          <a:prstGeom prst="rect">
            <a:avLst/>
          </a:prstGeom>
          <a:noFill/>
          <a:ln/>
        </p:spPr>
        <p:txBody>
          <a:bodyPr wrap="square" lIns="0" tIns="0" rIns="0" bIns="0" rtlCol="0" anchor="ctr"/>
          <a:lstStyle/>
          <a:p>
            <a:pPr indent="0" marL="0">
              <a:buNone/>
            </a:pPr>
            <a:r>
              <a:rPr lang="en-US" sz="1300" b="1" dirty="0">
                <a:solidFill>
                  <a:srgbClr val="0F2447"/>
                </a:solidFill>
                <a:latin typeface="Cambria" pitchFamily="34" charset="0"/>
                <a:ea typeface="Cambria" pitchFamily="34" charset="-122"/>
                <a:cs typeface="Cambria" pitchFamily="34" charset="-120"/>
              </a:rPr>
              <a:t>Không làm lộ đáp án</a:t>
            </a:r>
            <a:endParaRPr lang="en-US" sz="1300" dirty="0"/>
          </a:p>
        </p:txBody>
      </p:sp>
      <p:sp>
        <p:nvSpPr>
          <p:cNvPr id="27" name="Text 25"/>
          <p:cNvSpPr txBox="1"/>
          <p:nvPr/>
        </p:nvSpPr>
        <p:spPr>
          <a:xfrm>
            <a:off x="6035040" y="3977640"/>
            <a:ext cx="2560320" cy="411480"/>
          </a:xfrm>
          <a:prstGeom prst="rect">
            <a:avLst/>
          </a:prstGeom>
          <a:noFill/>
          <a:ln/>
        </p:spPr>
        <p:txBody>
          <a:bodyPr wrap="square" lIns="0" tIns="0" rIns="0" bIns="0" rtlCol="0" anchor="t"/>
          <a:lstStyle/>
          <a:p>
            <a:pPr indent="0" marL="0">
              <a:buNone/>
            </a:pPr>
            <a:r>
              <a:rPr lang="en-US" sz="1100" dirty="0">
                <a:solidFill>
                  <a:srgbClr val="566175"/>
                </a:solidFill>
                <a:latin typeface="Calibri" pitchFamily="34" charset="0"/>
                <a:ea typeface="Calibri" pitchFamily="34" charset="-122"/>
                <a:cs typeface="Calibri" pitchFamily="34" charset="-120"/>
              </a:rPr>
              <a:t>Câu lệnh, hình ảnh và lời đọc không nói thay con.</a:t>
            </a:r>
            <a:endParaRPr lang="en-US" sz="1100" dirty="0"/>
          </a:p>
        </p:txBody>
      </p:sp>
      <p:sp>
        <p:nvSpPr>
          <p:cNvPr id="28" name="Shape 26"/>
          <p:cNvSpPr/>
          <p:nvPr/>
        </p:nvSpPr>
        <p:spPr>
          <a:xfrm>
            <a:off x="5532120" y="1325880"/>
            <a:ext cx="1207008" cy="256032"/>
          </a:xfrm>
          <a:prstGeom prst="roundRect">
            <a:avLst>
              <a:gd name="adj" fmla="val 50000"/>
            </a:avLst>
          </a:prstGeom>
          <a:solidFill>
            <a:srgbClr val="FFFFFF"/>
          </a:solidFill>
          <a:ln w="15875">
            <a:solidFill>
              <a:srgbClr val="9A7416"/>
            </a:solidFill>
            <a:prstDash val="solid"/>
          </a:ln>
        </p:spPr>
      </p:sp>
      <p:sp>
        <p:nvSpPr>
          <p:cNvPr id="29" name="Text 27"/>
          <p:cNvSpPr txBox="1"/>
          <p:nvPr/>
        </p:nvSpPr>
        <p:spPr>
          <a:xfrm>
            <a:off x="5532120" y="1325880"/>
            <a:ext cx="1207008" cy="256032"/>
          </a:xfrm>
          <a:prstGeom prst="rect">
            <a:avLst/>
          </a:prstGeom>
          <a:noFill/>
          <a:ln/>
        </p:spPr>
        <p:txBody>
          <a:bodyPr wrap="square" lIns="0" tIns="0" rIns="0" bIns="0" rtlCol="0" anchor="ctr"/>
          <a:lstStyle/>
          <a:p>
            <a:pPr algn="ctr" indent="0" marL="0">
              <a:buNone/>
            </a:pPr>
            <a:r>
              <a:rPr lang="en-US" sz="1000" b="1" dirty="0">
                <a:solidFill>
                  <a:srgbClr val="9A7416"/>
                </a:solidFill>
                <a:latin typeface="Calibri" pitchFamily="34" charset="0"/>
                <a:ea typeface="Calibri" pitchFamily="34" charset="-122"/>
                <a:cs typeface="Calibri" pitchFamily="34" charset="-120"/>
              </a:rPr>
              <a:t>BẢN CHƠI THỬ</a:t>
            </a:r>
            <a:endParaRPr lang="en-US" sz="1000" dirty="0"/>
          </a:p>
        </p:txBody>
      </p:sp>
      <p:sp>
        <p:nvSpPr>
          <p:cNvPr id="30" name="Text 28"/>
          <p:cNvSpPr txBox="1"/>
          <p:nvPr/>
        </p:nvSpPr>
        <p:spPr>
          <a:xfrm>
            <a:off x="548640" y="4553712"/>
            <a:ext cx="8138160" cy="219456"/>
          </a:xfrm>
          <a:prstGeom prst="rect">
            <a:avLst/>
          </a:prstGeom>
          <a:noFill/>
          <a:ln/>
        </p:spPr>
        <p:txBody>
          <a:bodyPr wrap="square" lIns="0" tIns="0" rIns="0" bIns="0" rtlCol="0" anchor="ctr"/>
          <a:lstStyle/>
          <a:p>
            <a:pPr algn="l" indent="0" marL="0">
              <a:buNone/>
            </a:pPr>
            <a:r>
              <a:rPr lang="en-US" sz="1000" i="1" dirty="0">
                <a:solidFill>
                  <a:srgbClr val="566175"/>
                </a:solidFill>
                <a:latin typeface="Calibri" pitchFamily="34" charset="0"/>
                <a:ea typeface="Calibri" pitchFamily="34" charset="-122"/>
                <a:cs typeface="Calibri" pitchFamily="34" charset="-120"/>
              </a:rPr>
              <a:t>Hiện mức hỗ trợ do người lớn chọn; tự động tăng giảm mức là hướng phát triển.</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BƯỚC 3</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Học sinh làm bài như thế nào?</a:t>
            </a:r>
            <a:endParaRPr lang="en-US" sz="3000" dirty="0"/>
          </a:p>
        </p:txBody>
      </p:sp>
      <p:sp>
        <p:nvSpPr>
          <p:cNvPr id="4" name="Shape 2"/>
          <p:cNvSpPr/>
          <p:nvPr/>
        </p:nvSpPr>
        <p:spPr>
          <a:xfrm>
            <a:off x="2788920" y="1170432"/>
            <a:ext cx="1737360" cy="3474720"/>
          </a:xfrm>
          <a:prstGeom prst="roundRect">
            <a:avLst>
              <a:gd name="adj" fmla="val 11579"/>
            </a:avLst>
          </a:prstGeom>
          <a:solidFill>
            <a:srgbClr val="0F2447"/>
          </a:solidFill>
          <a:ln/>
          <a:effectLst>
            <a:outerShdw sx="100000" sy="100000" kx="0" ky="0" algn="bl" rotWithShape="0" blurRad="101600" dist="25400" dir="5400000">
              <a:srgbClr val="1F2A3C">
                <a:alpha val="14000"/>
              </a:srgbClr>
            </a:outerShdw>
          </a:effectLst>
        </p:spPr>
      </p:sp>
      <p:pic>
        <p:nvPicPr>
          <p:cNvPr id="5" name="Image 0" descr="Màn hình bản chơi thử trên điện thoại">    </p:cNvPr>
          <p:cNvPicPr>
            <a:picLocks noChangeAspect="1"/>
          </p:cNvPicPr>
          <p:nvPr/>
        </p:nvPicPr>
        <p:blipFill>
          <a:blip r:embed="rId1"/>
          <a:stretch>
            <a:fillRect/>
          </a:stretch>
        </p:blipFill>
        <p:spPr>
          <a:xfrm>
            <a:off x="2843784" y="1225296"/>
            <a:ext cx="1627632" cy="3364992"/>
          </a:xfrm>
          <a:prstGeom prst="rect">
            <a:avLst/>
          </a:prstGeom>
        </p:spPr>
      </p:pic>
      <p:sp>
        <p:nvSpPr>
          <p:cNvPr id="6" name="Shape 3"/>
          <p:cNvSpPr/>
          <p:nvPr/>
        </p:nvSpPr>
        <p:spPr>
          <a:xfrm>
            <a:off x="4846320" y="1170432"/>
            <a:ext cx="1737360" cy="3474720"/>
          </a:xfrm>
          <a:prstGeom prst="roundRect">
            <a:avLst>
              <a:gd name="adj" fmla="val 11579"/>
            </a:avLst>
          </a:prstGeom>
          <a:solidFill>
            <a:srgbClr val="0F2447"/>
          </a:solidFill>
          <a:ln/>
          <a:effectLst>
            <a:outerShdw sx="100000" sy="100000" kx="0" ky="0" algn="bl" rotWithShape="0" blurRad="101600" dist="25400" dir="5400000">
              <a:srgbClr val="1F2A3C">
                <a:alpha val="14000"/>
              </a:srgbClr>
            </a:outerShdw>
          </a:effectLst>
        </p:spPr>
      </p:sp>
      <p:pic>
        <p:nvPicPr>
          <p:cNvPr id="7" name="Image 1" descr="Màn hình bản chơi thử trên điện thoại">    </p:cNvPr>
          <p:cNvPicPr>
            <a:picLocks noChangeAspect="1"/>
          </p:cNvPicPr>
          <p:nvPr/>
        </p:nvPicPr>
        <p:blipFill>
          <a:blip r:embed="rId2"/>
          <a:stretch>
            <a:fillRect/>
          </a:stretch>
        </p:blipFill>
        <p:spPr>
          <a:xfrm>
            <a:off x="4901184" y="1225296"/>
            <a:ext cx="1627632" cy="3364992"/>
          </a:xfrm>
          <a:prstGeom prst="rect">
            <a:avLst/>
          </a:prstGeom>
        </p:spPr>
      </p:pic>
      <p:sp>
        <p:nvSpPr>
          <p:cNvPr id="8" name="Shape 4"/>
          <p:cNvSpPr/>
          <p:nvPr/>
        </p:nvSpPr>
        <p:spPr>
          <a:xfrm>
            <a:off x="2748321" y="1809105"/>
            <a:ext cx="256032" cy="256032"/>
          </a:xfrm>
          <a:prstGeom prst="ellipse">
            <a:avLst/>
          </a:prstGeom>
          <a:solidFill>
            <a:srgbClr val="B8561F"/>
          </a:solidFill>
          <a:ln/>
        </p:spPr>
      </p:sp>
      <p:sp>
        <p:nvSpPr>
          <p:cNvPr id="9" name="Text 5"/>
          <p:cNvSpPr txBox="1"/>
          <p:nvPr/>
        </p:nvSpPr>
        <p:spPr>
          <a:xfrm>
            <a:off x="2748321" y="1809105"/>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Shape 6"/>
          <p:cNvSpPr/>
          <p:nvPr/>
        </p:nvSpPr>
        <p:spPr>
          <a:xfrm>
            <a:off x="3562137" y="3664165"/>
            <a:ext cx="256032" cy="256032"/>
          </a:xfrm>
          <a:prstGeom prst="ellipse">
            <a:avLst/>
          </a:prstGeom>
          <a:solidFill>
            <a:srgbClr val="B8561F"/>
          </a:solidFill>
          <a:ln/>
        </p:spPr>
      </p:sp>
      <p:sp>
        <p:nvSpPr>
          <p:cNvPr id="11" name="Text 7"/>
          <p:cNvSpPr txBox="1"/>
          <p:nvPr/>
        </p:nvSpPr>
        <p:spPr>
          <a:xfrm>
            <a:off x="3562137" y="3664165"/>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Shape 8"/>
          <p:cNvSpPr/>
          <p:nvPr/>
        </p:nvSpPr>
        <p:spPr>
          <a:xfrm>
            <a:off x="3627242" y="4224997"/>
            <a:ext cx="256032" cy="256032"/>
          </a:xfrm>
          <a:prstGeom prst="ellipse">
            <a:avLst/>
          </a:prstGeom>
          <a:solidFill>
            <a:srgbClr val="B8561F"/>
          </a:solidFill>
          <a:ln/>
        </p:spPr>
      </p:sp>
      <p:sp>
        <p:nvSpPr>
          <p:cNvPr id="13" name="Text 9"/>
          <p:cNvSpPr txBox="1"/>
          <p:nvPr/>
        </p:nvSpPr>
        <p:spPr>
          <a:xfrm>
            <a:off x="3627242" y="4224997"/>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Shape 10"/>
          <p:cNvSpPr/>
          <p:nvPr/>
        </p:nvSpPr>
        <p:spPr>
          <a:xfrm>
            <a:off x="4887102" y="2883314"/>
            <a:ext cx="256032" cy="256032"/>
          </a:xfrm>
          <a:prstGeom prst="ellipse">
            <a:avLst/>
          </a:prstGeom>
          <a:solidFill>
            <a:srgbClr val="B8561F"/>
          </a:solidFill>
          <a:ln/>
        </p:spPr>
      </p:sp>
      <p:sp>
        <p:nvSpPr>
          <p:cNvPr id="15" name="Text 11"/>
          <p:cNvSpPr txBox="1"/>
          <p:nvPr/>
        </p:nvSpPr>
        <p:spPr>
          <a:xfrm>
            <a:off x="4887102" y="2883314"/>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Shape 12"/>
          <p:cNvSpPr/>
          <p:nvPr/>
        </p:nvSpPr>
        <p:spPr>
          <a:xfrm>
            <a:off x="548640" y="1463040"/>
            <a:ext cx="310896" cy="310896"/>
          </a:xfrm>
          <a:prstGeom prst="ellipse">
            <a:avLst/>
          </a:prstGeom>
          <a:solidFill>
            <a:srgbClr val="B8561F"/>
          </a:solidFill>
          <a:ln/>
        </p:spPr>
      </p:sp>
      <p:sp>
        <p:nvSpPr>
          <p:cNvPr id="17" name="Text 13"/>
          <p:cNvSpPr txBox="1"/>
          <p:nvPr/>
        </p:nvSpPr>
        <p:spPr>
          <a:xfrm>
            <a:off x="548640" y="14630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4"/>
          <p:cNvSpPr txBox="1"/>
          <p:nvPr/>
        </p:nvSpPr>
        <p:spPr>
          <a:xfrm>
            <a:off x="969264" y="1444752"/>
            <a:ext cx="1691640" cy="274320"/>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Xem câu hỏi</a:t>
            </a:r>
            <a:endParaRPr lang="en-US" sz="1400" dirty="0"/>
          </a:p>
        </p:txBody>
      </p:sp>
      <p:sp>
        <p:nvSpPr>
          <p:cNvPr id="19" name="Text 15"/>
          <p:cNvSpPr txBox="1"/>
          <p:nvPr/>
        </p:nvSpPr>
        <p:spPr>
          <a:xfrm>
            <a:off x="969264" y="1737360"/>
            <a:ext cx="1691640" cy="73152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Một câu hỏi, một nhiệm vụ trên mỗi màn hình.</a:t>
            </a:r>
            <a:endParaRPr lang="en-US" sz="1200" dirty="0"/>
          </a:p>
        </p:txBody>
      </p:sp>
      <p:sp>
        <p:nvSpPr>
          <p:cNvPr id="20" name="Shape 16"/>
          <p:cNvSpPr/>
          <p:nvPr/>
        </p:nvSpPr>
        <p:spPr>
          <a:xfrm>
            <a:off x="548640" y="2834640"/>
            <a:ext cx="310896" cy="310896"/>
          </a:xfrm>
          <a:prstGeom prst="ellipse">
            <a:avLst/>
          </a:prstGeom>
          <a:solidFill>
            <a:srgbClr val="B8561F"/>
          </a:solidFill>
          <a:ln/>
        </p:spPr>
      </p:sp>
      <p:sp>
        <p:nvSpPr>
          <p:cNvPr id="21" name="Text 17"/>
          <p:cNvSpPr txBox="1"/>
          <p:nvPr/>
        </p:nvSpPr>
        <p:spPr>
          <a:xfrm>
            <a:off x="548640" y="28346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2" name="Text 18"/>
          <p:cNvSpPr txBox="1"/>
          <p:nvPr/>
        </p:nvSpPr>
        <p:spPr>
          <a:xfrm>
            <a:off x="969264" y="2816352"/>
            <a:ext cx="1691640" cy="274320"/>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Chạm chọn đáp án</a:t>
            </a:r>
            <a:endParaRPr lang="en-US" sz="1400" dirty="0"/>
          </a:p>
        </p:txBody>
      </p:sp>
      <p:sp>
        <p:nvSpPr>
          <p:cNvPr id="23" name="Text 19"/>
          <p:cNvSpPr txBox="1"/>
          <p:nvPr/>
        </p:nvSpPr>
        <p:spPr>
          <a:xfrm>
            <a:off x="969264" y="3108960"/>
            <a:ext cx="1691640" cy="73152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Thẻ lớn, dễ chạm — không cần kéo thả.</a:t>
            </a:r>
            <a:endParaRPr lang="en-US" sz="1200" dirty="0"/>
          </a:p>
        </p:txBody>
      </p:sp>
      <p:sp>
        <p:nvSpPr>
          <p:cNvPr id="24" name="Shape 20"/>
          <p:cNvSpPr/>
          <p:nvPr/>
        </p:nvSpPr>
        <p:spPr>
          <a:xfrm>
            <a:off x="6949440" y="1463040"/>
            <a:ext cx="310896" cy="310896"/>
          </a:xfrm>
          <a:prstGeom prst="ellipse">
            <a:avLst/>
          </a:prstGeom>
          <a:solidFill>
            <a:srgbClr val="B8561F"/>
          </a:solidFill>
          <a:ln/>
        </p:spPr>
      </p:sp>
      <p:sp>
        <p:nvSpPr>
          <p:cNvPr id="25" name="Text 21"/>
          <p:cNvSpPr txBox="1"/>
          <p:nvPr/>
        </p:nvSpPr>
        <p:spPr>
          <a:xfrm>
            <a:off x="6949440" y="14630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2"/>
          <p:cNvSpPr txBox="1"/>
          <p:nvPr/>
        </p:nvSpPr>
        <p:spPr>
          <a:xfrm>
            <a:off x="7370064" y="1444752"/>
            <a:ext cx="1371600" cy="512064"/>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Bấm Kiểm tra</a:t>
            </a:r>
            <a:endParaRPr lang="en-US" sz="1400" dirty="0"/>
          </a:p>
        </p:txBody>
      </p:sp>
      <p:sp>
        <p:nvSpPr>
          <p:cNvPr id="27" name="Text 23"/>
          <p:cNvSpPr txBox="1"/>
          <p:nvPr/>
        </p:nvSpPr>
        <p:spPr>
          <a:xfrm>
            <a:off x="7370064" y="1965960"/>
            <a:ext cx="1371600" cy="82296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Nút lớn ở cuối màn hình.</a:t>
            </a:r>
            <a:endParaRPr lang="en-US" sz="1200" dirty="0"/>
          </a:p>
        </p:txBody>
      </p:sp>
      <p:sp>
        <p:nvSpPr>
          <p:cNvPr id="28" name="Shape 24"/>
          <p:cNvSpPr/>
          <p:nvPr/>
        </p:nvSpPr>
        <p:spPr>
          <a:xfrm>
            <a:off x="6949440" y="2834640"/>
            <a:ext cx="310896" cy="310896"/>
          </a:xfrm>
          <a:prstGeom prst="ellipse">
            <a:avLst/>
          </a:prstGeom>
          <a:solidFill>
            <a:srgbClr val="B8561F"/>
          </a:solidFill>
          <a:ln/>
        </p:spPr>
      </p:sp>
      <p:sp>
        <p:nvSpPr>
          <p:cNvPr id="29" name="Text 25"/>
          <p:cNvSpPr txBox="1"/>
          <p:nvPr/>
        </p:nvSpPr>
        <p:spPr>
          <a:xfrm>
            <a:off x="6949440" y="28346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0" name="Text 26"/>
          <p:cNvSpPr txBox="1"/>
          <p:nvPr/>
        </p:nvSpPr>
        <p:spPr>
          <a:xfrm>
            <a:off x="7370064" y="2816352"/>
            <a:ext cx="1371600" cy="512064"/>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Xem kết quả và tiếp tục</a:t>
            </a:r>
            <a:endParaRPr lang="en-US" sz="1400" dirty="0"/>
          </a:p>
        </p:txBody>
      </p:sp>
      <p:sp>
        <p:nvSpPr>
          <p:cNvPr id="31" name="Text 27"/>
          <p:cNvSpPr txBox="1"/>
          <p:nvPr/>
        </p:nvSpPr>
        <p:spPr>
          <a:xfrm>
            <a:off x="7370064" y="3337560"/>
            <a:ext cx="1371600" cy="82296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Lời khen, giải thích ngắn rồi sang câu kế tiếp.</a:t>
            </a:r>
            <a:endParaRPr lang="en-US" sz="12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PHẢN HỒI</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Khi học sinh trả lời chưa đúng</a:t>
            </a:r>
            <a:endParaRPr lang="en-US" sz="3000" dirty="0"/>
          </a:p>
        </p:txBody>
      </p:sp>
      <p:sp>
        <p:nvSpPr>
          <p:cNvPr id="4" name="Shape 2"/>
          <p:cNvSpPr/>
          <p:nvPr/>
        </p:nvSpPr>
        <p:spPr>
          <a:xfrm>
            <a:off x="685800" y="1188720"/>
            <a:ext cx="1737360" cy="3474720"/>
          </a:xfrm>
          <a:prstGeom prst="roundRect">
            <a:avLst>
              <a:gd name="adj" fmla="val 11579"/>
            </a:avLst>
          </a:prstGeom>
          <a:solidFill>
            <a:srgbClr val="0F2447"/>
          </a:solidFill>
          <a:ln/>
          <a:effectLst>
            <a:outerShdw sx="100000" sy="100000" kx="0" ky="0" algn="bl" rotWithShape="0" blurRad="101600" dist="25400" dir="5400000">
              <a:srgbClr val="1F2A3C">
                <a:alpha val="14000"/>
              </a:srgbClr>
            </a:outerShdw>
          </a:effectLst>
        </p:spPr>
      </p:sp>
      <p:pic>
        <p:nvPicPr>
          <p:cNvPr id="5" name="Image 0" descr="Màn hình bản chơi thử trên điện thoại">    </p:cNvPr>
          <p:cNvPicPr>
            <a:picLocks noChangeAspect="1"/>
          </p:cNvPicPr>
          <p:nvPr/>
        </p:nvPicPr>
        <p:blipFill>
          <a:blip r:embed="rId1"/>
          <a:stretch>
            <a:fillRect/>
          </a:stretch>
        </p:blipFill>
        <p:spPr>
          <a:xfrm>
            <a:off x="740664" y="1243584"/>
            <a:ext cx="1627632" cy="3364992"/>
          </a:xfrm>
          <a:prstGeom prst="rect">
            <a:avLst/>
          </a:prstGeom>
        </p:spPr>
      </p:pic>
      <p:sp>
        <p:nvSpPr>
          <p:cNvPr id="6" name="Text 3"/>
          <p:cNvSpPr txBox="1"/>
          <p:nvPr/>
        </p:nvSpPr>
        <p:spPr>
          <a:xfrm>
            <a:off x="3200400" y="1234440"/>
            <a:ext cx="5486400" cy="548640"/>
          </a:xfrm>
          <a:prstGeom prst="rect">
            <a:avLst/>
          </a:prstGeom>
          <a:noFill/>
          <a:ln/>
        </p:spPr>
        <p:txBody>
          <a:bodyPr wrap="square" lIns="0" tIns="0" rIns="0" bIns="0" rtlCol="0" anchor="ctr"/>
          <a:lstStyle/>
          <a:p>
            <a:pPr indent="0" marL="0">
              <a:buNone/>
            </a:pPr>
            <a:r>
              <a:rPr lang="en-US" sz="2400" b="1" i="1" dirty="0">
                <a:solidFill>
                  <a:srgbClr val="0E8A7D"/>
                </a:solidFill>
                <a:latin typeface="Cambria" pitchFamily="34" charset="0"/>
                <a:ea typeface="Cambria" pitchFamily="34" charset="-122"/>
                <a:cs typeface="Cambria" pitchFamily="34" charset="-120"/>
              </a:rPr>
              <a:t>Sai cũng là một cơ hội để học.</a:t>
            </a:r>
            <a:endParaRPr lang="en-US" sz="2400" dirty="0"/>
          </a:p>
        </p:txBody>
      </p:sp>
      <p:sp>
        <p:nvSpPr>
          <p:cNvPr id="7" name="Shape 4"/>
          <p:cNvSpPr/>
          <p:nvPr/>
        </p:nvSpPr>
        <p:spPr>
          <a:xfrm>
            <a:off x="3200400" y="2029968"/>
            <a:ext cx="182880" cy="182880"/>
          </a:xfrm>
          <a:prstGeom prst="ellipse">
            <a:avLst/>
          </a:prstGeom>
          <a:solidFill>
            <a:srgbClr val="C9A24A"/>
          </a:solidFill>
          <a:ln/>
        </p:spPr>
      </p:sp>
      <p:sp>
        <p:nvSpPr>
          <p:cNvPr id="8" name="Text 5"/>
          <p:cNvSpPr txBox="1"/>
          <p:nvPr/>
        </p:nvSpPr>
        <p:spPr>
          <a:xfrm>
            <a:off x="3566160" y="1965960"/>
            <a:ext cx="5029200" cy="274320"/>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Phản hồi dễ hiểu</a:t>
            </a:r>
            <a:endParaRPr lang="en-US" sz="1500" dirty="0"/>
          </a:p>
        </p:txBody>
      </p:sp>
      <p:sp>
        <p:nvSpPr>
          <p:cNvPr id="9" name="Text 6"/>
          <p:cNvSpPr txBox="1"/>
          <p:nvPr/>
        </p:nvSpPr>
        <p:spPr>
          <a:xfrm>
            <a:off x="3566160" y="2240280"/>
            <a:ext cx="5029200" cy="274320"/>
          </a:xfrm>
          <a:prstGeom prst="rect">
            <a:avLst/>
          </a:prstGeom>
          <a:noFill/>
          <a:ln/>
        </p:spPr>
        <p:txBody>
          <a:bodyPr wrap="square" lIns="0" tIns="0" rIns="0" bIns="0" rtlCol="0" anchor="ctr"/>
          <a:lstStyle/>
          <a:p>
            <a:pPr indent="0" marL="0">
              <a:buNone/>
            </a:pPr>
            <a:r>
              <a:rPr lang="en-US" sz="1300" dirty="0">
                <a:solidFill>
                  <a:srgbClr val="566175"/>
                </a:solidFill>
                <a:latin typeface="Calibri" pitchFamily="34" charset="0"/>
                <a:ea typeface="Calibri" pitchFamily="34" charset="-122"/>
                <a:cs typeface="Calibri" pitchFamily="34" charset="-120"/>
              </a:rPr>
              <a:t>“Chưa đúng rồi. Con xem lại vần rồi chọn lại nhé.”</a:t>
            </a:r>
            <a:endParaRPr lang="en-US" sz="1300" dirty="0"/>
          </a:p>
        </p:txBody>
      </p:sp>
      <p:sp>
        <p:nvSpPr>
          <p:cNvPr id="10" name="Shape 7"/>
          <p:cNvSpPr/>
          <p:nvPr/>
        </p:nvSpPr>
        <p:spPr>
          <a:xfrm>
            <a:off x="3200400" y="2688336"/>
            <a:ext cx="182880" cy="182880"/>
          </a:xfrm>
          <a:prstGeom prst="ellipse">
            <a:avLst/>
          </a:prstGeom>
          <a:solidFill>
            <a:srgbClr val="C9A24A"/>
          </a:solidFill>
          <a:ln/>
        </p:spPr>
      </p:sp>
      <p:sp>
        <p:nvSpPr>
          <p:cNvPr id="11" name="Text 8"/>
          <p:cNvSpPr txBox="1"/>
          <p:nvPr/>
        </p:nvSpPr>
        <p:spPr>
          <a:xfrm>
            <a:off x="3566160" y="2624328"/>
            <a:ext cx="5029200" cy="274320"/>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Gợi ý khi cần</a:t>
            </a:r>
            <a:endParaRPr lang="en-US" sz="1500" dirty="0"/>
          </a:p>
        </p:txBody>
      </p:sp>
      <p:sp>
        <p:nvSpPr>
          <p:cNvPr id="12" name="Text 9"/>
          <p:cNvSpPr txBox="1"/>
          <p:nvPr/>
        </p:nvSpPr>
        <p:spPr>
          <a:xfrm>
            <a:off x="3566160" y="2898648"/>
            <a:ext cx="5029200" cy="274320"/>
          </a:xfrm>
          <a:prstGeom prst="rect">
            <a:avLst/>
          </a:prstGeom>
          <a:noFill/>
          <a:ln/>
        </p:spPr>
        <p:txBody>
          <a:bodyPr wrap="square" lIns="0" tIns="0" rIns="0" bIns="0" rtlCol="0" anchor="ctr"/>
          <a:lstStyle/>
          <a:p>
            <a:pPr indent="0" marL="0">
              <a:buNone/>
            </a:pPr>
            <a:r>
              <a:rPr lang="en-US" sz="1300" dirty="0">
                <a:solidFill>
                  <a:srgbClr val="566175"/>
                </a:solidFill>
                <a:latin typeface="Calibri" pitchFamily="34" charset="0"/>
                <a:ea typeface="Calibri" pitchFamily="34" charset="-122"/>
                <a:cs typeface="Calibri" pitchFamily="34" charset="-120"/>
              </a:rPr>
              <a:t>Nút Gợi ý giúp con tìm lại hướng đi.</a:t>
            </a:r>
            <a:endParaRPr lang="en-US" sz="1300" dirty="0"/>
          </a:p>
        </p:txBody>
      </p:sp>
      <p:sp>
        <p:nvSpPr>
          <p:cNvPr id="13" name="Shape 10"/>
          <p:cNvSpPr/>
          <p:nvPr/>
        </p:nvSpPr>
        <p:spPr>
          <a:xfrm>
            <a:off x="3200400" y="3346704"/>
            <a:ext cx="182880" cy="182880"/>
          </a:xfrm>
          <a:prstGeom prst="ellipse">
            <a:avLst/>
          </a:prstGeom>
          <a:solidFill>
            <a:srgbClr val="C9A24A"/>
          </a:solidFill>
          <a:ln/>
        </p:spPr>
      </p:sp>
      <p:sp>
        <p:nvSpPr>
          <p:cNvPr id="14" name="Text 11"/>
          <p:cNvSpPr txBox="1"/>
          <p:nvPr/>
        </p:nvSpPr>
        <p:spPr>
          <a:xfrm>
            <a:off x="3566160" y="3282696"/>
            <a:ext cx="5029200" cy="274320"/>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Có cơ hội thử lại</a:t>
            </a:r>
            <a:endParaRPr lang="en-US" sz="1500" dirty="0"/>
          </a:p>
        </p:txBody>
      </p:sp>
      <p:sp>
        <p:nvSpPr>
          <p:cNvPr id="15" name="Text 12"/>
          <p:cNvSpPr txBox="1"/>
          <p:nvPr/>
        </p:nvSpPr>
        <p:spPr>
          <a:xfrm>
            <a:off x="3566160" y="3557016"/>
            <a:ext cx="5029200" cy="274320"/>
          </a:xfrm>
          <a:prstGeom prst="rect">
            <a:avLst/>
          </a:prstGeom>
          <a:noFill/>
          <a:ln/>
        </p:spPr>
        <p:txBody>
          <a:bodyPr wrap="square" lIns="0" tIns="0" rIns="0" bIns="0" rtlCol="0" anchor="ctr"/>
          <a:lstStyle/>
          <a:p>
            <a:pPr indent="0" marL="0">
              <a:buNone/>
            </a:pPr>
            <a:r>
              <a:rPr lang="en-US" sz="1300" dirty="0">
                <a:solidFill>
                  <a:srgbClr val="566175"/>
                </a:solidFill>
                <a:latin typeface="Calibri" pitchFamily="34" charset="0"/>
                <a:ea typeface="Calibri" pitchFamily="34" charset="-122"/>
                <a:cs typeface="Calibri" pitchFamily="34" charset="-120"/>
              </a:rPr>
              <a:t>Con được chọn lại ngay trong cùng câu.</a:t>
            </a:r>
            <a:endParaRPr lang="en-US" sz="1300" dirty="0"/>
          </a:p>
        </p:txBody>
      </p:sp>
      <p:sp>
        <p:nvSpPr>
          <p:cNvPr id="16" name="Shape 13"/>
          <p:cNvSpPr/>
          <p:nvPr/>
        </p:nvSpPr>
        <p:spPr>
          <a:xfrm>
            <a:off x="3200400" y="4005072"/>
            <a:ext cx="182880" cy="182880"/>
          </a:xfrm>
          <a:prstGeom prst="ellipse">
            <a:avLst/>
          </a:prstGeom>
          <a:solidFill>
            <a:srgbClr val="C9A24A"/>
          </a:solidFill>
          <a:ln/>
        </p:spPr>
      </p:sp>
      <p:sp>
        <p:nvSpPr>
          <p:cNvPr id="17" name="Text 14"/>
          <p:cNvSpPr txBox="1"/>
          <p:nvPr/>
        </p:nvSpPr>
        <p:spPr>
          <a:xfrm>
            <a:off x="3566160" y="3941064"/>
            <a:ext cx="5029200" cy="274320"/>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Không áp lực, không chê trách</a:t>
            </a:r>
            <a:endParaRPr lang="en-US" sz="1500" dirty="0"/>
          </a:p>
        </p:txBody>
      </p:sp>
      <p:sp>
        <p:nvSpPr>
          <p:cNvPr id="18" name="Text 15"/>
          <p:cNvSpPr txBox="1"/>
          <p:nvPr/>
        </p:nvSpPr>
        <p:spPr>
          <a:xfrm>
            <a:off x="3566160" y="4215384"/>
            <a:ext cx="5029200" cy="274320"/>
          </a:xfrm>
          <a:prstGeom prst="rect">
            <a:avLst/>
          </a:prstGeom>
          <a:noFill/>
          <a:ln/>
        </p:spPr>
        <p:txBody>
          <a:bodyPr wrap="square" lIns="0" tIns="0" rIns="0" bIns="0" rtlCol="0" anchor="ctr"/>
          <a:lstStyle/>
          <a:p>
            <a:pPr indent="0" marL="0">
              <a:buNone/>
            </a:pPr>
            <a:r>
              <a:rPr lang="en-US" sz="1300" dirty="0">
                <a:solidFill>
                  <a:srgbClr val="566175"/>
                </a:solidFill>
                <a:latin typeface="Calibri" pitchFamily="34" charset="0"/>
                <a:ea typeface="Calibri" pitchFamily="34" charset="-122"/>
                <a:cs typeface="Calibri" pitchFamily="34" charset="-120"/>
              </a:rPr>
              <a:t>Màu sắc dịu, lời nói nhẹ nhàng, không đếm ngược thời gian.</a:t>
            </a:r>
            <a:endParaRPr lang="en-US" sz="13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ĐỘNG LỰC</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Điểm thưởng tạo hứng thú luyện tập</a:t>
            </a:r>
            <a:endParaRPr lang="en-US" sz="3000" dirty="0"/>
          </a:p>
        </p:txBody>
      </p:sp>
      <p:sp>
        <p:nvSpPr>
          <p:cNvPr id="4" name="Shape 2"/>
          <p:cNvSpPr/>
          <p:nvPr/>
        </p:nvSpPr>
        <p:spPr>
          <a:xfrm>
            <a:off x="548640" y="1325880"/>
            <a:ext cx="1234440" cy="1737360"/>
          </a:xfrm>
          <a:prstGeom prst="roundRect">
            <a:avLst>
              <a:gd name="adj" fmla="val 8889"/>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5" name="Text 3"/>
          <p:cNvSpPr txBox="1"/>
          <p:nvPr/>
        </p:nvSpPr>
        <p:spPr>
          <a:xfrm>
            <a:off x="548640" y="1417320"/>
            <a:ext cx="1234440" cy="731520"/>
          </a:xfrm>
          <a:prstGeom prst="rect">
            <a:avLst/>
          </a:prstGeom>
          <a:noFill/>
          <a:ln/>
        </p:spPr>
        <p:txBody>
          <a:bodyPr wrap="square" lIns="0" tIns="0" rIns="0" bIns="0" rtlCol="0" anchor="ctr"/>
          <a:lstStyle/>
          <a:p>
            <a:pPr algn="ctr" indent="0" marL="0">
              <a:buNone/>
            </a:pPr>
            <a:r>
              <a:rPr lang="en-US" sz="3800" b="1" dirty="0">
                <a:solidFill>
                  <a:srgbClr val="0E8A7D"/>
                </a:solidFill>
                <a:latin typeface="Cambria" pitchFamily="34" charset="0"/>
                <a:ea typeface="Cambria" pitchFamily="34" charset="-122"/>
                <a:cs typeface="Cambria" pitchFamily="34" charset="-120"/>
              </a:rPr>
              <a:t>+10</a:t>
            </a:r>
            <a:endParaRPr lang="en-US" sz="3800" dirty="0"/>
          </a:p>
        </p:txBody>
      </p:sp>
      <p:sp>
        <p:nvSpPr>
          <p:cNvPr id="6" name="Text 4"/>
          <p:cNvSpPr txBox="1"/>
          <p:nvPr/>
        </p:nvSpPr>
        <p:spPr>
          <a:xfrm>
            <a:off x="640080" y="2194560"/>
            <a:ext cx="1051560" cy="82296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Trả lời đúng được cộng điểm</a:t>
            </a:r>
            <a:endParaRPr lang="en-US" sz="1100" dirty="0"/>
          </a:p>
        </p:txBody>
      </p:sp>
      <p:sp>
        <p:nvSpPr>
          <p:cNvPr id="7" name="Shape 5"/>
          <p:cNvSpPr/>
          <p:nvPr/>
        </p:nvSpPr>
        <p:spPr>
          <a:xfrm>
            <a:off x="1920240" y="1325880"/>
            <a:ext cx="1234440" cy="1737360"/>
          </a:xfrm>
          <a:prstGeom prst="roundRect">
            <a:avLst>
              <a:gd name="adj" fmla="val 8889"/>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8" name="Text 6"/>
          <p:cNvSpPr txBox="1"/>
          <p:nvPr/>
        </p:nvSpPr>
        <p:spPr>
          <a:xfrm>
            <a:off x="1920240" y="1417320"/>
            <a:ext cx="1234440" cy="731520"/>
          </a:xfrm>
          <a:prstGeom prst="rect">
            <a:avLst/>
          </a:prstGeom>
          <a:noFill/>
          <a:ln/>
        </p:spPr>
        <p:txBody>
          <a:bodyPr wrap="square" lIns="0" tIns="0" rIns="0" bIns="0" rtlCol="0" anchor="ctr"/>
          <a:lstStyle/>
          <a:p>
            <a:pPr algn="ctr" indent="0" marL="0">
              <a:buNone/>
            </a:pPr>
            <a:r>
              <a:rPr lang="en-US" sz="3800" b="1" dirty="0">
                <a:solidFill>
                  <a:srgbClr val="5B6678"/>
                </a:solidFill>
                <a:latin typeface="Cambria" pitchFamily="34" charset="0"/>
                <a:ea typeface="Cambria" pitchFamily="34" charset="-122"/>
                <a:cs typeface="Cambria" pitchFamily="34" charset="-120"/>
              </a:rPr>
              <a:t>−5</a:t>
            </a:r>
            <a:endParaRPr lang="en-US" sz="3800" dirty="0"/>
          </a:p>
        </p:txBody>
      </p:sp>
      <p:sp>
        <p:nvSpPr>
          <p:cNvPr id="9" name="Text 7"/>
          <p:cNvSpPr txBox="1"/>
          <p:nvPr/>
        </p:nvSpPr>
        <p:spPr>
          <a:xfrm>
            <a:off x="2011680" y="2194560"/>
            <a:ext cx="1051560" cy="82296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Trả lời sai trừ nhẹ, hiển thị trung tính</a:t>
            </a:r>
            <a:endParaRPr lang="en-US" sz="1100" dirty="0"/>
          </a:p>
        </p:txBody>
      </p:sp>
      <p:sp>
        <p:nvSpPr>
          <p:cNvPr id="10" name="Shape 8"/>
          <p:cNvSpPr/>
          <p:nvPr/>
        </p:nvSpPr>
        <p:spPr>
          <a:xfrm>
            <a:off x="3291840" y="1325880"/>
            <a:ext cx="1234440" cy="1737360"/>
          </a:xfrm>
          <a:prstGeom prst="roundRect">
            <a:avLst>
              <a:gd name="adj" fmla="val 8889"/>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1" name="Text 9"/>
          <p:cNvSpPr txBox="1"/>
          <p:nvPr/>
        </p:nvSpPr>
        <p:spPr>
          <a:xfrm>
            <a:off x="3291840" y="1417320"/>
            <a:ext cx="1234440" cy="731520"/>
          </a:xfrm>
          <a:prstGeom prst="rect">
            <a:avLst/>
          </a:prstGeom>
          <a:noFill/>
          <a:ln/>
        </p:spPr>
        <p:txBody>
          <a:bodyPr wrap="square" lIns="0" tIns="0" rIns="0" bIns="0" rtlCol="0" anchor="ctr"/>
          <a:lstStyle/>
          <a:p>
            <a:pPr algn="ctr" indent="0" marL="0">
              <a:buNone/>
            </a:pPr>
            <a:r>
              <a:rPr lang="en-US" sz="3800" b="1" dirty="0">
                <a:solidFill>
                  <a:srgbClr val="C9A24A"/>
                </a:solidFill>
                <a:latin typeface="Cambria" pitchFamily="34" charset="0"/>
                <a:ea typeface="Cambria" pitchFamily="34" charset="-122"/>
                <a:cs typeface="Cambria" pitchFamily="34" charset="-120"/>
              </a:rPr>
              <a:t>0</a:t>
            </a:r>
            <a:endParaRPr lang="en-US" sz="3800" dirty="0"/>
          </a:p>
        </p:txBody>
      </p:sp>
      <p:sp>
        <p:nvSpPr>
          <p:cNvPr id="12" name="Text 10"/>
          <p:cNvSpPr txBox="1"/>
          <p:nvPr/>
        </p:nvSpPr>
        <p:spPr>
          <a:xfrm>
            <a:off x="3383280" y="2194560"/>
            <a:ext cx="1051560" cy="82296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Số điểm không bao giờ xuống dưới 0</a:t>
            </a:r>
            <a:endParaRPr lang="en-US" sz="1100" dirty="0"/>
          </a:p>
        </p:txBody>
      </p:sp>
      <p:pic>
        <p:nvPicPr>
          <p:cNvPr id="13" name="Image 0" descr="Ô điểm thưởng">    </p:cNvPr>
          <p:cNvPicPr>
            <a:picLocks noChangeAspect="1"/>
          </p:cNvPicPr>
          <p:nvPr/>
        </p:nvPicPr>
        <p:blipFill>
          <a:blip r:embed="rId1"/>
          <a:stretch>
            <a:fillRect/>
          </a:stretch>
        </p:blipFill>
        <p:spPr>
          <a:xfrm>
            <a:off x="4800600" y="1417320"/>
            <a:ext cx="3886200" cy="1545336"/>
          </a:xfrm>
          <a:prstGeom prst="rect">
            <a:avLst/>
          </a:prstGeom>
        </p:spPr>
      </p:pic>
      <p:sp>
        <p:nvSpPr>
          <p:cNvPr id="14" name="Text 11"/>
          <p:cNvSpPr txBox="1"/>
          <p:nvPr/>
        </p:nvSpPr>
        <p:spPr>
          <a:xfrm>
            <a:off x="4800600" y="3090672"/>
            <a:ext cx="3840480" cy="219456"/>
          </a:xfrm>
          <a:prstGeom prst="rect">
            <a:avLst/>
          </a:prstGeom>
          <a:noFill/>
          <a:ln/>
        </p:spPr>
        <p:txBody>
          <a:bodyPr wrap="square" lIns="0" tIns="0" rIns="0" bIns="0" rtlCol="0" anchor="ctr"/>
          <a:lstStyle/>
          <a:p>
            <a:pPr algn="l" indent="0" marL="0">
              <a:buNone/>
            </a:pPr>
            <a:r>
              <a:rPr lang="en-US" sz="1000" i="1" dirty="0">
                <a:solidFill>
                  <a:srgbClr val="566175"/>
                </a:solidFill>
                <a:latin typeface="Calibri" pitchFamily="34" charset="0"/>
                <a:ea typeface="Calibri" pitchFamily="34" charset="-122"/>
                <a:cs typeface="Calibri" pitchFamily="34" charset="-120"/>
              </a:rPr>
              <a:t>Ô điểm thưởng — số điểm minh họa</a:t>
            </a:r>
            <a:endParaRPr lang="en-US" sz="1000" dirty="0"/>
          </a:p>
        </p:txBody>
      </p:sp>
      <p:sp>
        <p:nvSpPr>
          <p:cNvPr id="15" name="Shape 12"/>
          <p:cNvSpPr/>
          <p:nvPr/>
        </p:nvSpPr>
        <p:spPr>
          <a:xfrm>
            <a:off x="548640" y="3383280"/>
            <a:ext cx="8138160" cy="1143000"/>
          </a:xfrm>
          <a:prstGeom prst="roundRect">
            <a:avLst>
              <a:gd name="adj" fmla="val 9600"/>
            </a:avLst>
          </a:prstGeom>
          <a:solidFill>
            <a:srgbClr val="F5EBCF"/>
          </a:solidFill>
          <a:ln/>
        </p:spPr>
      </p:sp>
      <p:sp>
        <p:nvSpPr>
          <p:cNvPr id="16" name="Text 13"/>
          <p:cNvSpPr txBox="1"/>
          <p:nvPr/>
        </p:nvSpPr>
        <p:spPr>
          <a:xfrm>
            <a:off x="777240" y="3456432"/>
            <a:ext cx="7680960" cy="1005840"/>
          </a:xfrm>
          <a:prstGeom prst="rect">
            <a:avLst/>
          </a:prstGeom>
          <a:noFill/>
          <a:ln/>
        </p:spPr>
        <p:txBody>
          <a:bodyPr wrap="square" lIns="0" tIns="0" rIns="0" bIns="0" rtlCol="0" anchor="ctr"/>
          <a:lstStyle/>
          <a:p>
            <a:pPr indent="0" marL="0">
              <a:buNone/>
            </a:pPr>
            <a:r>
              <a:rPr lang="en-US" sz="1400" b="1" dirty="0">
                <a:solidFill>
                  <a:srgbClr val="0F2447"/>
                </a:solidFill>
                <a:latin typeface="Calibri" pitchFamily="34" charset="0"/>
                <a:ea typeface="Calibri" pitchFamily="34" charset="-122"/>
                <a:cs typeface="Calibri" pitchFamily="34" charset="-120"/>
              </a:rPr>
              <a:t>Đây là điểm khuyến khích, </a:t>
            </a:r>
            <a:pPr indent="0" marL="0">
              <a:buNone/>
            </a:pPr>
            <a:r>
              <a:rPr lang="en-US" sz="1400" dirty="0">
                <a:solidFill>
                  <a:srgbClr val="1F2A3C"/>
                </a:solidFill>
                <a:latin typeface="Calibri" pitchFamily="34" charset="0"/>
                <a:ea typeface="Calibri" pitchFamily="34" charset="-122"/>
                <a:cs typeface="Calibri" pitchFamily="34" charset="-120"/>
              </a:rPr>
              <a:t>không phải điểm kiểm tra và không dùng để đánh giá năng lực học sinh. Điểm giúp mở dần các khu vực khám phá: cứ mỗi 30 điểm tích lũy, một mốc mới của bản đồ được mở.</a:t>
            </a:r>
            <a:endParaRPr lang="en-US" sz="14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KHÁM PHÁ</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Bản đồ thế giới kỳ diệu</a:t>
            </a:r>
            <a:endParaRPr lang="en-US" sz="3000" dirty="0"/>
          </a:p>
        </p:txBody>
      </p:sp>
      <p:pic>
        <p:nvPicPr>
          <p:cNvPr id="4" name="Image 0" descr="Bản đồ thế giới phiêu lưu">    </p:cNvPr>
          <p:cNvPicPr>
            <a:picLocks noChangeAspect="1"/>
          </p:cNvPicPr>
          <p:nvPr/>
        </p:nvPicPr>
        <p:blipFill>
          <a:blip r:embed="rId1"/>
          <a:stretch>
            <a:fillRect/>
          </a:stretch>
        </p:blipFill>
        <p:spPr>
          <a:xfrm>
            <a:off x="548640" y="1280160"/>
            <a:ext cx="5212080" cy="3163824"/>
          </a:xfrm>
          <a:prstGeom prst="rect">
            <a:avLst/>
          </a:prstGeom>
        </p:spPr>
      </p:pic>
      <p:sp>
        <p:nvSpPr>
          <p:cNvPr id="5" name="Shape 2"/>
          <p:cNvSpPr/>
          <p:nvPr/>
        </p:nvSpPr>
        <p:spPr>
          <a:xfrm>
            <a:off x="6035040" y="1325880"/>
            <a:ext cx="2139696" cy="256032"/>
          </a:xfrm>
          <a:prstGeom prst="roundRect">
            <a:avLst>
              <a:gd name="adj" fmla="val 50000"/>
            </a:avLst>
          </a:prstGeom>
          <a:solidFill>
            <a:srgbClr val="FFFFFF"/>
          </a:solidFill>
          <a:ln w="15875">
            <a:solidFill>
              <a:srgbClr val="0E8A7D"/>
            </a:solidFill>
            <a:prstDash val="solid"/>
          </a:ln>
        </p:spPr>
      </p:sp>
      <p:sp>
        <p:nvSpPr>
          <p:cNvPr id="6" name="Text 3"/>
          <p:cNvSpPr txBox="1"/>
          <p:nvPr/>
        </p:nvSpPr>
        <p:spPr>
          <a:xfrm>
            <a:off x="6035040" y="1325880"/>
            <a:ext cx="2139696" cy="256032"/>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 · DỮ LIỆU MINH HỌA</a:t>
            </a:r>
            <a:endParaRPr lang="en-US" sz="1000" dirty="0"/>
          </a:p>
        </p:txBody>
      </p:sp>
      <p:sp>
        <p:nvSpPr>
          <p:cNvPr id="7" name="Text 4"/>
          <p:cNvSpPr txBox="1"/>
          <p:nvPr/>
        </p:nvSpPr>
        <p:spPr>
          <a:xfrm>
            <a:off x="6035040" y="1783080"/>
            <a:ext cx="2651760" cy="219456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F2A3C"/>
                </a:solidFill>
                <a:latin typeface="Calibri" pitchFamily="34" charset="0"/>
                <a:ea typeface="Calibri" pitchFamily="34" charset="-122"/>
                <a:cs typeface="Calibri" pitchFamily="34" charset="-120"/>
              </a:rPr>
              <a:t>Bốn khu vực: Mê cung kho báu, Rừng chữ kỳ diệu, Đảo dấu thanh, Lâu đài ghép vần.</a:t>
            </a:r>
            <a:endParaRPr lang="en-US" sz="1400" dirty="0"/>
          </a:p>
          <a:p>
            <a:pPr marL="203200" indent="-203200">
              <a:spcAft>
                <a:spcPts val="1000"/>
              </a:spcAft>
              <a:buSzPct val="100000"/>
              <a:buChar char="•"/>
            </a:pPr>
            <a:r>
              <a:rPr lang="en-US" sz="1400" dirty="0">
                <a:solidFill>
                  <a:srgbClr val="1F2A3C"/>
                </a:solidFill>
                <a:latin typeface="Calibri" pitchFamily="34" charset="0"/>
                <a:ea typeface="Calibri" pitchFamily="34" charset="-122"/>
                <a:cs typeface="Calibri" pitchFamily="34" charset="-120"/>
              </a:rPr>
              <a:t>Luyện tập giúp mở thêm những trải nghiệm mới.</a:t>
            </a:r>
            <a:endParaRPr lang="en-US" sz="1400" dirty="0"/>
          </a:p>
          <a:p>
            <a:pPr marL="203200" indent="-203200">
              <a:spcAft>
                <a:spcPts val="1000"/>
              </a:spcAft>
              <a:buSzPct val="100000"/>
              <a:buChar char="•"/>
            </a:pPr>
            <a:r>
              <a:rPr lang="en-US" sz="1400" dirty="0">
                <a:solidFill>
                  <a:srgbClr val="1F2A3C"/>
                </a:solidFill>
                <a:latin typeface="Calibri" pitchFamily="34" charset="0"/>
                <a:ea typeface="Calibri" pitchFamily="34" charset="-122"/>
                <a:cs typeface="Calibri" pitchFamily="34" charset="-120"/>
              </a:rPr>
              <a:t>Hiện chỉ Mê cung đang được xây dựng.</a:t>
            </a:r>
            <a:endParaRPr lang="en-US" sz="1400" dirty="0"/>
          </a:p>
          <a:p>
            <a:pPr marL="203200" indent="-203200">
              <a:spcAft>
                <a:spcPts val="1000"/>
              </a:spcAft>
              <a:buSzPct val="100000"/>
              <a:buChar char="•"/>
            </a:pPr>
            <a:r>
              <a:rPr lang="en-US" sz="1400" dirty="0">
                <a:solidFill>
                  <a:srgbClr val="1F2A3C"/>
                </a:solidFill>
                <a:latin typeface="Calibri" pitchFamily="34" charset="0"/>
                <a:ea typeface="Calibri" pitchFamily="34" charset="-122"/>
                <a:cs typeface="Calibri" pitchFamily="34" charset="-120"/>
              </a:rPr>
              <a:t>Trẻ nhìn thấy hành trình của mình qua hình ảnh, không chỉ qua con số.</a:t>
            </a:r>
            <a:endParaRPr lang="en-US" sz="1400" dirty="0"/>
          </a:p>
        </p:txBody>
      </p:sp>
      <p:sp>
        <p:nvSpPr>
          <p:cNvPr id="8" name="Text 5"/>
          <p:cNvSpPr txBox="1"/>
          <p:nvPr/>
        </p:nvSpPr>
        <p:spPr>
          <a:xfrm>
            <a:off x="548640" y="4480560"/>
            <a:ext cx="3657600" cy="219456"/>
          </a:xfrm>
          <a:prstGeom prst="rect">
            <a:avLst/>
          </a:prstGeom>
          <a:noFill/>
          <a:ln/>
        </p:spPr>
        <p:txBody>
          <a:bodyPr wrap="square" lIns="0" tIns="0" rIns="0" bIns="0" rtlCol="0" anchor="ctr"/>
          <a:lstStyle/>
          <a:p>
            <a:pPr algn="l" indent="0" marL="0">
              <a:buNone/>
            </a:pPr>
            <a:r>
              <a:rPr lang="en-US" sz="1000" i="1" dirty="0">
                <a:solidFill>
                  <a:srgbClr val="566175"/>
                </a:solidFill>
                <a:latin typeface="Calibri" pitchFamily="34" charset="0"/>
                <a:ea typeface="Calibri" pitchFamily="34" charset="-122"/>
                <a:cs typeface="Calibri" pitchFamily="34" charset="-120"/>
              </a:rPr>
              <a:t>Ảnh chụp bản chơi thử</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TRÒ CHƠI</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Mê cung kho báu</a:t>
            </a:r>
            <a:endParaRPr lang="en-US" sz="3000" dirty="0"/>
          </a:p>
        </p:txBody>
      </p:sp>
      <p:pic>
        <p:nvPicPr>
          <p:cNvPr id="4" name="Image 0" descr="Bàn Mê cung kho báu">    </p:cNvPr>
          <p:cNvPicPr>
            <a:picLocks noChangeAspect="1"/>
          </p:cNvPicPr>
          <p:nvPr/>
        </p:nvPicPr>
        <p:blipFill>
          <a:blip r:embed="rId1"/>
          <a:stretch>
            <a:fillRect/>
          </a:stretch>
        </p:blipFill>
        <p:spPr>
          <a:xfrm>
            <a:off x="548640" y="1280160"/>
            <a:ext cx="3474720" cy="3474720"/>
          </a:xfrm>
          <a:prstGeom prst="rect">
            <a:avLst/>
          </a:prstGeom>
        </p:spPr>
      </p:pic>
      <p:sp>
        <p:nvSpPr>
          <p:cNvPr id="5" name="Shape 2"/>
          <p:cNvSpPr/>
          <p:nvPr/>
        </p:nvSpPr>
        <p:spPr>
          <a:xfrm>
            <a:off x="4389120" y="1325880"/>
            <a:ext cx="1207008" cy="256032"/>
          </a:xfrm>
          <a:prstGeom prst="roundRect">
            <a:avLst>
              <a:gd name="adj" fmla="val 50000"/>
            </a:avLst>
          </a:prstGeom>
          <a:solidFill>
            <a:srgbClr val="FFFFFF"/>
          </a:solidFill>
          <a:ln w="15875">
            <a:solidFill>
              <a:srgbClr val="9A7416"/>
            </a:solidFill>
            <a:prstDash val="solid"/>
          </a:ln>
        </p:spPr>
      </p:sp>
      <p:sp>
        <p:nvSpPr>
          <p:cNvPr id="6" name="Text 3"/>
          <p:cNvSpPr txBox="1"/>
          <p:nvPr/>
        </p:nvSpPr>
        <p:spPr>
          <a:xfrm>
            <a:off x="4389120" y="1325880"/>
            <a:ext cx="1207008" cy="256032"/>
          </a:xfrm>
          <a:prstGeom prst="rect">
            <a:avLst/>
          </a:prstGeom>
          <a:noFill/>
          <a:ln/>
        </p:spPr>
        <p:txBody>
          <a:bodyPr wrap="square" lIns="0" tIns="0" rIns="0" bIns="0" rtlCol="0" anchor="ctr"/>
          <a:lstStyle/>
          <a:p>
            <a:pPr algn="ctr" indent="0" marL="0">
              <a:buNone/>
            </a:pPr>
            <a:r>
              <a:rPr lang="en-US" sz="1000" b="1" dirty="0">
                <a:solidFill>
                  <a:srgbClr val="9A7416"/>
                </a:solidFill>
                <a:latin typeface="Calibri" pitchFamily="34" charset="0"/>
                <a:ea typeface="Calibri" pitchFamily="34" charset="-122"/>
                <a:cs typeface="Calibri" pitchFamily="34" charset="-120"/>
              </a:rPr>
              <a:t>BẢN CHƠI THỬ</a:t>
            </a:r>
            <a:endParaRPr lang="en-US" sz="1000" dirty="0"/>
          </a:p>
        </p:txBody>
      </p:sp>
      <p:sp>
        <p:nvSpPr>
          <p:cNvPr id="7" name="Shape 4"/>
          <p:cNvSpPr/>
          <p:nvPr/>
        </p:nvSpPr>
        <p:spPr>
          <a:xfrm>
            <a:off x="4389120" y="1783080"/>
            <a:ext cx="329184" cy="329184"/>
          </a:xfrm>
          <a:prstGeom prst="ellipse">
            <a:avLst/>
          </a:prstGeom>
          <a:solidFill>
            <a:srgbClr val="0E8A7D"/>
          </a:solidFill>
          <a:ln/>
        </p:spPr>
      </p:sp>
      <p:sp>
        <p:nvSpPr>
          <p:cNvPr id="8" name="Text 5"/>
          <p:cNvSpPr txBox="1"/>
          <p:nvPr/>
        </p:nvSpPr>
        <p:spPr>
          <a:xfrm>
            <a:off x="4389120" y="178308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4864608" y="1746504"/>
            <a:ext cx="3749040" cy="274320"/>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Điều khiển nhân vật</a:t>
            </a:r>
            <a:endParaRPr lang="en-US" sz="1500" dirty="0"/>
          </a:p>
        </p:txBody>
      </p:sp>
      <p:sp>
        <p:nvSpPr>
          <p:cNvPr id="10" name="Text 7"/>
          <p:cNvSpPr txBox="1"/>
          <p:nvPr/>
        </p:nvSpPr>
        <p:spPr>
          <a:xfrm>
            <a:off x="4864608" y="2029968"/>
            <a:ext cx="3749040" cy="274320"/>
          </a:xfrm>
          <a:prstGeom prst="rect">
            <a:avLst/>
          </a:prstGeom>
          <a:noFill/>
          <a:ln/>
        </p:spPr>
        <p:txBody>
          <a:bodyPr wrap="square" lIns="0" tIns="0" rIns="0" bIns="0" rtlCol="0" anchor="ctr"/>
          <a:lstStyle/>
          <a:p>
            <a:pPr indent="0" marL="0">
              <a:buNone/>
            </a:pPr>
            <a:r>
              <a:rPr lang="en-US" sz="1300" dirty="0">
                <a:solidFill>
                  <a:srgbClr val="566175"/>
                </a:solidFill>
                <a:latin typeface="Calibri" pitchFamily="34" charset="0"/>
                <a:ea typeface="Calibri" pitchFamily="34" charset="-122"/>
                <a:cs typeface="Calibri" pitchFamily="34" charset="-120"/>
              </a:rPr>
              <a:t>Bạn nhỏ thám hiểm đi từng ô trong mê cung.</a:t>
            </a:r>
            <a:endParaRPr lang="en-US" sz="1300" dirty="0"/>
          </a:p>
        </p:txBody>
      </p:sp>
      <p:sp>
        <p:nvSpPr>
          <p:cNvPr id="11" name="Shape 8"/>
          <p:cNvSpPr/>
          <p:nvPr/>
        </p:nvSpPr>
        <p:spPr>
          <a:xfrm>
            <a:off x="4389120" y="2496312"/>
            <a:ext cx="329184" cy="329184"/>
          </a:xfrm>
          <a:prstGeom prst="ellipse">
            <a:avLst/>
          </a:prstGeom>
          <a:solidFill>
            <a:srgbClr val="0E8A7D"/>
          </a:solidFill>
          <a:ln/>
        </p:spPr>
      </p:sp>
      <p:sp>
        <p:nvSpPr>
          <p:cNvPr id="12" name="Text 9"/>
          <p:cNvSpPr txBox="1"/>
          <p:nvPr/>
        </p:nvSpPr>
        <p:spPr>
          <a:xfrm>
            <a:off x="4389120" y="2496312"/>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4864608" y="2459736"/>
            <a:ext cx="3749040" cy="274320"/>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Tìm đường và khám phá</a:t>
            </a:r>
            <a:endParaRPr lang="en-US" sz="1500" dirty="0"/>
          </a:p>
        </p:txBody>
      </p:sp>
      <p:sp>
        <p:nvSpPr>
          <p:cNvPr id="14" name="Text 11"/>
          <p:cNvSpPr txBox="1"/>
          <p:nvPr/>
        </p:nvSpPr>
        <p:spPr>
          <a:xfrm>
            <a:off x="4864608" y="2743200"/>
            <a:ext cx="3749040" cy="274320"/>
          </a:xfrm>
          <a:prstGeom prst="rect">
            <a:avLst/>
          </a:prstGeom>
          <a:noFill/>
          <a:ln/>
        </p:spPr>
        <p:txBody>
          <a:bodyPr wrap="square" lIns="0" tIns="0" rIns="0" bIns="0" rtlCol="0" anchor="ctr"/>
          <a:lstStyle/>
          <a:p>
            <a:pPr indent="0" marL="0">
              <a:buNone/>
            </a:pPr>
            <a:r>
              <a:rPr lang="en-US" sz="1300" dirty="0">
                <a:solidFill>
                  <a:srgbClr val="566175"/>
                </a:solidFill>
                <a:latin typeface="Calibri" pitchFamily="34" charset="0"/>
                <a:ea typeface="Calibri" pitchFamily="34" charset="-122"/>
                <a:cs typeface="Calibri" pitchFamily="34" charset="-120"/>
              </a:rPr>
              <a:t>Ba màn chơi với độ khó tăng dần.</a:t>
            </a:r>
            <a:endParaRPr lang="en-US" sz="1300" dirty="0"/>
          </a:p>
        </p:txBody>
      </p:sp>
      <p:sp>
        <p:nvSpPr>
          <p:cNvPr id="15" name="Shape 12"/>
          <p:cNvSpPr/>
          <p:nvPr/>
        </p:nvSpPr>
        <p:spPr>
          <a:xfrm>
            <a:off x="4389120" y="3209544"/>
            <a:ext cx="329184" cy="329184"/>
          </a:xfrm>
          <a:prstGeom prst="ellipse">
            <a:avLst/>
          </a:prstGeom>
          <a:solidFill>
            <a:srgbClr val="0E8A7D"/>
          </a:solidFill>
          <a:ln/>
        </p:spPr>
      </p:sp>
      <p:sp>
        <p:nvSpPr>
          <p:cNvPr id="16" name="Text 13"/>
          <p:cNvSpPr txBox="1"/>
          <p:nvPr/>
        </p:nvSpPr>
        <p:spPr>
          <a:xfrm>
            <a:off x="4389120" y="3209544"/>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txBox="1"/>
          <p:nvPr/>
        </p:nvSpPr>
        <p:spPr>
          <a:xfrm>
            <a:off x="4864608" y="3172968"/>
            <a:ext cx="3749040" cy="274320"/>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Gặp các điểm thử thách</a:t>
            </a:r>
            <a:endParaRPr lang="en-US" sz="1500" dirty="0"/>
          </a:p>
        </p:txBody>
      </p:sp>
      <p:sp>
        <p:nvSpPr>
          <p:cNvPr id="18" name="Text 15"/>
          <p:cNvSpPr txBox="1"/>
          <p:nvPr/>
        </p:nvSpPr>
        <p:spPr>
          <a:xfrm>
            <a:off x="4864608" y="3456432"/>
            <a:ext cx="3749040" cy="274320"/>
          </a:xfrm>
          <a:prstGeom prst="rect">
            <a:avLst/>
          </a:prstGeom>
          <a:noFill/>
          <a:ln/>
        </p:spPr>
        <p:txBody>
          <a:bodyPr wrap="square" lIns="0" tIns="0" rIns="0" bIns="0" rtlCol="0" anchor="ctr"/>
          <a:lstStyle/>
          <a:p>
            <a:pPr indent="0" marL="0">
              <a:buNone/>
            </a:pPr>
            <a:r>
              <a:rPr lang="en-US" sz="1300" dirty="0">
                <a:solidFill>
                  <a:srgbClr val="566175"/>
                </a:solidFill>
                <a:latin typeface="Calibri" pitchFamily="34" charset="0"/>
                <a:ea typeface="Calibri" pitchFamily="34" charset="-122"/>
                <a:cs typeface="Calibri" pitchFamily="34" charset="-120"/>
              </a:rPr>
              <a:t>Mỗi màn có 7 điểm thử thách trên đường.</a:t>
            </a:r>
            <a:endParaRPr lang="en-US" sz="1300" dirty="0"/>
          </a:p>
        </p:txBody>
      </p:sp>
      <p:sp>
        <p:nvSpPr>
          <p:cNvPr id="19" name="Shape 16"/>
          <p:cNvSpPr/>
          <p:nvPr/>
        </p:nvSpPr>
        <p:spPr>
          <a:xfrm>
            <a:off x="4389120" y="3922776"/>
            <a:ext cx="329184" cy="329184"/>
          </a:xfrm>
          <a:prstGeom prst="ellipse">
            <a:avLst/>
          </a:prstGeom>
          <a:solidFill>
            <a:srgbClr val="C9A24A"/>
          </a:solidFill>
          <a:ln/>
        </p:spPr>
      </p:sp>
      <p:sp>
        <p:nvSpPr>
          <p:cNvPr id="20" name="Text 17"/>
          <p:cNvSpPr txBox="1"/>
          <p:nvPr/>
        </p:nvSpPr>
        <p:spPr>
          <a:xfrm>
            <a:off x="4389120" y="392277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8"/>
          <p:cNvSpPr txBox="1"/>
          <p:nvPr/>
        </p:nvSpPr>
        <p:spPr>
          <a:xfrm>
            <a:off x="4864608" y="3886200"/>
            <a:ext cx="3749040" cy="274320"/>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Hướng tới kho báu</a:t>
            </a:r>
            <a:endParaRPr lang="en-US" sz="1500" dirty="0"/>
          </a:p>
        </p:txBody>
      </p:sp>
      <p:sp>
        <p:nvSpPr>
          <p:cNvPr id="22" name="Text 19"/>
          <p:cNvSpPr txBox="1"/>
          <p:nvPr/>
        </p:nvSpPr>
        <p:spPr>
          <a:xfrm>
            <a:off x="4864608" y="4169664"/>
            <a:ext cx="3749040" cy="274320"/>
          </a:xfrm>
          <a:prstGeom prst="rect">
            <a:avLst/>
          </a:prstGeom>
          <a:noFill/>
          <a:ln/>
        </p:spPr>
        <p:txBody>
          <a:bodyPr wrap="square" lIns="0" tIns="0" rIns="0" bIns="0" rtlCol="0" anchor="ctr"/>
          <a:lstStyle/>
          <a:p>
            <a:pPr indent="0" marL="0">
              <a:buNone/>
            </a:pPr>
            <a:r>
              <a:rPr lang="en-US" sz="1300" dirty="0">
                <a:solidFill>
                  <a:srgbClr val="566175"/>
                </a:solidFill>
                <a:latin typeface="Calibri" pitchFamily="34" charset="0"/>
                <a:ea typeface="Calibri" pitchFamily="34" charset="-122"/>
                <a:cs typeface="Calibri" pitchFamily="34" charset="-120"/>
              </a:rPr>
              <a:t>Rương kho báu nằm ở cuối màn.</a:t>
            </a:r>
            <a:endParaRPr lang="en-US" sz="1300" dirty="0"/>
          </a:p>
        </p:txBody>
      </p:sp>
      <p:sp>
        <p:nvSpPr>
          <p:cNvPr id="23" name="Text 20"/>
          <p:cNvSpPr txBox="1"/>
          <p:nvPr/>
        </p:nvSpPr>
        <p:spPr>
          <a:xfrm>
            <a:off x="4389120" y="4572000"/>
            <a:ext cx="4297680" cy="219456"/>
          </a:xfrm>
          <a:prstGeom prst="rect">
            <a:avLst/>
          </a:prstGeom>
          <a:noFill/>
          <a:ln/>
        </p:spPr>
        <p:txBody>
          <a:bodyPr wrap="square" lIns="0" tIns="0" rIns="0" bIns="0" rtlCol="0" anchor="ctr"/>
          <a:lstStyle/>
          <a:p>
            <a:pPr algn="l" indent="0" marL="0">
              <a:buNone/>
            </a:pPr>
            <a:r>
              <a:rPr lang="en-US" sz="1000" i="1" dirty="0">
                <a:solidFill>
                  <a:srgbClr val="566175"/>
                </a:solidFill>
                <a:latin typeface="Calibri" pitchFamily="34" charset="0"/>
                <a:ea typeface="Calibri" pitchFamily="34" charset="-122"/>
                <a:cs typeface="Calibri" pitchFamily="34" charset="-120"/>
              </a:rPr>
              <a:t>Ảnh chụp bản chơi thử: chưa có câu hỏi, chưa tính điểm.</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HƯỚNG DẪN CHƠI</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Điều khiển Mê cung thật dễ</a:t>
            </a:r>
            <a:endParaRPr lang="en-US" sz="3000" dirty="0"/>
          </a:p>
        </p:txBody>
      </p:sp>
      <p:sp>
        <p:nvSpPr>
          <p:cNvPr id="4" name="Shape 2"/>
          <p:cNvSpPr/>
          <p:nvPr/>
        </p:nvSpPr>
        <p:spPr>
          <a:xfrm>
            <a:off x="685800" y="1188720"/>
            <a:ext cx="1714500" cy="3429000"/>
          </a:xfrm>
          <a:prstGeom prst="roundRect">
            <a:avLst>
              <a:gd name="adj" fmla="val 11733"/>
            </a:avLst>
          </a:prstGeom>
          <a:solidFill>
            <a:srgbClr val="0F2447"/>
          </a:solidFill>
          <a:ln/>
          <a:effectLst>
            <a:outerShdw sx="100000" sy="100000" kx="0" ky="0" algn="bl" rotWithShape="0" blurRad="101600" dist="25400" dir="5400000">
              <a:srgbClr val="1F2A3C">
                <a:alpha val="14000"/>
              </a:srgbClr>
            </a:outerShdw>
          </a:effectLst>
        </p:spPr>
      </p:sp>
      <p:pic>
        <p:nvPicPr>
          <p:cNvPr id="5" name="Image 0" descr="Màn hình bản chơi thử trên điện thoại">    </p:cNvPr>
          <p:cNvPicPr>
            <a:picLocks noChangeAspect="1"/>
          </p:cNvPicPr>
          <p:nvPr/>
        </p:nvPicPr>
        <p:blipFill>
          <a:blip r:embed="rId1"/>
          <a:stretch>
            <a:fillRect/>
          </a:stretch>
        </p:blipFill>
        <p:spPr>
          <a:xfrm>
            <a:off x="740664" y="1243584"/>
            <a:ext cx="1604772" cy="3319272"/>
          </a:xfrm>
          <a:prstGeom prst="rect">
            <a:avLst/>
          </a:prstGeom>
        </p:spPr>
      </p:pic>
      <p:sp>
        <p:nvSpPr>
          <p:cNvPr id="6" name="Text 3"/>
          <p:cNvSpPr txBox="1"/>
          <p:nvPr/>
        </p:nvSpPr>
        <p:spPr>
          <a:xfrm>
            <a:off x="2697480" y="1280160"/>
            <a:ext cx="2011680" cy="292608"/>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Trên điện thoại</a:t>
            </a:r>
            <a:endParaRPr lang="en-US" sz="1500" dirty="0"/>
          </a:p>
        </p:txBody>
      </p:sp>
      <p:sp>
        <p:nvSpPr>
          <p:cNvPr id="7" name="Text 4"/>
          <p:cNvSpPr txBox="1"/>
          <p:nvPr/>
        </p:nvSpPr>
        <p:spPr>
          <a:xfrm>
            <a:off x="2697480" y="1600200"/>
            <a:ext cx="1828800" cy="82296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Chạm một lần để đi một ô; giữ nút để đi tiếp.</a:t>
            </a:r>
            <a:endParaRPr lang="en-US" sz="1200" dirty="0"/>
          </a:p>
        </p:txBody>
      </p:sp>
      <p:sp>
        <p:nvSpPr>
          <p:cNvPr id="8" name="Text 5"/>
          <p:cNvSpPr txBox="1"/>
          <p:nvPr/>
        </p:nvSpPr>
        <p:spPr>
          <a:xfrm>
            <a:off x="4846320" y="1280160"/>
            <a:ext cx="2011680" cy="292608"/>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Trên máy tính</a:t>
            </a:r>
            <a:endParaRPr lang="en-US" sz="1500" dirty="0"/>
          </a:p>
        </p:txBody>
      </p:sp>
      <p:sp>
        <p:nvSpPr>
          <p:cNvPr id="9" name="Shape 6"/>
          <p:cNvSpPr/>
          <p:nvPr/>
        </p:nvSpPr>
        <p:spPr>
          <a:xfrm>
            <a:off x="5440680" y="1691640"/>
            <a:ext cx="502920" cy="502920"/>
          </a:xfrm>
          <a:prstGeom prst="roundRect">
            <a:avLst>
              <a:gd name="adj" fmla="val 18182"/>
            </a:avLst>
          </a:prstGeom>
          <a:solidFill>
            <a:srgbClr val="FFFFFF"/>
          </a:solidFill>
          <a:ln w="19050">
            <a:solidFill>
              <a:srgbClr val="D9CDB2"/>
            </a:solidFill>
            <a:prstDash val="solid"/>
          </a:ln>
          <a:effectLst>
            <a:outerShdw sx="100000" sy="100000" kx="0" ky="0" algn="bl" rotWithShape="0" blurRad="101600" dist="25400" dir="5400000">
              <a:srgbClr val="1F2A3C">
                <a:alpha val="14000"/>
              </a:srgbClr>
            </a:outerShdw>
          </a:effectLst>
        </p:spPr>
      </p:sp>
      <p:sp>
        <p:nvSpPr>
          <p:cNvPr id="10" name="Text 7"/>
          <p:cNvSpPr txBox="1"/>
          <p:nvPr/>
        </p:nvSpPr>
        <p:spPr>
          <a:xfrm>
            <a:off x="5440680" y="1691640"/>
            <a:ext cx="502920" cy="502920"/>
          </a:xfrm>
          <a:prstGeom prst="rect">
            <a:avLst/>
          </a:prstGeom>
          <a:noFill/>
          <a:ln/>
        </p:spPr>
        <p:txBody>
          <a:bodyPr wrap="square" lIns="0" tIns="0" rIns="0" bIns="0" rtlCol="0" anchor="ctr"/>
          <a:lstStyle/>
          <a:p>
            <a:pPr algn="ctr" indent="0" marL="0">
              <a:buNone/>
            </a:pPr>
            <a:r>
              <a:rPr lang="en-US" sz="1800" b="1" dirty="0">
                <a:solidFill>
                  <a:srgbClr val="0F2447"/>
                </a:solidFill>
                <a:latin typeface="Calibri" pitchFamily="34" charset="0"/>
                <a:ea typeface="Calibri" pitchFamily="34" charset="-122"/>
                <a:cs typeface="Calibri" pitchFamily="34" charset="-120"/>
              </a:rPr>
              <a:t>↑</a:t>
            </a:r>
            <a:endParaRPr lang="en-US" sz="1800" dirty="0"/>
          </a:p>
        </p:txBody>
      </p:sp>
      <p:sp>
        <p:nvSpPr>
          <p:cNvPr id="11" name="Shape 8"/>
          <p:cNvSpPr/>
          <p:nvPr/>
        </p:nvSpPr>
        <p:spPr>
          <a:xfrm>
            <a:off x="4892040" y="2240280"/>
            <a:ext cx="502920" cy="502920"/>
          </a:xfrm>
          <a:prstGeom prst="roundRect">
            <a:avLst>
              <a:gd name="adj" fmla="val 18182"/>
            </a:avLst>
          </a:prstGeom>
          <a:solidFill>
            <a:srgbClr val="FFFFFF"/>
          </a:solidFill>
          <a:ln w="19050">
            <a:solidFill>
              <a:srgbClr val="D9CDB2"/>
            </a:solidFill>
            <a:prstDash val="solid"/>
          </a:ln>
          <a:effectLst>
            <a:outerShdw sx="100000" sy="100000" kx="0" ky="0" algn="bl" rotWithShape="0" blurRad="101600" dist="25400" dir="5400000">
              <a:srgbClr val="1F2A3C">
                <a:alpha val="14000"/>
              </a:srgbClr>
            </a:outerShdw>
          </a:effectLst>
        </p:spPr>
      </p:sp>
      <p:sp>
        <p:nvSpPr>
          <p:cNvPr id="12" name="Text 9"/>
          <p:cNvSpPr txBox="1"/>
          <p:nvPr/>
        </p:nvSpPr>
        <p:spPr>
          <a:xfrm>
            <a:off x="4892040" y="2240280"/>
            <a:ext cx="502920" cy="502920"/>
          </a:xfrm>
          <a:prstGeom prst="rect">
            <a:avLst/>
          </a:prstGeom>
          <a:noFill/>
          <a:ln/>
        </p:spPr>
        <p:txBody>
          <a:bodyPr wrap="square" lIns="0" tIns="0" rIns="0" bIns="0" rtlCol="0" anchor="ctr"/>
          <a:lstStyle/>
          <a:p>
            <a:pPr algn="ctr" indent="0" marL="0">
              <a:buNone/>
            </a:pPr>
            <a:r>
              <a:rPr lang="en-US" sz="1800" b="1" dirty="0">
                <a:solidFill>
                  <a:srgbClr val="0F2447"/>
                </a:solidFill>
                <a:latin typeface="Calibri" pitchFamily="34" charset="0"/>
                <a:ea typeface="Calibri" pitchFamily="34" charset="-122"/>
                <a:cs typeface="Calibri" pitchFamily="34" charset="-120"/>
              </a:rPr>
              <a:t>←</a:t>
            </a:r>
            <a:endParaRPr lang="en-US" sz="1800" dirty="0"/>
          </a:p>
        </p:txBody>
      </p:sp>
      <p:sp>
        <p:nvSpPr>
          <p:cNvPr id="13" name="Shape 10"/>
          <p:cNvSpPr/>
          <p:nvPr/>
        </p:nvSpPr>
        <p:spPr>
          <a:xfrm>
            <a:off x="5440680" y="2240280"/>
            <a:ext cx="502920" cy="502920"/>
          </a:xfrm>
          <a:prstGeom prst="roundRect">
            <a:avLst>
              <a:gd name="adj" fmla="val 18182"/>
            </a:avLst>
          </a:prstGeom>
          <a:solidFill>
            <a:srgbClr val="FFFFFF"/>
          </a:solidFill>
          <a:ln w="19050">
            <a:solidFill>
              <a:srgbClr val="D9CDB2"/>
            </a:solidFill>
            <a:prstDash val="solid"/>
          </a:ln>
          <a:effectLst>
            <a:outerShdw sx="100000" sy="100000" kx="0" ky="0" algn="bl" rotWithShape="0" blurRad="101600" dist="25400" dir="5400000">
              <a:srgbClr val="1F2A3C">
                <a:alpha val="14000"/>
              </a:srgbClr>
            </a:outerShdw>
          </a:effectLst>
        </p:spPr>
      </p:sp>
      <p:sp>
        <p:nvSpPr>
          <p:cNvPr id="14" name="Text 11"/>
          <p:cNvSpPr txBox="1"/>
          <p:nvPr/>
        </p:nvSpPr>
        <p:spPr>
          <a:xfrm>
            <a:off x="5440680" y="2240280"/>
            <a:ext cx="502920" cy="502920"/>
          </a:xfrm>
          <a:prstGeom prst="rect">
            <a:avLst/>
          </a:prstGeom>
          <a:noFill/>
          <a:ln/>
        </p:spPr>
        <p:txBody>
          <a:bodyPr wrap="square" lIns="0" tIns="0" rIns="0" bIns="0" rtlCol="0" anchor="ctr"/>
          <a:lstStyle/>
          <a:p>
            <a:pPr algn="ctr" indent="0" marL="0">
              <a:buNone/>
            </a:pPr>
            <a:r>
              <a:rPr lang="en-US" sz="1800" b="1" dirty="0">
                <a:solidFill>
                  <a:srgbClr val="0F2447"/>
                </a:solidFill>
                <a:latin typeface="Calibri" pitchFamily="34" charset="0"/>
                <a:ea typeface="Calibri" pitchFamily="34" charset="-122"/>
                <a:cs typeface="Calibri" pitchFamily="34" charset="-120"/>
              </a:rPr>
              <a:t>↓</a:t>
            </a:r>
            <a:endParaRPr lang="en-US" sz="1800" dirty="0"/>
          </a:p>
        </p:txBody>
      </p:sp>
      <p:sp>
        <p:nvSpPr>
          <p:cNvPr id="15" name="Shape 12"/>
          <p:cNvSpPr/>
          <p:nvPr/>
        </p:nvSpPr>
        <p:spPr>
          <a:xfrm>
            <a:off x="5989320" y="2240280"/>
            <a:ext cx="502920" cy="502920"/>
          </a:xfrm>
          <a:prstGeom prst="roundRect">
            <a:avLst>
              <a:gd name="adj" fmla="val 18182"/>
            </a:avLst>
          </a:prstGeom>
          <a:solidFill>
            <a:srgbClr val="FFFFFF"/>
          </a:solidFill>
          <a:ln w="19050">
            <a:solidFill>
              <a:srgbClr val="D9CDB2"/>
            </a:solidFill>
            <a:prstDash val="solid"/>
          </a:ln>
          <a:effectLst>
            <a:outerShdw sx="100000" sy="100000" kx="0" ky="0" algn="bl" rotWithShape="0" blurRad="101600" dist="25400" dir="5400000">
              <a:srgbClr val="1F2A3C">
                <a:alpha val="14000"/>
              </a:srgbClr>
            </a:outerShdw>
          </a:effectLst>
        </p:spPr>
      </p:sp>
      <p:sp>
        <p:nvSpPr>
          <p:cNvPr id="16" name="Text 13"/>
          <p:cNvSpPr txBox="1"/>
          <p:nvPr/>
        </p:nvSpPr>
        <p:spPr>
          <a:xfrm>
            <a:off x="5989320" y="2240280"/>
            <a:ext cx="502920" cy="502920"/>
          </a:xfrm>
          <a:prstGeom prst="rect">
            <a:avLst/>
          </a:prstGeom>
          <a:noFill/>
          <a:ln/>
        </p:spPr>
        <p:txBody>
          <a:bodyPr wrap="square" lIns="0" tIns="0" rIns="0" bIns="0" rtlCol="0" anchor="ctr"/>
          <a:lstStyle/>
          <a:p>
            <a:pPr algn="ctr" indent="0" marL="0">
              <a:buNone/>
            </a:pPr>
            <a:r>
              <a:rPr lang="en-US" sz="1800" b="1" dirty="0">
                <a:solidFill>
                  <a:srgbClr val="0F2447"/>
                </a:solidFill>
                <a:latin typeface="Calibri" pitchFamily="34" charset="0"/>
                <a:ea typeface="Calibri" pitchFamily="34" charset="-122"/>
                <a:cs typeface="Calibri" pitchFamily="34" charset="-120"/>
              </a:rPr>
              <a:t>→</a:t>
            </a:r>
            <a:endParaRPr lang="en-US" sz="1800" dirty="0"/>
          </a:p>
        </p:txBody>
      </p:sp>
      <p:sp>
        <p:nvSpPr>
          <p:cNvPr id="17" name="Text 14"/>
          <p:cNvSpPr txBox="1"/>
          <p:nvPr/>
        </p:nvSpPr>
        <p:spPr>
          <a:xfrm>
            <a:off x="4846320" y="2834640"/>
            <a:ext cx="2011680" cy="45720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Phím mũi tên hoặc W A S D</a:t>
            </a:r>
            <a:endParaRPr lang="en-US" sz="1200" dirty="0"/>
          </a:p>
        </p:txBody>
      </p:sp>
      <p:sp>
        <p:nvSpPr>
          <p:cNvPr id="18" name="Text 15"/>
          <p:cNvSpPr txBox="1"/>
          <p:nvPr/>
        </p:nvSpPr>
        <p:spPr>
          <a:xfrm>
            <a:off x="6858000" y="1280160"/>
            <a:ext cx="2011680" cy="292608"/>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Tạm dừng và chơi tiếp</a:t>
            </a:r>
            <a:endParaRPr lang="en-US" sz="1500" dirty="0"/>
          </a:p>
        </p:txBody>
      </p:sp>
      <p:sp>
        <p:nvSpPr>
          <p:cNvPr id="19" name="Shape 16"/>
          <p:cNvSpPr/>
          <p:nvPr/>
        </p:nvSpPr>
        <p:spPr>
          <a:xfrm>
            <a:off x="6858000" y="1737360"/>
            <a:ext cx="1737360" cy="411480"/>
          </a:xfrm>
          <a:prstGeom prst="roundRect">
            <a:avLst>
              <a:gd name="adj" fmla="val 48889"/>
            </a:avLst>
          </a:prstGeom>
          <a:solidFill>
            <a:srgbClr val="FFFFFF"/>
          </a:solidFill>
          <a:ln w="19050">
            <a:solidFill>
              <a:srgbClr val="D9CDB2"/>
            </a:solidFill>
            <a:prstDash val="solid"/>
          </a:ln>
        </p:spPr>
      </p:sp>
      <p:sp>
        <p:nvSpPr>
          <p:cNvPr id="20" name="Text 17"/>
          <p:cNvSpPr txBox="1"/>
          <p:nvPr/>
        </p:nvSpPr>
        <p:spPr>
          <a:xfrm>
            <a:off x="6858000" y="1737360"/>
            <a:ext cx="1737360" cy="411480"/>
          </a:xfrm>
          <a:prstGeom prst="rect">
            <a:avLst/>
          </a:prstGeom>
          <a:noFill/>
          <a:ln/>
        </p:spPr>
        <p:txBody>
          <a:bodyPr wrap="square" lIns="0" tIns="0" rIns="0" bIns="0" rtlCol="0" anchor="ctr"/>
          <a:lstStyle/>
          <a:p>
            <a:pPr algn="ctr" indent="0" marL="0">
              <a:buNone/>
            </a:pPr>
            <a:r>
              <a:rPr lang="en-US" sz="1400" b="1" dirty="0">
                <a:solidFill>
                  <a:srgbClr val="0F2447"/>
                </a:solidFill>
                <a:latin typeface="Calibri" pitchFamily="34" charset="0"/>
                <a:ea typeface="Calibri" pitchFamily="34" charset="-122"/>
                <a:cs typeface="Calibri" pitchFamily="34" charset="-120"/>
              </a:rPr>
              <a:t>Tạm dừng</a:t>
            </a:r>
            <a:endParaRPr lang="en-US" sz="1400" dirty="0"/>
          </a:p>
        </p:txBody>
      </p:sp>
      <p:sp>
        <p:nvSpPr>
          <p:cNvPr id="21" name="Shape 18"/>
          <p:cNvSpPr/>
          <p:nvPr/>
        </p:nvSpPr>
        <p:spPr>
          <a:xfrm>
            <a:off x="6858000" y="2286000"/>
            <a:ext cx="1737360" cy="411480"/>
          </a:xfrm>
          <a:prstGeom prst="roundRect">
            <a:avLst>
              <a:gd name="adj" fmla="val 48889"/>
            </a:avLst>
          </a:prstGeom>
          <a:solidFill>
            <a:srgbClr val="0E8A7D"/>
          </a:solidFill>
          <a:ln w="19050">
            <a:solidFill>
              <a:srgbClr val="0E8A7D"/>
            </a:solidFill>
            <a:prstDash val="solid"/>
          </a:ln>
        </p:spPr>
      </p:sp>
      <p:sp>
        <p:nvSpPr>
          <p:cNvPr id="22" name="Text 19"/>
          <p:cNvSpPr txBox="1"/>
          <p:nvPr/>
        </p:nvSpPr>
        <p:spPr>
          <a:xfrm>
            <a:off x="6858000" y="2286000"/>
            <a:ext cx="173736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Chơi tiếp</a:t>
            </a:r>
            <a:endParaRPr lang="en-US" sz="1400" dirty="0"/>
          </a:p>
        </p:txBody>
      </p:sp>
      <p:sp>
        <p:nvSpPr>
          <p:cNvPr id="23" name="Text 20"/>
          <p:cNvSpPr txBox="1"/>
          <p:nvPr/>
        </p:nvSpPr>
        <p:spPr>
          <a:xfrm>
            <a:off x="6858000" y="2834640"/>
            <a:ext cx="1783080" cy="118872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Ở chế độ học của con, vị trí được tự lưu để tiếp tục hành trình lần sau.</a:t>
            </a:r>
            <a:endParaRPr lang="en-US" sz="1200" dirty="0"/>
          </a:p>
        </p:txBody>
      </p:sp>
      <p:sp>
        <p:nvSpPr>
          <p:cNvPr id="24" name="Shape 21"/>
          <p:cNvSpPr/>
          <p:nvPr/>
        </p:nvSpPr>
        <p:spPr>
          <a:xfrm>
            <a:off x="4846320" y="3977640"/>
            <a:ext cx="3749040" cy="640080"/>
          </a:xfrm>
          <a:prstGeom prst="roundRect">
            <a:avLst>
              <a:gd name="adj" fmla="val 14286"/>
            </a:avLst>
          </a:prstGeom>
          <a:solidFill>
            <a:srgbClr val="F5EBCF"/>
          </a:solidFill>
          <a:ln/>
        </p:spPr>
      </p:sp>
      <p:sp>
        <p:nvSpPr>
          <p:cNvPr id="25" name="Text 22"/>
          <p:cNvSpPr txBox="1"/>
          <p:nvPr/>
        </p:nvSpPr>
        <p:spPr>
          <a:xfrm>
            <a:off x="4983480" y="3977640"/>
            <a:ext cx="3520440" cy="640080"/>
          </a:xfrm>
          <a:prstGeom prst="rect">
            <a:avLst/>
          </a:prstGeom>
          <a:noFill/>
          <a:ln/>
        </p:spPr>
        <p:txBody>
          <a:bodyPr wrap="square" lIns="0" tIns="0" rIns="0" bIns="0" rtlCol="0" anchor="ctr"/>
          <a:lstStyle/>
          <a:p>
            <a:pPr indent="0" marL="0">
              <a:buNone/>
            </a:pPr>
            <a:r>
              <a:rPr lang="en-US" sz="1200" dirty="0">
                <a:solidFill>
                  <a:srgbClr val="1F2A3C"/>
                </a:solidFill>
                <a:latin typeface="Calibri" pitchFamily="34" charset="0"/>
                <a:ea typeface="Calibri" pitchFamily="34" charset="-122"/>
                <a:cs typeface="Calibri" pitchFamily="34" charset="-120"/>
              </a:rPr>
              <a:t>Màn chơi có thể phóng to theo bạn nhỏ trên điện thoại, nút lớn dễ chạm.</a:t>
            </a:r>
            <a:endParaRPr lang="en-US" sz="1200" dirty="0"/>
          </a:p>
        </p:txBody>
      </p:sp>
      <p:sp>
        <p:nvSpPr>
          <p:cNvPr id="26" name="Shape 23"/>
          <p:cNvSpPr/>
          <p:nvPr/>
        </p:nvSpPr>
        <p:spPr>
          <a:xfrm>
            <a:off x="2743200" y="4206240"/>
            <a:ext cx="1207008" cy="256032"/>
          </a:xfrm>
          <a:prstGeom prst="roundRect">
            <a:avLst>
              <a:gd name="adj" fmla="val 50000"/>
            </a:avLst>
          </a:prstGeom>
          <a:solidFill>
            <a:srgbClr val="FFFFFF"/>
          </a:solidFill>
          <a:ln w="15875">
            <a:solidFill>
              <a:srgbClr val="9A7416"/>
            </a:solidFill>
            <a:prstDash val="solid"/>
          </a:ln>
        </p:spPr>
      </p:sp>
      <p:sp>
        <p:nvSpPr>
          <p:cNvPr id="27" name="Text 24"/>
          <p:cNvSpPr txBox="1"/>
          <p:nvPr/>
        </p:nvSpPr>
        <p:spPr>
          <a:xfrm>
            <a:off x="2743200" y="4206240"/>
            <a:ext cx="1207008" cy="256032"/>
          </a:xfrm>
          <a:prstGeom prst="rect">
            <a:avLst/>
          </a:prstGeom>
          <a:noFill/>
          <a:ln/>
        </p:spPr>
        <p:txBody>
          <a:bodyPr wrap="square" lIns="0" tIns="0" rIns="0" bIns="0" rtlCol="0" anchor="ctr"/>
          <a:lstStyle/>
          <a:p>
            <a:pPr algn="ctr" indent="0" marL="0">
              <a:buNone/>
            </a:pPr>
            <a:r>
              <a:rPr lang="en-US" sz="1000" b="1" dirty="0">
                <a:solidFill>
                  <a:srgbClr val="9A7416"/>
                </a:solidFill>
                <a:latin typeface="Calibri" pitchFamily="34" charset="0"/>
                <a:ea typeface="Calibri" pitchFamily="34" charset="-122"/>
                <a:cs typeface="Calibri" pitchFamily="34" charset="-120"/>
              </a:rPr>
              <a:t>BẢN CHƠI THỬ</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ĐANG HOÀN THIỆN</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Quái vật và thử thách Tiếng Việt</a:t>
            </a:r>
            <a:endParaRPr lang="en-US" sz="3000" dirty="0"/>
          </a:p>
        </p:txBody>
      </p:sp>
      <p:sp>
        <p:nvSpPr>
          <p:cNvPr id="4" name="Shape 2"/>
          <p:cNvSpPr/>
          <p:nvPr/>
        </p:nvSpPr>
        <p:spPr>
          <a:xfrm>
            <a:off x="640080" y="1280160"/>
            <a:ext cx="3291840" cy="3291840"/>
          </a:xfrm>
          <a:prstGeom prst="ellipse">
            <a:avLst/>
          </a:prstGeom>
          <a:solidFill>
            <a:srgbClr val="E9E2FA"/>
          </a:solidFill>
          <a:ln/>
        </p:spPr>
      </p:sp>
      <p:pic>
        <p:nvPicPr>
          <p:cNvPr id="5" name="Image 0" descr="Bạn quái vật thân thiện">    </p:cNvPr>
          <p:cNvPicPr>
            <a:picLocks noChangeAspect="1"/>
          </p:cNvPicPr>
          <p:nvPr/>
        </p:nvPicPr>
        <p:blipFill>
          <a:blip r:embed="rId1"/>
          <a:stretch>
            <a:fillRect/>
          </a:stretch>
        </p:blipFill>
        <p:spPr>
          <a:xfrm>
            <a:off x="731520" y="1371600"/>
            <a:ext cx="3108960" cy="3108960"/>
          </a:xfrm>
          <a:prstGeom prst="rect">
            <a:avLst/>
          </a:prstGeom>
        </p:spPr>
      </p:pic>
      <p:sp>
        <p:nvSpPr>
          <p:cNvPr id="6" name="Shape 3"/>
          <p:cNvSpPr/>
          <p:nvPr/>
        </p:nvSpPr>
        <p:spPr>
          <a:xfrm>
            <a:off x="4389120" y="1325880"/>
            <a:ext cx="1440180" cy="256032"/>
          </a:xfrm>
          <a:prstGeom prst="roundRect">
            <a:avLst>
              <a:gd name="adj" fmla="val 50000"/>
            </a:avLst>
          </a:prstGeom>
          <a:solidFill>
            <a:srgbClr val="FFFFFF"/>
          </a:solidFill>
          <a:ln w="15875">
            <a:solidFill>
              <a:srgbClr val="B8561F"/>
            </a:solidFill>
            <a:prstDash val="solid"/>
          </a:ln>
        </p:spPr>
      </p:sp>
      <p:sp>
        <p:nvSpPr>
          <p:cNvPr id="7" name="Text 4"/>
          <p:cNvSpPr txBox="1"/>
          <p:nvPr/>
        </p:nvSpPr>
        <p:spPr>
          <a:xfrm>
            <a:off x="4389120" y="1325880"/>
            <a:ext cx="1440180" cy="256032"/>
          </a:xfrm>
          <a:prstGeom prst="rect">
            <a:avLst/>
          </a:prstGeom>
          <a:noFill/>
          <a:ln/>
        </p:spPr>
        <p:txBody>
          <a:bodyPr wrap="square" lIns="0" tIns="0" rIns="0" bIns="0" rtlCol="0" anchor="ctr"/>
          <a:lstStyle/>
          <a:p>
            <a:pPr algn="ctr" indent="0" marL="0">
              <a:buNone/>
            </a:pPr>
            <a:r>
              <a:rPr lang="en-US" sz="1000" b="1" dirty="0">
                <a:solidFill>
                  <a:srgbClr val="B8561F"/>
                </a:solidFill>
                <a:latin typeface="Calibri" pitchFamily="34" charset="0"/>
                <a:ea typeface="Calibri" pitchFamily="34" charset="-122"/>
                <a:cs typeface="Calibri" pitchFamily="34" charset="-120"/>
              </a:rPr>
              <a:t>ĐANG HOÀN THIỆN</a:t>
            </a:r>
            <a:endParaRPr lang="en-US" sz="1000" dirty="0"/>
          </a:p>
        </p:txBody>
      </p:sp>
      <p:sp>
        <p:nvSpPr>
          <p:cNvPr id="8" name="Shape 5"/>
          <p:cNvSpPr/>
          <p:nvPr/>
        </p:nvSpPr>
        <p:spPr>
          <a:xfrm>
            <a:off x="4389120" y="1783080"/>
            <a:ext cx="1325880" cy="1234440"/>
          </a:xfrm>
          <a:prstGeom prst="roundRect">
            <a:avLst>
              <a:gd name="adj" fmla="val 8889"/>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9" name="Text 6"/>
          <p:cNvSpPr txBox="1"/>
          <p:nvPr/>
        </p:nvSpPr>
        <p:spPr>
          <a:xfrm>
            <a:off x="4389120" y="1828800"/>
            <a:ext cx="1325880" cy="594360"/>
          </a:xfrm>
          <a:prstGeom prst="rect">
            <a:avLst/>
          </a:prstGeom>
          <a:noFill/>
          <a:ln/>
        </p:spPr>
        <p:txBody>
          <a:bodyPr wrap="square" lIns="0" tIns="0" rIns="0" bIns="0" rtlCol="0" anchor="ctr"/>
          <a:lstStyle/>
          <a:p>
            <a:pPr algn="ctr" indent="0" marL="0">
              <a:buNone/>
            </a:pPr>
            <a:r>
              <a:rPr lang="en-US" sz="3400" b="1" dirty="0">
                <a:solidFill>
                  <a:srgbClr val="0E8A7D"/>
                </a:solidFill>
                <a:latin typeface="Cambria" pitchFamily="34" charset="0"/>
                <a:ea typeface="Cambria" pitchFamily="34" charset="-122"/>
                <a:cs typeface="Cambria" pitchFamily="34" charset="-120"/>
              </a:rPr>
              <a:t>7</a:t>
            </a:r>
            <a:endParaRPr lang="en-US" sz="3400" dirty="0"/>
          </a:p>
        </p:txBody>
      </p:sp>
      <p:sp>
        <p:nvSpPr>
          <p:cNvPr id="10" name="Text 7"/>
          <p:cNvSpPr txBox="1"/>
          <p:nvPr/>
        </p:nvSpPr>
        <p:spPr>
          <a:xfrm>
            <a:off x="4480560" y="2423160"/>
            <a:ext cx="1143000" cy="54864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bạn quái vật thân thiện mỗi màn</a:t>
            </a:r>
            <a:endParaRPr lang="en-US" sz="1100" dirty="0"/>
          </a:p>
        </p:txBody>
      </p:sp>
      <p:sp>
        <p:nvSpPr>
          <p:cNvPr id="11" name="Shape 8"/>
          <p:cNvSpPr/>
          <p:nvPr/>
        </p:nvSpPr>
        <p:spPr>
          <a:xfrm>
            <a:off x="5852160" y="1783080"/>
            <a:ext cx="1325880" cy="1234440"/>
          </a:xfrm>
          <a:prstGeom prst="roundRect">
            <a:avLst>
              <a:gd name="adj" fmla="val 8889"/>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2" name="Text 9"/>
          <p:cNvSpPr txBox="1"/>
          <p:nvPr/>
        </p:nvSpPr>
        <p:spPr>
          <a:xfrm>
            <a:off x="5852160" y="1828800"/>
            <a:ext cx="1325880" cy="594360"/>
          </a:xfrm>
          <a:prstGeom prst="rect">
            <a:avLst/>
          </a:prstGeom>
          <a:noFill/>
          <a:ln/>
        </p:spPr>
        <p:txBody>
          <a:bodyPr wrap="square" lIns="0" tIns="0" rIns="0" bIns="0" rtlCol="0" anchor="ctr"/>
          <a:lstStyle/>
          <a:p>
            <a:pPr algn="ctr" indent="0" marL="0">
              <a:buNone/>
            </a:pPr>
            <a:r>
              <a:rPr lang="en-US" sz="3400" b="1" dirty="0">
                <a:solidFill>
                  <a:srgbClr val="0E8A7D"/>
                </a:solidFill>
                <a:latin typeface="Cambria" pitchFamily="34" charset="0"/>
                <a:ea typeface="Cambria" pitchFamily="34" charset="-122"/>
                <a:cs typeface="Cambria" pitchFamily="34" charset="-120"/>
              </a:rPr>
              <a:t>3</a:t>
            </a:r>
            <a:endParaRPr lang="en-US" sz="3400" dirty="0"/>
          </a:p>
        </p:txBody>
      </p:sp>
      <p:sp>
        <p:nvSpPr>
          <p:cNvPr id="13" name="Text 10"/>
          <p:cNvSpPr txBox="1"/>
          <p:nvPr/>
        </p:nvSpPr>
        <p:spPr>
          <a:xfrm>
            <a:off x="5943600" y="2423160"/>
            <a:ext cx="1143000" cy="54864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câu hỏi Tiếng Việt cho mỗi bạn</a:t>
            </a:r>
            <a:endParaRPr lang="en-US" sz="1100" dirty="0"/>
          </a:p>
        </p:txBody>
      </p:sp>
      <p:sp>
        <p:nvSpPr>
          <p:cNvPr id="14" name="Shape 11"/>
          <p:cNvSpPr/>
          <p:nvPr/>
        </p:nvSpPr>
        <p:spPr>
          <a:xfrm>
            <a:off x="7315200" y="1783080"/>
            <a:ext cx="1325880" cy="1234440"/>
          </a:xfrm>
          <a:prstGeom prst="roundRect">
            <a:avLst>
              <a:gd name="adj" fmla="val 8889"/>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5" name="Text 12"/>
          <p:cNvSpPr txBox="1"/>
          <p:nvPr/>
        </p:nvSpPr>
        <p:spPr>
          <a:xfrm>
            <a:off x="7315200" y="1828800"/>
            <a:ext cx="1325880" cy="594360"/>
          </a:xfrm>
          <a:prstGeom prst="rect">
            <a:avLst/>
          </a:prstGeom>
          <a:noFill/>
          <a:ln/>
        </p:spPr>
        <p:txBody>
          <a:bodyPr wrap="square" lIns="0" tIns="0" rIns="0" bIns="0" rtlCol="0" anchor="ctr"/>
          <a:lstStyle/>
          <a:p>
            <a:pPr algn="ctr" indent="0" marL="0">
              <a:buNone/>
            </a:pPr>
            <a:r>
              <a:rPr lang="en-US" sz="3400" b="1" dirty="0">
                <a:solidFill>
                  <a:srgbClr val="C9A24A"/>
                </a:solidFill>
                <a:latin typeface="Cambria" pitchFamily="34" charset="0"/>
                <a:ea typeface="Cambria" pitchFamily="34" charset="-122"/>
                <a:cs typeface="Cambria" pitchFamily="34" charset="-120"/>
              </a:rPr>
              <a:t>21</a:t>
            </a:r>
            <a:endParaRPr lang="en-US" sz="3400" dirty="0"/>
          </a:p>
        </p:txBody>
      </p:sp>
      <p:sp>
        <p:nvSpPr>
          <p:cNvPr id="16" name="Text 13"/>
          <p:cNvSpPr txBox="1"/>
          <p:nvPr/>
        </p:nvSpPr>
        <p:spPr>
          <a:xfrm>
            <a:off x="7406640" y="2423160"/>
            <a:ext cx="1143000" cy="548640"/>
          </a:xfrm>
          <a:prstGeom prst="rect">
            <a:avLst/>
          </a:prstGeom>
          <a:noFill/>
          <a:ln/>
        </p:spPr>
        <p:txBody>
          <a:bodyPr wrap="square" lIns="0" tIns="0" rIns="0" bIns="0" rtlCol="0" anchor="t"/>
          <a:lstStyle/>
          <a:p>
            <a:pPr algn="ctr" indent="0" marL="0">
              <a:buNone/>
            </a:pPr>
            <a:r>
              <a:rPr lang="en-US" sz="1100" dirty="0">
                <a:solidFill>
                  <a:srgbClr val="566175"/>
                </a:solidFill>
                <a:latin typeface="Calibri" pitchFamily="34" charset="0"/>
                <a:ea typeface="Calibri" pitchFamily="34" charset="-122"/>
                <a:cs typeface="Calibri" pitchFamily="34" charset="-120"/>
              </a:rPr>
              <a:t>câu hỏi trong một màn chơi</a:t>
            </a:r>
            <a:endParaRPr lang="en-US" sz="1100" dirty="0"/>
          </a:p>
        </p:txBody>
      </p:sp>
      <p:sp>
        <p:nvSpPr>
          <p:cNvPr id="17" name="Text 14"/>
          <p:cNvSpPr txBox="1"/>
          <p:nvPr/>
        </p:nvSpPr>
        <p:spPr>
          <a:xfrm>
            <a:off x="4389120" y="3200400"/>
            <a:ext cx="4297680" cy="1463040"/>
          </a:xfrm>
          <a:prstGeom prst="rect">
            <a:avLst/>
          </a:prstGeom>
          <a:noFill/>
          <a:ln/>
        </p:spPr>
        <p:txBody>
          <a:bodyPr wrap="square" lIns="0" tIns="0" rIns="0" bIns="0" rtlCol="0" anchor="t"/>
          <a:lstStyle/>
          <a:p>
            <a:pPr marL="203200" indent="-203200">
              <a:spcAft>
                <a:spcPts val="500"/>
              </a:spcAft>
              <a:buSzPct val="100000"/>
              <a:buChar char="•"/>
            </a:pPr>
            <a:r>
              <a:rPr lang="en-US" sz="1300" dirty="0">
                <a:solidFill>
                  <a:srgbClr val="1F2A3C"/>
                </a:solidFill>
                <a:latin typeface="Calibri" pitchFamily="34" charset="0"/>
                <a:ea typeface="Calibri" pitchFamily="34" charset="-122"/>
                <a:cs typeface="Calibri" pitchFamily="34" charset="-120"/>
              </a:rPr>
              <a:t>Học sinh trả lời để vượt qua thử thách của từng bạn.</a:t>
            </a:r>
            <a:endParaRPr lang="en-US" sz="1300" dirty="0"/>
          </a:p>
          <a:p>
            <a:pPr marL="203200" indent="-203200">
              <a:spcAft>
                <a:spcPts val="500"/>
              </a:spcAft>
              <a:buSzPct val="100000"/>
              <a:buChar char="•"/>
            </a:pPr>
            <a:r>
              <a:rPr lang="en-US" sz="1300" dirty="0">
                <a:solidFill>
                  <a:srgbClr val="1F2A3C"/>
                </a:solidFill>
                <a:latin typeface="Calibri" pitchFamily="34" charset="0"/>
                <a:ea typeface="Calibri" pitchFamily="34" charset="-122"/>
                <a:cs typeface="Calibri" pitchFamily="34" charset="-120"/>
              </a:rPr>
              <a:t>Sau các cuộc gặp gỡ, học sinh mở được rương kho báu.</a:t>
            </a:r>
            <a:endParaRPr lang="en-US" sz="1300" dirty="0"/>
          </a:p>
          <a:p>
            <a:pPr marL="203200" indent="-203200">
              <a:spcAft>
                <a:spcPts val="500"/>
              </a:spcAft>
              <a:buSzPct val="100000"/>
              <a:buChar char="•"/>
            </a:pPr>
            <a:r>
              <a:rPr lang="en-US" sz="1300" dirty="0">
                <a:solidFill>
                  <a:srgbClr val="1F2A3C"/>
                </a:solidFill>
                <a:latin typeface="Calibri" pitchFamily="34" charset="0"/>
                <a:ea typeface="Calibri" pitchFamily="34" charset="-122"/>
                <a:cs typeface="Calibri" pitchFamily="34" charset="-120"/>
              </a:rPr>
              <a:t>Đã chuẩn bị sẵn 7 chạm trán và 21 câu hỏi mỗi màn.</a:t>
            </a:r>
            <a:endParaRPr lang="en-US" sz="1300" dirty="0"/>
          </a:p>
        </p:txBody>
      </p:sp>
      <p:sp>
        <p:nvSpPr>
          <p:cNvPr id="18" name="Shape 15"/>
          <p:cNvSpPr/>
          <p:nvPr/>
        </p:nvSpPr>
        <p:spPr>
          <a:xfrm>
            <a:off x="4389120" y="4114800"/>
            <a:ext cx="4297680" cy="457200"/>
          </a:xfrm>
          <a:prstGeom prst="roundRect">
            <a:avLst>
              <a:gd name="adj" fmla="val 20000"/>
            </a:avLst>
          </a:prstGeom>
          <a:solidFill>
            <a:srgbClr val="FBE9DD"/>
          </a:solidFill>
          <a:ln/>
        </p:spPr>
      </p:sp>
      <p:sp>
        <p:nvSpPr>
          <p:cNvPr id="19" name="Text 16"/>
          <p:cNvSpPr txBox="1"/>
          <p:nvPr/>
        </p:nvSpPr>
        <p:spPr>
          <a:xfrm>
            <a:off x="4480560" y="4114800"/>
            <a:ext cx="4114800" cy="457200"/>
          </a:xfrm>
          <a:prstGeom prst="rect">
            <a:avLst/>
          </a:prstGeom>
          <a:noFill/>
          <a:ln/>
        </p:spPr>
        <p:txBody>
          <a:bodyPr wrap="square" lIns="0" tIns="0" rIns="0" bIns="0" rtlCol="0" anchor="ctr"/>
          <a:lstStyle/>
          <a:p>
            <a:pPr indent="0" marL="0">
              <a:buNone/>
            </a:pPr>
            <a:r>
              <a:rPr lang="en-US" sz="1200" b="1" dirty="0">
                <a:solidFill>
                  <a:srgbClr val="B8561F"/>
                </a:solidFill>
                <a:latin typeface="Calibri" pitchFamily="34" charset="0"/>
                <a:ea typeface="Calibri" pitchFamily="34" charset="-122"/>
                <a:cs typeface="Calibri" pitchFamily="34" charset="-120"/>
              </a:rPr>
              <a:t>Đang hoàn thiện phần tương tác và chấm điểm trong trò chơi.</a:t>
            </a:r>
            <a:endParaRPr lang="en-US" sz="12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GIÁO VIÊN</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Giáo viên đồng hành ra sao?</a:t>
            </a:r>
            <a:endParaRPr lang="en-US" sz="3000" dirty="0"/>
          </a:p>
        </p:txBody>
      </p:sp>
      <p:sp>
        <p:nvSpPr>
          <p:cNvPr id="4" name="Shape 2"/>
          <p:cNvSpPr/>
          <p:nvPr/>
        </p:nvSpPr>
        <p:spPr>
          <a:xfrm>
            <a:off x="548640" y="1280160"/>
            <a:ext cx="4663440" cy="2697480"/>
          </a:xfrm>
          <a:prstGeom prst="roundRect">
            <a:avLst>
              <a:gd name="adj" fmla="val 4068"/>
            </a:avLst>
          </a:prstGeom>
          <a:solidFill>
            <a:srgbClr val="E9E4D8"/>
          </a:solidFill>
          <a:ln/>
          <a:effectLst>
            <a:outerShdw sx="100000" sy="100000" kx="0" ky="0" algn="bl" rotWithShape="0" blurRad="101600" dist="25400" dir="5400000">
              <a:srgbClr val="1F2A3C">
                <a:alpha val="14000"/>
              </a:srgbClr>
            </a:outerShdw>
          </a:effectLst>
        </p:spPr>
      </p:sp>
      <p:sp>
        <p:nvSpPr>
          <p:cNvPr id="5" name="Shape 3"/>
          <p:cNvSpPr/>
          <p:nvPr/>
        </p:nvSpPr>
        <p:spPr>
          <a:xfrm>
            <a:off x="685800" y="1380744"/>
            <a:ext cx="91440" cy="91440"/>
          </a:xfrm>
          <a:prstGeom prst="ellipse">
            <a:avLst/>
          </a:prstGeom>
          <a:solidFill>
            <a:srgbClr val="E07A6B"/>
          </a:solidFill>
          <a:ln/>
        </p:spPr>
      </p:sp>
      <p:sp>
        <p:nvSpPr>
          <p:cNvPr id="6" name="Shape 4"/>
          <p:cNvSpPr/>
          <p:nvPr/>
        </p:nvSpPr>
        <p:spPr>
          <a:xfrm>
            <a:off x="841248" y="1380744"/>
            <a:ext cx="91440" cy="91440"/>
          </a:xfrm>
          <a:prstGeom prst="ellipse">
            <a:avLst/>
          </a:prstGeom>
          <a:solidFill>
            <a:srgbClr val="E8C15A"/>
          </a:solidFill>
          <a:ln/>
        </p:spPr>
      </p:sp>
      <p:sp>
        <p:nvSpPr>
          <p:cNvPr id="7" name="Shape 5"/>
          <p:cNvSpPr/>
          <p:nvPr/>
        </p:nvSpPr>
        <p:spPr>
          <a:xfrm>
            <a:off x="996696" y="1380744"/>
            <a:ext cx="91440" cy="91440"/>
          </a:xfrm>
          <a:prstGeom prst="ellipse">
            <a:avLst/>
          </a:prstGeom>
          <a:solidFill>
            <a:srgbClr val="7DC49B"/>
          </a:solidFill>
          <a:ln/>
        </p:spPr>
      </p:sp>
      <p:pic>
        <p:nvPicPr>
          <p:cNvPr id="8" name="Image 0" descr="Ảnh chụp bản chơi thử">    </p:cNvPr>
          <p:cNvPicPr>
            <a:picLocks noChangeAspect="1"/>
          </p:cNvPicPr>
          <p:nvPr/>
        </p:nvPicPr>
        <p:blipFill>
          <a:blip r:embed="rId1"/>
          <a:stretch>
            <a:fillRect/>
          </a:stretch>
        </p:blipFill>
        <p:spPr>
          <a:xfrm>
            <a:off x="603504" y="1554480"/>
            <a:ext cx="4553712" cy="2368296"/>
          </a:xfrm>
          <a:prstGeom prst="rect">
            <a:avLst/>
          </a:prstGeom>
        </p:spPr>
      </p:pic>
      <p:sp>
        <p:nvSpPr>
          <p:cNvPr id="9" name="Shape 6"/>
          <p:cNvSpPr/>
          <p:nvPr/>
        </p:nvSpPr>
        <p:spPr>
          <a:xfrm>
            <a:off x="548640" y="4114800"/>
            <a:ext cx="1984248" cy="256032"/>
          </a:xfrm>
          <a:prstGeom prst="roundRect">
            <a:avLst>
              <a:gd name="adj" fmla="val 50000"/>
            </a:avLst>
          </a:prstGeom>
          <a:solidFill>
            <a:srgbClr val="FFFFFF"/>
          </a:solidFill>
          <a:ln w="15875">
            <a:solidFill>
              <a:srgbClr val="9A7416"/>
            </a:solidFill>
            <a:prstDash val="solid"/>
          </a:ln>
        </p:spPr>
      </p:sp>
      <p:sp>
        <p:nvSpPr>
          <p:cNvPr id="10" name="Text 7"/>
          <p:cNvSpPr txBox="1"/>
          <p:nvPr/>
        </p:nvSpPr>
        <p:spPr>
          <a:xfrm>
            <a:off x="548640" y="4114800"/>
            <a:ext cx="1984248" cy="256032"/>
          </a:xfrm>
          <a:prstGeom prst="rect">
            <a:avLst/>
          </a:prstGeom>
          <a:noFill/>
          <a:ln/>
        </p:spPr>
        <p:txBody>
          <a:bodyPr wrap="square" lIns="0" tIns="0" rIns="0" bIns="0" rtlCol="0" anchor="ctr"/>
          <a:lstStyle/>
          <a:p>
            <a:pPr algn="ctr" indent="0" marL="0">
              <a:buNone/>
            </a:pPr>
            <a:r>
              <a:rPr lang="en-US" sz="1000" b="1" dirty="0">
                <a:solidFill>
                  <a:srgbClr val="9A7416"/>
                </a:solidFill>
                <a:latin typeface="Calibri" pitchFamily="34" charset="0"/>
                <a:ea typeface="Calibri" pitchFamily="34" charset="-122"/>
                <a:cs typeface="Calibri" pitchFamily="34" charset="-120"/>
              </a:rPr>
              <a:t>ẢNH CHỤP · DỮ LIỆU GIẢ</a:t>
            </a:r>
            <a:endParaRPr lang="en-US" sz="1000" dirty="0"/>
          </a:p>
        </p:txBody>
      </p:sp>
      <p:sp>
        <p:nvSpPr>
          <p:cNvPr id="11" name="Text 8"/>
          <p:cNvSpPr txBox="1"/>
          <p:nvPr/>
        </p:nvSpPr>
        <p:spPr>
          <a:xfrm>
            <a:off x="548640" y="4434840"/>
            <a:ext cx="4663440" cy="219456"/>
          </a:xfrm>
          <a:prstGeom prst="rect">
            <a:avLst/>
          </a:prstGeom>
          <a:noFill/>
          <a:ln/>
        </p:spPr>
        <p:txBody>
          <a:bodyPr wrap="square" lIns="0" tIns="0" rIns="0" bIns="0" rtlCol="0" anchor="ctr"/>
          <a:lstStyle/>
          <a:p>
            <a:pPr algn="l" indent="0" marL="0">
              <a:buNone/>
            </a:pPr>
            <a:r>
              <a:rPr lang="en-US" sz="1000" i="1" dirty="0">
                <a:solidFill>
                  <a:srgbClr val="566175"/>
                </a:solidFill>
                <a:latin typeface="Calibri" pitchFamily="34" charset="0"/>
                <a:ea typeface="Calibri" pitchFamily="34" charset="-122"/>
                <a:cs typeface="Calibri" pitchFamily="34" charset="-120"/>
              </a:rPr>
              <a:t>Danh sách học sinh với biệt danh hư cấu; chỉ giáo viên xem được nhóm năng lực.</a:t>
            </a:r>
            <a:endParaRPr lang="en-US" sz="1000" dirty="0"/>
          </a:p>
        </p:txBody>
      </p:sp>
      <p:sp>
        <p:nvSpPr>
          <p:cNvPr id="12" name="Shape 9"/>
          <p:cNvSpPr/>
          <p:nvPr/>
        </p:nvSpPr>
        <p:spPr>
          <a:xfrm>
            <a:off x="5440680" y="1280160"/>
            <a:ext cx="3246120" cy="658368"/>
          </a:xfrm>
          <a:prstGeom prst="roundRect">
            <a:avLst>
              <a:gd name="adj" fmla="val 16667"/>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3" name="Text 10"/>
          <p:cNvSpPr txBox="1"/>
          <p:nvPr/>
        </p:nvSpPr>
        <p:spPr>
          <a:xfrm>
            <a:off x="5577840" y="1316736"/>
            <a:ext cx="3017520" cy="274320"/>
          </a:xfrm>
          <a:prstGeom prst="rect">
            <a:avLst/>
          </a:prstGeom>
          <a:noFill/>
          <a:ln/>
        </p:spPr>
        <p:txBody>
          <a:bodyPr wrap="square" lIns="0" tIns="0" rIns="0" bIns="0" rtlCol="0" anchor="ctr"/>
          <a:lstStyle/>
          <a:p>
            <a:pPr indent="0" marL="0">
              <a:buNone/>
            </a:pPr>
            <a:r>
              <a:rPr lang="en-US" sz="1200" b="1" dirty="0">
                <a:solidFill>
                  <a:srgbClr val="0F2447"/>
                </a:solidFill>
                <a:latin typeface="Cambria" pitchFamily="34" charset="0"/>
                <a:ea typeface="Cambria" pitchFamily="34" charset="-122"/>
                <a:cs typeface="Cambria" pitchFamily="34" charset="-120"/>
              </a:rPr>
              <a:t>Quản lý lớp, học sinh, thẻ học</a:t>
            </a:r>
            <a:endParaRPr lang="en-US" sz="1200" dirty="0"/>
          </a:p>
        </p:txBody>
      </p:sp>
      <p:sp>
        <p:nvSpPr>
          <p:cNvPr id="14" name="Shape 11"/>
          <p:cNvSpPr/>
          <p:nvPr/>
        </p:nvSpPr>
        <p:spPr>
          <a:xfrm>
            <a:off x="5577840" y="1627632"/>
            <a:ext cx="662940" cy="256032"/>
          </a:xfrm>
          <a:prstGeom prst="roundRect">
            <a:avLst>
              <a:gd name="adj" fmla="val 50000"/>
            </a:avLst>
          </a:prstGeom>
          <a:solidFill>
            <a:srgbClr val="FFFFFF"/>
          </a:solidFill>
          <a:ln w="15875">
            <a:solidFill>
              <a:srgbClr val="0E8A7D"/>
            </a:solidFill>
            <a:prstDash val="solid"/>
          </a:ln>
        </p:spPr>
      </p:sp>
      <p:sp>
        <p:nvSpPr>
          <p:cNvPr id="15" name="Text 12"/>
          <p:cNvSpPr txBox="1"/>
          <p:nvPr/>
        </p:nvSpPr>
        <p:spPr>
          <a:xfrm>
            <a:off x="5577840" y="1627632"/>
            <a:ext cx="662940" cy="256032"/>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a:t>
            </a:r>
            <a:endParaRPr lang="en-US" sz="1000" dirty="0"/>
          </a:p>
        </p:txBody>
      </p:sp>
      <p:sp>
        <p:nvSpPr>
          <p:cNvPr id="16" name="Shape 13"/>
          <p:cNvSpPr/>
          <p:nvPr/>
        </p:nvSpPr>
        <p:spPr>
          <a:xfrm>
            <a:off x="5440680" y="2057400"/>
            <a:ext cx="3246120" cy="658368"/>
          </a:xfrm>
          <a:prstGeom prst="roundRect">
            <a:avLst>
              <a:gd name="adj" fmla="val 16667"/>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7" name="Text 14"/>
          <p:cNvSpPr txBox="1"/>
          <p:nvPr/>
        </p:nvSpPr>
        <p:spPr>
          <a:xfrm>
            <a:off x="5577840" y="2093976"/>
            <a:ext cx="3017520" cy="274320"/>
          </a:xfrm>
          <a:prstGeom prst="rect">
            <a:avLst/>
          </a:prstGeom>
          <a:noFill/>
          <a:ln/>
        </p:spPr>
        <p:txBody>
          <a:bodyPr wrap="square" lIns="0" tIns="0" rIns="0" bIns="0" rtlCol="0" anchor="ctr"/>
          <a:lstStyle/>
          <a:p>
            <a:pPr indent="0" marL="0">
              <a:buNone/>
            </a:pPr>
            <a:r>
              <a:rPr lang="en-US" sz="1200" b="1" dirty="0">
                <a:solidFill>
                  <a:srgbClr val="0F2447"/>
                </a:solidFill>
                <a:latin typeface="Cambria" pitchFamily="34" charset="0"/>
                <a:ea typeface="Cambria" pitchFamily="34" charset="-122"/>
                <a:cs typeface="Cambria" pitchFamily="34" charset="-120"/>
              </a:rPr>
              <a:t>Bảng điểm lớp, chế độ trình chiếu</a:t>
            </a:r>
            <a:endParaRPr lang="en-US" sz="1200" dirty="0"/>
          </a:p>
        </p:txBody>
      </p:sp>
      <p:sp>
        <p:nvSpPr>
          <p:cNvPr id="18" name="Shape 15"/>
          <p:cNvSpPr/>
          <p:nvPr/>
        </p:nvSpPr>
        <p:spPr>
          <a:xfrm>
            <a:off x="5577840" y="2404872"/>
            <a:ext cx="1828800" cy="256032"/>
          </a:xfrm>
          <a:prstGeom prst="roundRect">
            <a:avLst>
              <a:gd name="adj" fmla="val 50000"/>
            </a:avLst>
          </a:prstGeom>
          <a:solidFill>
            <a:srgbClr val="FFFFFF"/>
          </a:solidFill>
          <a:ln w="15875">
            <a:solidFill>
              <a:srgbClr val="0E8A7D"/>
            </a:solidFill>
            <a:prstDash val="solid"/>
          </a:ln>
        </p:spPr>
      </p:sp>
      <p:sp>
        <p:nvSpPr>
          <p:cNvPr id="19" name="Text 16"/>
          <p:cNvSpPr txBox="1"/>
          <p:nvPr/>
        </p:nvSpPr>
        <p:spPr>
          <a:xfrm>
            <a:off x="5577840" y="2404872"/>
            <a:ext cx="1828800" cy="256032"/>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 · MẶC ĐỊNH TẮT</a:t>
            </a:r>
            <a:endParaRPr lang="en-US" sz="1000" dirty="0"/>
          </a:p>
        </p:txBody>
      </p:sp>
      <p:sp>
        <p:nvSpPr>
          <p:cNvPr id="20" name="Shape 17"/>
          <p:cNvSpPr/>
          <p:nvPr/>
        </p:nvSpPr>
        <p:spPr>
          <a:xfrm>
            <a:off x="5440680" y="2834640"/>
            <a:ext cx="3246120" cy="658368"/>
          </a:xfrm>
          <a:prstGeom prst="roundRect">
            <a:avLst>
              <a:gd name="adj" fmla="val 16667"/>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1" name="Text 18"/>
          <p:cNvSpPr txBox="1"/>
          <p:nvPr/>
        </p:nvSpPr>
        <p:spPr>
          <a:xfrm>
            <a:off x="5577840" y="2871216"/>
            <a:ext cx="3017520" cy="274320"/>
          </a:xfrm>
          <a:prstGeom prst="rect">
            <a:avLst/>
          </a:prstGeom>
          <a:noFill/>
          <a:ln/>
        </p:spPr>
        <p:txBody>
          <a:bodyPr wrap="square" lIns="0" tIns="0" rIns="0" bIns="0" rtlCol="0" anchor="ctr"/>
          <a:lstStyle/>
          <a:p>
            <a:pPr indent="0" marL="0">
              <a:buNone/>
            </a:pPr>
            <a:r>
              <a:rPr lang="en-US" sz="1200" b="1" dirty="0">
                <a:solidFill>
                  <a:srgbClr val="0F2447"/>
                </a:solidFill>
                <a:latin typeface="Cambria" pitchFamily="34" charset="0"/>
                <a:ea typeface="Cambria" pitchFamily="34" charset="-122"/>
                <a:cs typeface="Cambria" pitchFamily="34" charset="-120"/>
              </a:rPr>
              <a:t>Vinh danh TOP 3, mùa thi đua</a:t>
            </a:r>
            <a:endParaRPr lang="en-US" sz="1200" dirty="0"/>
          </a:p>
        </p:txBody>
      </p:sp>
      <p:sp>
        <p:nvSpPr>
          <p:cNvPr id="22" name="Shape 19"/>
          <p:cNvSpPr/>
          <p:nvPr/>
        </p:nvSpPr>
        <p:spPr>
          <a:xfrm>
            <a:off x="5577840" y="3182112"/>
            <a:ext cx="1440180" cy="256032"/>
          </a:xfrm>
          <a:prstGeom prst="roundRect">
            <a:avLst>
              <a:gd name="adj" fmla="val 50000"/>
            </a:avLst>
          </a:prstGeom>
          <a:solidFill>
            <a:srgbClr val="FFFFFF"/>
          </a:solidFill>
          <a:ln w="15875">
            <a:solidFill>
              <a:srgbClr val="B8561F"/>
            </a:solidFill>
            <a:prstDash val="solid"/>
          </a:ln>
        </p:spPr>
      </p:sp>
      <p:sp>
        <p:nvSpPr>
          <p:cNvPr id="23" name="Text 20"/>
          <p:cNvSpPr txBox="1"/>
          <p:nvPr/>
        </p:nvSpPr>
        <p:spPr>
          <a:xfrm>
            <a:off x="5577840" y="3182112"/>
            <a:ext cx="1440180" cy="256032"/>
          </a:xfrm>
          <a:prstGeom prst="rect">
            <a:avLst/>
          </a:prstGeom>
          <a:noFill/>
          <a:ln/>
        </p:spPr>
        <p:txBody>
          <a:bodyPr wrap="square" lIns="0" tIns="0" rIns="0" bIns="0" rtlCol="0" anchor="ctr"/>
          <a:lstStyle/>
          <a:p>
            <a:pPr algn="ctr" indent="0" marL="0">
              <a:buNone/>
            </a:pPr>
            <a:r>
              <a:rPr lang="en-US" sz="1000" b="1" dirty="0">
                <a:solidFill>
                  <a:srgbClr val="B8561F"/>
                </a:solidFill>
                <a:latin typeface="Calibri" pitchFamily="34" charset="0"/>
                <a:ea typeface="Calibri" pitchFamily="34" charset="-122"/>
                <a:cs typeface="Calibri" pitchFamily="34" charset="-120"/>
              </a:rPr>
              <a:t>ĐANG HOÀN THIỆN</a:t>
            </a:r>
            <a:endParaRPr lang="en-US" sz="1000" dirty="0"/>
          </a:p>
        </p:txBody>
      </p:sp>
      <p:sp>
        <p:nvSpPr>
          <p:cNvPr id="24" name="Shape 21"/>
          <p:cNvSpPr/>
          <p:nvPr/>
        </p:nvSpPr>
        <p:spPr>
          <a:xfrm>
            <a:off x="5440680" y="3611880"/>
            <a:ext cx="3246120" cy="658368"/>
          </a:xfrm>
          <a:prstGeom prst="roundRect">
            <a:avLst>
              <a:gd name="adj" fmla="val 16667"/>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5" name="Text 22"/>
          <p:cNvSpPr txBox="1"/>
          <p:nvPr/>
        </p:nvSpPr>
        <p:spPr>
          <a:xfrm>
            <a:off x="5577840" y="3648456"/>
            <a:ext cx="3017520" cy="274320"/>
          </a:xfrm>
          <a:prstGeom prst="rect">
            <a:avLst/>
          </a:prstGeom>
          <a:noFill/>
          <a:ln/>
        </p:spPr>
        <p:txBody>
          <a:bodyPr wrap="square" lIns="0" tIns="0" rIns="0" bIns="0" rtlCol="0" anchor="ctr"/>
          <a:lstStyle/>
          <a:p>
            <a:pPr indent="0" marL="0">
              <a:buNone/>
            </a:pPr>
            <a:r>
              <a:rPr lang="en-US" sz="1200" b="1" dirty="0">
                <a:solidFill>
                  <a:srgbClr val="0F2447"/>
                </a:solidFill>
                <a:latin typeface="Cambria" pitchFamily="34" charset="0"/>
                <a:ea typeface="Cambria" pitchFamily="34" charset="-122"/>
                <a:cs typeface="Cambria" pitchFamily="34" charset="-120"/>
              </a:rPr>
              <a:t>Duyệt học liệu, theo dõi tiến bộ</a:t>
            </a:r>
            <a:endParaRPr lang="en-US" sz="1200" dirty="0"/>
          </a:p>
        </p:txBody>
      </p:sp>
      <p:sp>
        <p:nvSpPr>
          <p:cNvPr id="26" name="Shape 23"/>
          <p:cNvSpPr/>
          <p:nvPr/>
        </p:nvSpPr>
        <p:spPr>
          <a:xfrm>
            <a:off x="5577840" y="3959352"/>
            <a:ext cx="818388" cy="256032"/>
          </a:xfrm>
          <a:prstGeom prst="roundRect">
            <a:avLst>
              <a:gd name="adj" fmla="val 50000"/>
            </a:avLst>
          </a:prstGeom>
          <a:solidFill>
            <a:srgbClr val="FFFFFF"/>
          </a:solidFill>
          <a:ln w="15875">
            <a:solidFill>
              <a:srgbClr val="5B6678"/>
            </a:solidFill>
            <a:prstDash val="solid"/>
          </a:ln>
        </p:spPr>
      </p:sp>
      <p:sp>
        <p:nvSpPr>
          <p:cNvPr id="27" name="Text 24"/>
          <p:cNvSpPr txBox="1"/>
          <p:nvPr/>
        </p:nvSpPr>
        <p:spPr>
          <a:xfrm>
            <a:off x="5577840" y="3959352"/>
            <a:ext cx="818388" cy="256032"/>
          </a:xfrm>
          <a:prstGeom prst="rect">
            <a:avLst/>
          </a:prstGeom>
          <a:noFill/>
          <a:ln/>
        </p:spPr>
        <p:txBody>
          <a:bodyPr wrap="square" lIns="0" tIns="0" rIns="0" bIns="0" rtlCol="0" anchor="ctr"/>
          <a:lstStyle/>
          <a:p>
            <a:pPr algn="ctr" indent="0" marL="0">
              <a:buNone/>
            </a:pPr>
            <a:r>
              <a:rPr lang="en-US" sz="1000" b="1" dirty="0">
                <a:solidFill>
                  <a:srgbClr val="5B6678"/>
                </a:solidFill>
                <a:latin typeface="Calibri" pitchFamily="34" charset="0"/>
                <a:ea typeface="Calibri" pitchFamily="34" charset="-122"/>
                <a:cs typeface="Calibri" pitchFamily="34" charset="-120"/>
              </a:rPr>
              <a:t>DỰ KIẾN</a:t>
            </a:r>
            <a:endParaRPr lang="en-US" sz="1000" dirty="0"/>
          </a:p>
        </p:txBody>
      </p:sp>
      <p:sp>
        <p:nvSpPr>
          <p:cNvPr id="28" name="Text 25"/>
          <p:cNvSpPr txBox="1"/>
          <p:nvPr/>
        </p:nvSpPr>
        <p:spPr>
          <a:xfrm>
            <a:off x="5440680" y="4434840"/>
            <a:ext cx="3246120" cy="219456"/>
          </a:xfrm>
          <a:prstGeom prst="rect">
            <a:avLst/>
          </a:prstGeom>
          <a:noFill/>
          <a:ln/>
        </p:spPr>
        <p:txBody>
          <a:bodyPr wrap="square" lIns="0" tIns="0" rIns="0" bIns="0" rtlCol="0" anchor="ctr"/>
          <a:lstStyle/>
          <a:p>
            <a:pPr algn="l" indent="0" marL="0">
              <a:buNone/>
            </a:pPr>
            <a:r>
              <a:rPr lang="en-US" sz="1000" i="1" dirty="0">
                <a:solidFill>
                  <a:srgbClr val="566175"/>
                </a:solidFill>
                <a:latin typeface="Calibri" pitchFamily="34" charset="0"/>
                <a:ea typeface="Calibri" pitchFamily="34" charset="-122"/>
                <a:cs typeface="Calibri" pitchFamily="34" charset="-120"/>
              </a:rPr>
              <a:t>Gồm cả ghi nhận đồng ý của phụ huynh.</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PHỤ HUYNH</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Phụ huynh đồng hành ra sao?</a:t>
            </a:r>
            <a:endParaRPr lang="en-US" sz="3000" dirty="0"/>
          </a:p>
        </p:txBody>
      </p:sp>
      <p:sp>
        <p:nvSpPr>
          <p:cNvPr id="4" name="Shape 2"/>
          <p:cNvSpPr/>
          <p:nvPr/>
        </p:nvSpPr>
        <p:spPr>
          <a:xfrm>
            <a:off x="548640" y="1325880"/>
            <a:ext cx="2743200" cy="1417320"/>
          </a:xfrm>
          <a:prstGeom prst="roundRect">
            <a:avLst>
              <a:gd name="adj" fmla="val 7742"/>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5" name="Shape 3"/>
          <p:cNvSpPr/>
          <p:nvPr/>
        </p:nvSpPr>
        <p:spPr>
          <a:xfrm>
            <a:off x="713232" y="1508760"/>
            <a:ext cx="457200" cy="457200"/>
          </a:xfrm>
          <a:prstGeom prst="ellipse">
            <a:avLst/>
          </a:prstGeom>
          <a:solidFill>
            <a:srgbClr val="DDF1EE"/>
          </a:solidFill>
          <a:ln/>
        </p:spPr>
      </p:sp>
      <p:sp>
        <p:nvSpPr>
          <p:cNvPr id="6" name="Shape 4"/>
          <p:cNvSpPr/>
          <p:nvPr/>
        </p:nvSpPr>
        <p:spPr>
          <a:xfrm>
            <a:off x="813816" y="1627632"/>
            <a:ext cx="256032" cy="228600"/>
          </a:xfrm>
          <a:prstGeom prst="heart">
            <a:avLst/>
          </a:prstGeom>
          <a:solidFill>
            <a:srgbClr val="0E8A7D"/>
          </a:solidFill>
          <a:ln/>
        </p:spPr>
      </p:sp>
      <p:sp>
        <p:nvSpPr>
          <p:cNvPr id="7" name="Text 5"/>
          <p:cNvSpPr txBox="1"/>
          <p:nvPr/>
        </p:nvSpPr>
        <p:spPr>
          <a:xfrm>
            <a:off x="1280160" y="1472184"/>
            <a:ext cx="1920240" cy="566928"/>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Giúp con vào đúng trang học</a:t>
            </a:r>
            <a:endParaRPr lang="en-US" sz="1400" dirty="0"/>
          </a:p>
        </p:txBody>
      </p:sp>
      <p:sp>
        <p:nvSpPr>
          <p:cNvPr id="8" name="Text 6"/>
          <p:cNvSpPr txBox="1"/>
          <p:nvPr/>
        </p:nvSpPr>
        <p:spPr>
          <a:xfrm>
            <a:off x="731520" y="2130552"/>
            <a:ext cx="2423160" cy="54864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Quét thẻ học một lần, con tự vào trang của mình.</a:t>
            </a:r>
            <a:endParaRPr lang="en-US" sz="1200" dirty="0"/>
          </a:p>
        </p:txBody>
      </p:sp>
      <p:sp>
        <p:nvSpPr>
          <p:cNvPr id="9" name="Shape 7"/>
          <p:cNvSpPr/>
          <p:nvPr/>
        </p:nvSpPr>
        <p:spPr>
          <a:xfrm>
            <a:off x="3474720" y="1325880"/>
            <a:ext cx="2743200" cy="1417320"/>
          </a:xfrm>
          <a:prstGeom prst="roundRect">
            <a:avLst>
              <a:gd name="adj" fmla="val 7742"/>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0" name="Shape 8"/>
          <p:cNvSpPr/>
          <p:nvPr/>
        </p:nvSpPr>
        <p:spPr>
          <a:xfrm>
            <a:off x="3639312" y="1508760"/>
            <a:ext cx="457200" cy="457200"/>
          </a:xfrm>
          <a:prstGeom prst="ellipse">
            <a:avLst/>
          </a:prstGeom>
          <a:solidFill>
            <a:srgbClr val="F5EBCF"/>
          </a:solidFill>
          <a:ln/>
        </p:spPr>
      </p:sp>
      <p:sp>
        <p:nvSpPr>
          <p:cNvPr id="11" name="Shape 9"/>
          <p:cNvSpPr/>
          <p:nvPr/>
        </p:nvSpPr>
        <p:spPr>
          <a:xfrm>
            <a:off x="3739896" y="1627632"/>
            <a:ext cx="256032" cy="228600"/>
          </a:xfrm>
          <a:prstGeom prst="heart">
            <a:avLst/>
          </a:prstGeom>
          <a:solidFill>
            <a:srgbClr val="C9A24A"/>
          </a:solidFill>
          <a:ln/>
        </p:spPr>
      </p:sp>
      <p:sp>
        <p:nvSpPr>
          <p:cNvPr id="12" name="Text 10"/>
          <p:cNvSpPr txBox="1"/>
          <p:nvPr/>
        </p:nvSpPr>
        <p:spPr>
          <a:xfrm>
            <a:off x="4206240" y="1472184"/>
            <a:ext cx="1920240" cy="566928"/>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Khuyến khích luyện tập vừa sức</a:t>
            </a:r>
            <a:endParaRPr lang="en-US" sz="1400" dirty="0"/>
          </a:p>
        </p:txBody>
      </p:sp>
      <p:sp>
        <p:nvSpPr>
          <p:cNvPr id="13" name="Text 11"/>
          <p:cNvSpPr txBox="1"/>
          <p:nvPr/>
        </p:nvSpPr>
        <p:spPr>
          <a:xfrm>
            <a:off x="3657600" y="2130552"/>
            <a:ext cx="2423160" cy="54864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Mỗi ngày một chút, đều đặn, không ép buộc.</a:t>
            </a:r>
            <a:endParaRPr lang="en-US" sz="1200" dirty="0"/>
          </a:p>
        </p:txBody>
      </p:sp>
      <p:sp>
        <p:nvSpPr>
          <p:cNvPr id="14" name="Shape 12"/>
          <p:cNvSpPr/>
          <p:nvPr/>
        </p:nvSpPr>
        <p:spPr>
          <a:xfrm>
            <a:off x="548640" y="2926080"/>
            <a:ext cx="2743200" cy="1417320"/>
          </a:xfrm>
          <a:prstGeom prst="roundRect">
            <a:avLst>
              <a:gd name="adj" fmla="val 7742"/>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5" name="Shape 13"/>
          <p:cNvSpPr/>
          <p:nvPr/>
        </p:nvSpPr>
        <p:spPr>
          <a:xfrm>
            <a:off x="713232" y="3108960"/>
            <a:ext cx="457200" cy="457200"/>
          </a:xfrm>
          <a:prstGeom prst="ellipse">
            <a:avLst/>
          </a:prstGeom>
          <a:solidFill>
            <a:srgbClr val="DDF1EE"/>
          </a:solidFill>
          <a:ln/>
        </p:spPr>
      </p:sp>
      <p:sp>
        <p:nvSpPr>
          <p:cNvPr id="16" name="Shape 14"/>
          <p:cNvSpPr/>
          <p:nvPr/>
        </p:nvSpPr>
        <p:spPr>
          <a:xfrm>
            <a:off x="813816" y="3227832"/>
            <a:ext cx="256032" cy="228600"/>
          </a:xfrm>
          <a:prstGeom prst="heart">
            <a:avLst/>
          </a:prstGeom>
          <a:solidFill>
            <a:srgbClr val="0E8A7D"/>
          </a:solidFill>
          <a:ln/>
        </p:spPr>
      </p:sp>
      <p:sp>
        <p:nvSpPr>
          <p:cNvPr id="17" name="Text 15"/>
          <p:cNvSpPr txBox="1"/>
          <p:nvPr/>
        </p:nvSpPr>
        <p:spPr>
          <a:xfrm>
            <a:off x="1280160" y="3072384"/>
            <a:ext cx="1920240" cy="566928"/>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Quan tâm sự tiến bộ</a:t>
            </a:r>
            <a:endParaRPr lang="en-US" sz="1400" dirty="0"/>
          </a:p>
        </p:txBody>
      </p:sp>
      <p:sp>
        <p:nvSpPr>
          <p:cNvPr id="18" name="Text 16"/>
          <p:cNvSpPr txBox="1"/>
          <p:nvPr/>
        </p:nvSpPr>
        <p:spPr>
          <a:xfrm>
            <a:off x="731520" y="3730752"/>
            <a:ext cx="2423160" cy="54864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Nhìn vào hành trình của con thay vì chỉ nhìn điểm.</a:t>
            </a:r>
            <a:endParaRPr lang="en-US" sz="1200" dirty="0"/>
          </a:p>
        </p:txBody>
      </p:sp>
      <p:sp>
        <p:nvSpPr>
          <p:cNvPr id="19" name="Shape 17"/>
          <p:cNvSpPr/>
          <p:nvPr/>
        </p:nvSpPr>
        <p:spPr>
          <a:xfrm>
            <a:off x="3474720" y="2926080"/>
            <a:ext cx="2743200" cy="1417320"/>
          </a:xfrm>
          <a:prstGeom prst="roundRect">
            <a:avLst>
              <a:gd name="adj" fmla="val 7742"/>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0" name="Shape 18"/>
          <p:cNvSpPr/>
          <p:nvPr/>
        </p:nvSpPr>
        <p:spPr>
          <a:xfrm>
            <a:off x="3639312" y="3108960"/>
            <a:ext cx="457200" cy="457200"/>
          </a:xfrm>
          <a:prstGeom prst="ellipse">
            <a:avLst/>
          </a:prstGeom>
          <a:solidFill>
            <a:srgbClr val="F5EBCF"/>
          </a:solidFill>
          <a:ln/>
        </p:spPr>
      </p:sp>
      <p:sp>
        <p:nvSpPr>
          <p:cNvPr id="21" name="Shape 19"/>
          <p:cNvSpPr/>
          <p:nvPr/>
        </p:nvSpPr>
        <p:spPr>
          <a:xfrm>
            <a:off x="3739896" y="3227832"/>
            <a:ext cx="256032" cy="228600"/>
          </a:xfrm>
          <a:prstGeom prst="heart">
            <a:avLst/>
          </a:prstGeom>
          <a:solidFill>
            <a:srgbClr val="C9A24A"/>
          </a:solidFill>
          <a:ln/>
        </p:spPr>
      </p:sp>
      <p:sp>
        <p:nvSpPr>
          <p:cNvPr id="22" name="Text 20"/>
          <p:cNvSpPr txBox="1"/>
          <p:nvPr/>
        </p:nvSpPr>
        <p:spPr>
          <a:xfrm>
            <a:off x="4206240" y="3072384"/>
            <a:ext cx="1920240" cy="566928"/>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Đồng hành cùng giáo viên</a:t>
            </a:r>
            <a:endParaRPr lang="en-US" sz="1400" dirty="0"/>
          </a:p>
        </p:txBody>
      </p:sp>
      <p:sp>
        <p:nvSpPr>
          <p:cNvPr id="23" name="Text 21"/>
          <p:cNvSpPr txBox="1"/>
          <p:nvPr/>
        </p:nvSpPr>
        <p:spPr>
          <a:xfrm>
            <a:off x="3657600" y="3730752"/>
            <a:ext cx="2423160" cy="54864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Cùng động viên để con tự tin hơn khi đọc.</a:t>
            </a:r>
            <a:endParaRPr lang="en-US" sz="1200" dirty="0"/>
          </a:p>
        </p:txBody>
      </p:sp>
      <p:sp>
        <p:nvSpPr>
          <p:cNvPr id="24" name="Shape 22"/>
          <p:cNvSpPr/>
          <p:nvPr/>
        </p:nvSpPr>
        <p:spPr>
          <a:xfrm>
            <a:off x="6446520" y="1325880"/>
            <a:ext cx="2240280" cy="3017520"/>
          </a:xfrm>
          <a:prstGeom prst="roundRect">
            <a:avLst>
              <a:gd name="adj" fmla="val 8163"/>
            </a:avLst>
          </a:prstGeom>
          <a:solidFill>
            <a:srgbClr val="DDF1EE"/>
          </a:solidFill>
          <a:ln/>
        </p:spPr>
      </p:sp>
      <p:pic>
        <p:nvPicPr>
          <p:cNvPr id="25" name="Image 0" descr="Cú Bông">    </p:cNvPr>
          <p:cNvPicPr>
            <a:picLocks noChangeAspect="1"/>
          </p:cNvPicPr>
          <p:nvPr/>
        </p:nvPicPr>
        <p:blipFill>
          <a:blip r:embed="rId1"/>
          <a:stretch>
            <a:fillRect/>
          </a:stretch>
        </p:blipFill>
        <p:spPr>
          <a:xfrm>
            <a:off x="6492240" y="1463040"/>
            <a:ext cx="2148840" cy="2148840"/>
          </a:xfrm>
          <a:prstGeom prst="rect">
            <a:avLst/>
          </a:prstGeom>
        </p:spPr>
      </p:pic>
      <p:sp>
        <p:nvSpPr>
          <p:cNvPr id="26" name="Text 23"/>
          <p:cNvSpPr txBox="1"/>
          <p:nvPr/>
        </p:nvSpPr>
        <p:spPr>
          <a:xfrm>
            <a:off x="6583680" y="3611880"/>
            <a:ext cx="1965960" cy="365760"/>
          </a:xfrm>
          <a:prstGeom prst="rect">
            <a:avLst/>
          </a:prstGeom>
          <a:noFill/>
          <a:ln/>
        </p:spPr>
        <p:txBody>
          <a:bodyPr wrap="square" lIns="0" tIns="0" rIns="0" bIns="0" rtlCol="0" anchor="ctr"/>
          <a:lstStyle/>
          <a:p>
            <a:pPr algn="ctr" indent="0" marL="0">
              <a:buNone/>
            </a:pPr>
            <a:r>
              <a:rPr lang="en-US" sz="1300" b="1" dirty="0">
                <a:solidFill>
                  <a:srgbClr val="0F2447"/>
                </a:solidFill>
                <a:latin typeface="Cambria" pitchFamily="34" charset="0"/>
                <a:ea typeface="Cambria" pitchFamily="34" charset="-122"/>
                <a:cs typeface="Cambria" pitchFamily="34" charset="-120"/>
              </a:rPr>
              <a:t>Cú Bông đồng hành</a:t>
            </a:r>
            <a:endParaRPr lang="en-US" sz="1300" dirty="0"/>
          </a:p>
        </p:txBody>
      </p:sp>
      <p:sp>
        <p:nvSpPr>
          <p:cNvPr id="27" name="Shape 24"/>
          <p:cNvSpPr/>
          <p:nvPr/>
        </p:nvSpPr>
        <p:spPr>
          <a:xfrm>
            <a:off x="6583680" y="3977640"/>
            <a:ext cx="1984248" cy="256032"/>
          </a:xfrm>
          <a:prstGeom prst="roundRect">
            <a:avLst>
              <a:gd name="adj" fmla="val 50000"/>
            </a:avLst>
          </a:prstGeom>
          <a:solidFill>
            <a:srgbClr val="FFFFFF"/>
          </a:solidFill>
          <a:ln w="15875">
            <a:solidFill>
              <a:srgbClr val="5B6678"/>
            </a:solidFill>
            <a:prstDash val="solid"/>
          </a:ln>
        </p:spPr>
      </p:sp>
      <p:sp>
        <p:nvSpPr>
          <p:cNvPr id="28" name="Text 25"/>
          <p:cNvSpPr txBox="1"/>
          <p:nvPr/>
        </p:nvSpPr>
        <p:spPr>
          <a:xfrm>
            <a:off x="6583680" y="3977640"/>
            <a:ext cx="1984248" cy="256032"/>
          </a:xfrm>
          <a:prstGeom prst="rect">
            <a:avLst/>
          </a:prstGeom>
          <a:noFill/>
          <a:ln/>
        </p:spPr>
        <p:txBody>
          <a:bodyPr wrap="square" lIns="0" tIns="0" rIns="0" bIns="0" rtlCol="0" anchor="ctr"/>
          <a:lstStyle/>
          <a:p>
            <a:pPr algn="ctr" indent="0" marL="0">
              <a:buNone/>
            </a:pPr>
            <a:r>
              <a:rPr lang="en-US" sz="1000" b="1" dirty="0">
                <a:solidFill>
                  <a:srgbClr val="5B6678"/>
                </a:solidFill>
                <a:latin typeface="Calibri" pitchFamily="34" charset="0"/>
                <a:ea typeface="Calibri" pitchFamily="34" charset="-122"/>
                <a:cs typeface="Calibri" pitchFamily="34" charset="-120"/>
              </a:rPr>
              <a:t>GÓC PHỤ HUYNH: DỰ KIẾN</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AN TOÀN</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An toàn và phù hợp với học sinh nhỏ tuổi</a:t>
            </a:r>
            <a:endParaRPr lang="en-US" sz="3000" dirty="0"/>
          </a:p>
        </p:txBody>
      </p:sp>
      <p:sp>
        <p:nvSpPr>
          <p:cNvPr id="4" name="Shape 2"/>
          <p:cNvSpPr/>
          <p:nvPr/>
        </p:nvSpPr>
        <p:spPr>
          <a:xfrm>
            <a:off x="548640" y="1325880"/>
            <a:ext cx="288036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5" name="Shape 3"/>
          <p:cNvSpPr/>
          <p:nvPr/>
        </p:nvSpPr>
        <p:spPr>
          <a:xfrm>
            <a:off x="713232" y="1490472"/>
            <a:ext cx="502920" cy="502920"/>
          </a:xfrm>
          <a:prstGeom prst="ellipse">
            <a:avLst/>
          </a:prstGeom>
          <a:solidFill>
            <a:srgbClr val="0F2447"/>
          </a:solidFill>
          <a:ln/>
        </p:spPr>
      </p:sp>
      <p:sp>
        <p:nvSpPr>
          <p:cNvPr id="6" name="Shape 4"/>
          <p:cNvSpPr/>
          <p:nvPr/>
        </p:nvSpPr>
        <p:spPr>
          <a:xfrm>
            <a:off x="841248" y="1627632"/>
            <a:ext cx="246888" cy="228600"/>
          </a:xfrm>
          <a:prstGeom prst="roundRect">
            <a:avLst/>
          </a:prstGeom>
          <a:solidFill>
            <a:srgbClr val="C9A24A"/>
          </a:solidFill>
          <a:ln/>
        </p:spPr>
      </p:sp>
      <p:sp>
        <p:nvSpPr>
          <p:cNvPr id="7" name="Text 5"/>
          <p:cNvSpPr txBox="1"/>
          <p:nvPr/>
        </p:nvSpPr>
        <p:spPr>
          <a:xfrm>
            <a:off x="1353312" y="1490472"/>
            <a:ext cx="1965960" cy="502920"/>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Giao diện thân thiện</a:t>
            </a:r>
            <a:endParaRPr lang="en-US" sz="1400" dirty="0"/>
          </a:p>
        </p:txBody>
      </p:sp>
      <p:sp>
        <p:nvSpPr>
          <p:cNvPr id="8" name="Text 6"/>
          <p:cNvSpPr txBox="1"/>
          <p:nvPr/>
        </p:nvSpPr>
        <p:spPr>
          <a:xfrm>
            <a:off x="731520" y="2103120"/>
            <a:ext cx="2560320" cy="64008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Nút bấm lớn, mỗi màn hình một nhiệm vụ, chữ to rõ.</a:t>
            </a:r>
            <a:endParaRPr lang="en-US" sz="1200" dirty="0"/>
          </a:p>
        </p:txBody>
      </p:sp>
      <p:sp>
        <p:nvSpPr>
          <p:cNvPr id="9" name="Shape 7"/>
          <p:cNvSpPr/>
          <p:nvPr/>
        </p:nvSpPr>
        <p:spPr>
          <a:xfrm>
            <a:off x="3611880" y="1325880"/>
            <a:ext cx="288036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0" name="Shape 8"/>
          <p:cNvSpPr/>
          <p:nvPr/>
        </p:nvSpPr>
        <p:spPr>
          <a:xfrm>
            <a:off x="3776472" y="1490472"/>
            <a:ext cx="502920" cy="502920"/>
          </a:xfrm>
          <a:prstGeom prst="ellipse">
            <a:avLst/>
          </a:prstGeom>
          <a:solidFill>
            <a:srgbClr val="0F2447"/>
          </a:solidFill>
          <a:ln/>
        </p:spPr>
      </p:sp>
      <p:sp>
        <p:nvSpPr>
          <p:cNvPr id="11" name="Shape 9"/>
          <p:cNvSpPr/>
          <p:nvPr/>
        </p:nvSpPr>
        <p:spPr>
          <a:xfrm>
            <a:off x="3904488" y="1627632"/>
            <a:ext cx="246888" cy="228600"/>
          </a:xfrm>
          <a:prstGeom prst="star5">
            <a:avLst/>
          </a:prstGeom>
          <a:solidFill>
            <a:srgbClr val="C9A24A"/>
          </a:solidFill>
          <a:ln/>
        </p:spPr>
      </p:sp>
      <p:sp>
        <p:nvSpPr>
          <p:cNvPr id="12" name="Text 10"/>
          <p:cNvSpPr txBox="1"/>
          <p:nvPr/>
        </p:nvSpPr>
        <p:spPr>
          <a:xfrm>
            <a:off x="4416552" y="1490472"/>
            <a:ext cx="1965960" cy="502920"/>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Phản hồi tích cực</a:t>
            </a:r>
            <a:endParaRPr lang="en-US" sz="1400" dirty="0"/>
          </a:p>
        </p:txBody>
      </p:sp>
      <p:sp>
        <p:nvSpPr>
          <p:cNvPr id="13" name="Text 11"/>
          <p:cNvSpPr txBox="1"/>
          <p:nvPr/>
        </p:nvSpPr>
        <p:spPr>
          <a:xfrm>
            <a:off x="3794760" y="2103120"/>
            <a:ext cx="2560320" cy="64008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Không gây sợ hãi. Không quảng cáo, không liên kết ra ngoài, không ô gõ tự do.</a:t>
            </a:r>
            <a:endParaRPr lang="en-US" sz="1200" dirty="0"/>
          </a:p>
        </p:txBody>
      </p:sp>
      <p:sp>
        <p:nvSpPr>
          <p:cNvPr id="14" name="Shape 12"/>
          <p:cNvSpPr/>
          <p:nvPr/>
        </p:nvSpPr>
        <p:spPr>
          <a:xfrm>
            <a:off x="548640" y="2971800"/>
            <a:ext cx="288036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5" name="Shape 13"/>
          <p:cNvSpPr/>
          <p:nvPr/>
        </p:nvSpPr>
        <p:spPr>
          <a:xfrm>
            <a:off x="713232" y="3136392"/>
            <a:ext cx="502920" cy="502920"/>
          </a:xfrm>
          <a:prstGeom prst="ellipse">
            <a:avLst/>
          </a:prstGeom>
          <a:solidFill>
            <a:srgbClr val="0F2447"/>
          </a:solidFill>
          <a:ln/>
        </p:spPr>
      </p:sp>
      <p:sp>
        <p:nvSpPr>
          <p:cNvPr id="16" name="Shape 14"/>
          <p:cNvSpPr/>
          <p:nvPr/>
        </p:nvSpPr>
        <p:spPr>
          <a:xfrm>
            <a:off x="841248" y="3273552"/>
            <a:ext cx="246888" cy="228600"/>
          </a:xfrm>
          <a:prstGeom prst="heart">
            <a:avLst/>
          </a:prstGeom>
          <a:solidFill>
            <a:srgbClr val="C9A24A"/>
          </a:solidFill>
          <a:ln/>
        </p:spPr>
      </p:sp>
      <p:sp>
        <p:nvSpPr>
          <p:cNvPr id="17" name="Text 15"/>
          <p:cNvSpPr txBox="1"/>
          <p:nvPr/>
        </p:nvSpPr>
        <p:spPr>
          <a:xfrm>
            <a:off x="1353312" y="3136392"/>
            <a:ext cx="1965960" cy="502920"/>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Tôn trọng thông tin của con</a:t>
            </a:r>
            <a:endParaRPr lang="en-US" sz="1400" dirty="0"/>
          </a:p>
        </p:txBody>
      </p:sp>
      <p:sp>
        <p:nvSpPr>
          <p:cNvPr id="18" name="Text 16"/>
          <p:cNvSpPr txBox="1"/>
          <p:nvPr/>
        </p:nvSpPr>
        <p:spPr>
          <a:xfrm>
            <a:off x="731520" y="3749040"/>
            <a:ext cx="2560320" cy="64008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Chỉ dùng biệt danh; không thu thập họ tên, ảnh thật, giọng nói. Học sinh không trò chuyện với AI.</a:t>
            </a:r>
            <a:endParaRPr lang="en-US" sz="1200" dirty="0"/>
          </a:p>
        </p:txBody>
      </p:sp>
      <p:sp>
        <p:nvSpPr>
          <p:cNvPr id="19" name="Shape 17"/>
          <p:cNvSpPr/>
          <p:nvPr/>
        </p:nvSpPr>
        <p:spPr>
          <a:xfrm>
            <a:off x="3611880" y="2971800"/>
            <a:ext cx="2880360" cy="1463040"/>
          </a:xfrm>
          <a:prstGeom prst="roundRect">
            <a:avLst>
              <a:gd name="adj" fmla="val 7500"/>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0" name="Shape 18"/>
          <p:cNvSpPr/>
          <p:nvPr/>
        </p:nvSpPr>
        <p:spPr>
          <a:xfrm>
            <a:off x="3776472" y="3136392"/>
            <a:ext cx="502920" cy="502920"/>
          </a:xfrm>
          <a:prstGeom prst="ellipse">
            <a:avLst/>
          </a:prstGeom>
          <a:solidFill>
            <a:srgbClr val="0F2447"/>
          </a:solidFill>
          <a:ln/>
        </p:spPr>
      </p:sp>
      <p:sp>
        <p:nvSpPr>
          <p:cNvPr id="21" name="Shape 19"/>
          <p:cNvSpPr/>
          <p:nvPr/>
        </p:nvSpPr>
        <p:spPr>
          <a:xfrm>
            <a:off x="3904488" y="3273552"/>
            <a:ext cx="246888" cy="228600"/>
          </a:xfrm>
          <a:prstGeom prst="hexagon">
            <a:avLst/>
          </a:prstGeom>
          <a:solidFill>
            <a:srgbClr val="C9A24A"/>
          </a:solidFill>
          <a:ln/>
        </p:spPr>
      </p:sp>
      <p:sp>
        <p:nvSpPr>
          <p:cNvPr id="22" name="Text 20"/>
          <p:cNvSpPr txBox="1"/>
          <p:nvPr/>
        </p:nvSpPr>
        <p:spPr>
          <a:xfrm>
            <a:off x="4416552" y="3136392"/>
            <a:ext cx="1965960" cy="502920"/>
          </a:xfrm>
          <a:prstGeom prst="rect">
            <a:avLst/>
          </a:prstGeom>
          <a:noFill/>
          <a:ln/>
        </p:spPr>
        <p:txBody>
          <a:bodyPr wrap="square" lIns="0" tIns="0" rIns="0" bIns="0" rtlCol="0" anchor="ctr"/>
          <a:lstStyle/>
          <a:p>
            <a:pPr indent="0" marL="0">
              <a:buNone/>
            </a:pPr>
            <a:r>
              <a:rPr lang="en-US" sz="1400" b="1" dirty="0">
                <a:solidFill>
                  <a:srgbClr val="0F2447"/>
                </a:solidFill>
                <a:latin typeface="Cambria" pitchFamily="34" charset="0"/>
                <a:ea typeface="Cambria" pitchFamily="34" charset="-122"/>
                <a:cs typeface="Cambria" pitchFamily="34" charset="-120"/>
              </a:rPr>
              <a:t>Đồng ý và kiểm soát</a:t>
            </a:r>
            <a:endParaRPr lang="en-US" sz="1400" dirty="0"/>
          </a:p>
        </p:txBody>
      </p:sp>
      <p:sp>
        <p:nvSpPr>
          <p:cNvPr id="23" name="Text 21"/>
          <p:cNvSpPr txBox="1"/>
          <p:nvPr/>
        </p:nvSpPr>
        <p:spPr>
          <a:xfrm>
            <a:off x="3794760" y="3749040"/>
            <a:ext cx="2560320" cy="640080"/>
          </a:xfrm>
          <a:prstGeom prst="rect">
            <a:avLst/>
          </a:prstGeom>
          <a:noFill/>
          <a:ln/>
        </p:spPr>
        <p:txBody>
          <a:bodyPr wrap="square" lIns="0" tIns="0" rIns="0" bIns="0" rtlCol="0" anchor="t"/>
          <a:lstStyle/>
          <a:p>
            <a:pPr indent="0" marL="0">
              <a:buNone/>
            </a:pPr>
            <a:r>
              <a:rPr lang="en-US" sz="1200" dirty="0">
                <a:solidFill>
                  <a:srgbClr val="566175"/>
                </a:solidFill>
                <a:latin typeface="Calibri" pitchFamily="34" charset="0"/>
                <a:ea typeface="Calibri" pitchFamily="34" charset="-122"/>
                <a:cs typeface="Calibri" pitchFamily="34" charset="-120"/>
              </a:rPr>
              <a:t>Chỉ ghi dữ liệu khi phụ huynh đồng ý. Bảng xếp hạng chỉ trong lớp, mặc định tắt.</a:t>
            </a:r>
            <a:endParaRPr lang="en-US" sz="1200" dirty="0"/>
          </a:p>
        </p:txBody>
      </p:sp>
      <p:sp>
        <p:nvSpPr>
          <p:cNvPr id="24" name="Shape 22"/>
          <p:cNvSpPr/>
          <p:nvPr/>
        </p:nvSpPr>
        <p:spPr>
          <a:xfrm>
            <a:off x="6766560" y="1325880"/>
            <a:ext cx="1920240" cy="3108960"/>
          </a:xfrm>
          <a:prstGeom prst="roundRect">
            <a:avLst>
              <a:gd name="adj" fmla="val 9524"/>
            </a:avLst>
          </a:prstGeom>
          <a:solidFill>
            <a:srgbClr val="F5EBCF"/>
          </a:solidFill>
          <a:ln/>
        </p:spPr>
      </p:sp>
      <p:pic>
        <p:nvPicPr>
          <p:cNvPr id="25" name="Image 0" descr="Bạn nhỏ thám hiểm">    </p:cNvPr>
          <p:cNvPicPr>
            <a:picLocks noChangeAspect="1"/>
          </p:cNvPicPr>
          <p:nvPr/>
        </p:nvPicPr>
        <p:blipFill>
          <a:blip r:embed="rId1"/>
          <a:stretch>
            <a:fillRect/>
          </a:stretch>
        </p:blipFill>
        <p:spPr>
          <a:xfrm>
            <a:off x="6766560" y="1463040"/>
            <a:ext cx="1920240" cy="1920240"/>
          </a:xfrm>
          <a:prstGeom prst="rect">
            <a:avLst/>
          </a:prstGeom>
        </p:spPr>
      </p:pic>
      <p:sp>
        <p:nvSpPr>
          <p:cNvPr id="26" name="Text 23"/>
          <p:cNvSpPr txBox="1"/>
          <p:nvPr/>
        </p:nvSpPr>
        <p:spPr>
          <a:xfrm>
            <a:off x="6858000" y="3474720"/>
            <a:ext cx="1737360" cy="731520"/>
          </a:xfrm>
          <a:prstGeom prst="rect">
            <a:avLst/>
          </a:prstGeom>
          <a:noFill/>
          <a:ln/>
        </p:spPr>
        <p:txBody>
          <a:bodyPr wrap="square" lIns="0" tIns="0" rIns="0" bIns="0" rtlCol="0" anchor="ctr"/>
          <a:lstStyle/>
          <a:p>
            <a:pPr algn="ctr" indent="0" marL="0">
              <a:buNone/>
            </a:pPr>
            <a:r>
              <a:rPr lang="en-US" sz="1400" b="1" dirty="0">
                <a:solidFill>
                  <a:srgbClr val="0F2447"/>
                </a:solidFill>
                <a:latin typeface="Cambria" pitchFamily="34" charset="0"/>
                <a:ea typeface="Cambria" pitchFamily="34" charset="-122"/>
                <a:cs typeface="Cambria" pitchFamily="34" charset="-120"/>
              </a:rPr>
              <a:t>Trẻ em là ưu tiên số một</a:t>
            </a:r>
            <a:endParaRPr lang="en-US" sz="14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KẾT QUẢ</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Những gì dự án đã thực hiện</a:t>
            </a:r>
            <a:endParaRPr lang="en-US" sz="3000" dirty="0"/>
          </a:p>
        </p:txBody>
      </p:sp>
      <p:sp>
        <p:nvSpPr>
          <p:cNvPr id="4" name="Shape 2"/>
          <p:cNvSpPr/>
          <p:nvPr/>
        </p:nvSpPr>
        <p:spPr>
          <a:xfrm>
            <a:off x="548640" y="1280160"/>
            <a:ext cx="4572000" cy="2560320"/>
          </a:xfrm>
          <a:prstGeom prst="roundRect">
            <a:avLst>
              <a:gd name="adj" fmla="val 428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5" name="Shape 3"/>
          <p:cNvSpPr/>
          <p:nvPr/>
        </p:nvSpPr>
        <p:spPr>
          <a:xfrm>
            <a:off x="731520" y="1389888"/>
            <a:ext cx="662940" cy="256032"/>
          </a:xfrm>
          <a:prstGeom prst="roundRect">
            <a:avLst>
              <a:gd name="adj" fmla="val 50000"/>
            </a:avLst>
          </a:prstGeom>
          <a:solidFill>
            <a:srgbClr val="FFFFFF"/>
          </a:solidFill>
          <a:ln w="15875">
            <a:solidFill>
              <a:srgbClr val="0E8A7D"/>
            </a:solidFill>
            <a:prstDash val="solid"/>
          </a:ln>
        </p:spPr>
      </p:sp>
      <p:sp>
        <p:nvSpPr>
          <p:cNvPr id="6" name="Text 4"/>
          <p:cNvSpPr txBox="1"/>
          <p:nvPr/>
        </p:nvSpPr>
        <p:spPr>
          <a:xfrm>
            <a:off x="731520" y="1389888"/>
            <a:ext cx="662940" cy="256032"/>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a:t>
            </a:r>
            <a:endParaRPr lang="en-US" sz="1000" dirty="0"/>
          </a:p>
        </p:txBody>
      </p:sp>
      <p:sp>
        <p:nvSpPr>
          <p:cNvPr id="7" name="Text 5"/>
          <p:cNvSpPr txBox="1"/>
          <p:nvPr/>
        </p:nvSpPr>
        <p:spPr>
          <a:xfrm>
            <a:off x="777240" y="1755648"/>
            <a:ext cx="4206240" cy="2907792"/>
          </a:xfrm>
          <a:prstGeom prst="rect">
            <a:avLst/>
          </a:prstGeom>
          <a:noFill/>
          <a:ln/>
        </p:spPr>
        <p:txBody>
          <a:bodyPr wrap="square" lIns="0" tIns="0" rIns="0" bIns="0" rtlCol="0" anchor="t"/>
          <a:lstStyle/>
          <a:p>
            <a:pPr marL="203200" indent="-203200">
              <a:spcAft>
                <a:spcPts val="400"/>
              </a:spcAft>
              <a:buSzPct val="100000"/>
              <a:buChar char="•"/>
            </a:pPr>
            <a:r>
              <a:rPr lang="en-US" sz="1300" dirty="0">
                <a:solidFill>
                  <a:srgbClr val="1F2A3C"/>
                </a:solidFill>
                <a:latin typeface="Calibri" pitchFamily="34" charset="0"/>
                <a:ea typeface="Calibri" pitchFamily="34" charset="-122"/>
                <a:cs typeface="Calibri" pitchFamily="34" charset="-120"/>
              </a:rPr>
              <a:t>Bài luyện sáu dạng với hỗ trợ giảm dần</a:t>
            </a:r>
            <a:endParaRPr lang="en-US" sz="1300" dirty="0"/>
          </a:p>
          <a:p>
            <a:pPr marL="203200" indent="-203200">
              <a:spcAft>
                <a:spcPts val="400"/>
              </a:spcAft>
              <a:buSzPct val="100000"/>
              <a:buChar char="•"/>
            </a:pPr>
            <a:r>
              <a:rPr lang="en-US" sz="1300" dirty="0">
                <a:solidFill>
                  <a:srgbClr val="1F2A3C"/>
                </a:solidFill>
                <a:latin typeface="Calibri" pitchFamily="34" charset="0"/>
                <a:ea typeface="Calibri" pitchFamily="34" charset="-122"/>
                <a:cs typeface="Calibri" pitchFamily="34" charset="-120"/>
              </a:rPr>
              <a:t>Giao diện học sinh; khu giáo viên (lớp, học sinh, thẻ học)</a:t>
            </a:r>
            <a:endParaRPr lang="en-US" sz="1300" dirty="0"/>
          </a:p>
          <a:p>
            <a:pPr marL="203200" indent="-203200">
              <a:spcAft>
                <a:spcPts val="400"/>
              </a:spcAft>
              <a:buSzPct val="100000"/>
              <a:buChar char="•"/>
            </a:pPr>
            <a:r>
              <a:rPr lang="en-US" sz="1300" dirty="0">
                <a:solidFill>
                  <a:srgbClr val="1F2A3C"/>
                </a:solidFill>
                <a:latin typeface="Calibri" pitchFamily="34" charset="0"/>
                <a:ea typeface="Calibri" pitchFamily="34" charset="-122"/>
                <a:cs typeface="Calibri" pitchFamily="34" charset="-120"/>
              </a:rPr>
              <a:t>Điểm thưởng chấm trên máy chủ, bản đồ khám phá</a:t>
            </a:r>
            <a:endParaRPr lang="en-US" sz="1300" dirty="0"/>
          </a:p>
          <a:p>
            <a:pPr marL="203200" indent="-203200">
              <a:spcAft>
                <a:spcPts val="400"/>
              </a:spcAft>
              <a:buSzPct val="100000"/>
              <a:buChar char="•"/>
            </a:pPr>
            <a:r>
              <a:rPr lang="en-US" sz="1300" dirty="0">
                <a:solidFill>
                  <a:srgbClr val="1F2A3C"/>
                </a:solidFill>
                <a:latin typeface="Calibri" pitchFamily="34" charset="0"/>
                <a:ea typeface="Calibri" pitchFamily="34" charset="-122"/>
                <a:cs typeface="Calibri" pitchFamily="34" charset="-120"/>
              </a:rPr>
              <a:t>Bản chơi thử Mê cung: điều khiển, tạm dừng, lưu tiến độ</a:t>
            </a:r>
            <a:endParaRPr lang="en-US" sz="1300" dirty="0"/>
          </a:p>
          <a:p>
            <a:pPr marL="203200" indent="-203200">
              <a:spcAft>
                <a:spcPts val="400"/>
              </a:spcAft>
              <a:buSzPct val="100000"/>
              <a:buChar char="•"/>
            </a:pPr>
            <a:r>
              <a:rPr lang="en-US" sz="1300" dirty="0">
                <a:solidFill>
                  <a:srgbClr val="1F2A3C"/>
                </a:solidFill>
                <a:latin typeface="Calibri" pitchFamily="34" charset="0"/>
                <a:ea typeface="Calibri" pitchFamily="34" charset="-122"/>
                <a:cs typeface="Calibri" pitchFamily="34" charset="-120"/>
              </a:rPr>
              <a:t>Nền tảng 7 chạm trán và 21 câu hỏi mỗi màn</a:t>
            </a:r>
            <a:endParaRPr lang="en-US" sz="1300" dirty="0"/>
          </a:p>
          <a:p>
            <a:pPr marL="203200" indent="-203200">
              <a:spcAft>
                <a:spcPts val="400"/>
              </a:spcAft>
              <a:buSzPct val="100000"/>
              <a:buChar char="•"/>
            </a:pPr>
            <a:r>
              <a:rPr lang="en-US" sz="1300" dirty="0">
                <a:solidFill>
                  <a:srgbClr val="1F2A3C"/>
                </a:solidFill>
                <a:latin typeface="Calibri" pitchFamily="34" charset="0"/>
                <a:ea typeface="Calibri" pitchFamily="34" charset="-122"/>
                <a:cs typeface="Calibri" pitchFamily="34" charset="-120"/>
              </a:rPr>
              <a:t>Các đợt kiểm thử tự động chức năng và giao diện</a:t>
            </a:r>
            <a:endParaRPr lang="en-US" sz="1300" dirty="0"/>
          </a:p>
        </p:txBody>
      </p:sp>
      <p:sp>
        <p:nvSpPr>
          <p:cNvPr id="8" name="Shape 6"/>
          <p:cNvSpPr/>
          <p:nvPr/>
        </p:nvSpPr>
        <p:spPr>
          <a:xfrm>
            <a:off x="5303520" y="1280160"/>
            <a:ext cx="3383280" cy="2560320"/>
          </a:xfrm>
          <a:prstGeom prst="roundRect">
            <a:avLst>
              <a:gd name="adj" fmla="val 4286"/>
            </a:avLst>
          </a:prstGeom>
          <a:solidFill>
            <a:srgbClr val="FDF6EC"/>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9" name="Shape 7"/>
          <p:cNvSpPr/>
          <p:nvPr/>
        </p:nvSpPr>
        <p:spPr>
          <a:xfrm>
            <a:off x="5486400" y="1389888"/>
            <a:ext cx="2372868" cy="256032"/>
          </a:xfrm>
          <a:prstGeom prst="roundRect">
            <a:avLst>
              <a:gd name="adj" fmla="val 50000"/>
            </a:avLst>
          </a:prstGeom>
          <a:solidFill>
            <a:srgbClr val="FFFFFF"/>
          </a:solidFill>
          <a:ln w="15875">
            <a:solidFill>
              <a:srgbClr val="B8561F"/>
            </a:solidFill>
            <a:prstDash val="solid"/>
          </a:ln>
        </p:spPr>
      </p:sp>
      <p:sp>
        <p:nvSpPr>
          <p:cNvPr id="10" name="Text 8"/>
          <p:cNvSpPr txBox="1"/>
          <p:nvPr/>
        </p:nvSpPr>
        <p:spPr>
          <a:xfrm>
            <a:off x="5486400" y="1389888"/>
            <a:ext cx="2372868" cy="256032"/>
          </a:xfrm>
          <a:prstGeom prst="rect">
            <a:avLst/>
          </a:prstGeom>
          <a:noFill/>
          <a:ln/>
        </p:spPr>
        <p:txBody>
          <a:bodyPr wrap="square" lIns="0" tIns="0" rIns="0" bIns="0" rtlCol="0" anchor="ctr"/>
          <a:lstStyle/>
          <a:p>
            <a:pPr algn="ctr" indent="0" marL="0">
              <a:buNone/>
            </a:pPr>
            <a:r>
              <a:rPr lang="en-US" sz="1000" b="1" dirty="0">
                <a:solidFill>
                  <a:srgbClr val="B8561F"/>
                </a:solidFill>
                <a:latin typeface="Calibri" pitchFamily="34" charset="0"/>
                <a:ea typeface="Calibri" pitchFamily="34" charset="-122"/>
                <a:cs typeface="Calibri" pitchFamily="34" charset="-120"/>
              </a:rPr>
              <a:t>ĐANG HOÀN THIỆN / CHỜ DUYỆT</a:t>
            </a:r>
            <a:endParaRPr lang="en-US" sz="1000" dirty="0"/>
          </a:p>
        </p:txBody>
      </p:sp>
      <p:sp>
        <p:nvSpPr>
          <p:cNvPr id="11" name="Text 9"/>
          <p:cNvSpPr txBox="1"/>
          <p:nvPr/>
        </p:nvSpPr>
        <p:spPr>
          <a:xfrm>
            <a:off x="5532120" y="1755648"/>
            <a:ext cx="3017520" cy="219456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F2A3C"/>
                </a:solidFill>
                <a:latin typeface="Calibri" pitchFamily="34" charset="0"/>
                <a:ea typeface="Calibri" pitchFamily="34" charset="-122"/>
                <a:cs typeface="Calibri" pitchFamily="34" charset="-120"/>
              </a:rPr>
              <a:t>Chạm trán học tập hoàn chỉnh trong Mê cung</a:t>
            </a:r>
            <a:endParaRPr lang="en-US" sz="1300" dirty="0"/>
          </a:p>
          <a:p>
            <a:pPr marL="203200" indent="-203200">
              <a:spcAft>
                <a:spcPts val="600"/>
              </a:spcAft>
              <a:buSzPct val="100000"/>
              <a:buChar char="•"/>
            </a:pPr>
            <a:r>
              <a:rPr lang="en-US" sz="1300" dirty="0">
                <a:solidFill>
                  <a:srgbClr val="1F2A3C"/>
                </a:solidFill>
                <a:latin typeface="Calibri" pitchFamily="34" charset="0"/>
                <a:ea typeface="Calibri" pitchFamily="34" charset="-122"/>
                <a:cs typeface="Calibri" pitchFamily="34" charset="-120"/>
              </a:rPr>
              <a:t>Học liệu thật chờ giáo viên duyệt</a:t>
            </a:r>
            <a:endParaRPr lang="en-US" sz="1300" dirty="0"/>
          </a:p>
          <a:p>
            <a:pPr marL="203200" indent="-203200">
              <a:spcAft>
                <a:spcPts val="600"/>
              </a:spcAft>
              <a:buSzPct val="100000"/>
              <a:buChar char="•"/>
            </a:pPr>
            <a:r>
              <a:rPr lang="en-US" sz="1300" dirty="0">
                <a:solidFill>
                  <a:srgbClr val="1F2A3C"/>
                </a:solidFill>
                <a:latin typeface="Calibri" pitchFamily="34" charset="0"/>
                <a:ea typeface="Calibri" pitchFamily="34" charset="-122"/>
                <a:cs typeface="Calibri" pitchFamily="34" charset="-120"/>
              </a:rPr>
              <a:t>Âm thanh đọc Tiếng Việt</a:t>
            </a:r>
            <a:endParaRPr lang="en-US" sz="1300" dirty="0"/>
          </a:p>
          <a:p>
            <a:pPr marL="203200" indent="-203200">
              <a:spcAft>
                <a:spcPts val="600"/>
              </a:spcAft>
              <a:buSzPct val="100000"/>
              <a:buChar char="•"/>
            </a:pPr>
            <a:r>
              <a:rPr lang="en-US" sz="1300" dirty="0">
                <a:solidFill>
                  <a:srgbClr val="1F2A3C"/>
                </a:solidFill>
                <a:latin typeface="Calibri" pitchFamily="34" charset="0"/>
                <a:ea typeface="Calibri" pitchFamily="34" charset="-122"/>
                <a:cs typeface="Calibri" pitchFamily="34" charset="-120"/>
              </a:rPr>
              <a:t>Bảng xếp hạng, vinh danh: chưa bật cho học sinh</a:t>
            </a:r>
            <a:endParaRPr lang="en-US" sz="1300" dirty="0"/>
          </a:p>
        </p:txBody>
      </p:sp>
      <p:sp>
        <p:nvSpPr>
          <p:cNvPr id="12" name="Text 10"/>
          <p:cNvSpPr txBox="1"/>
          <p:nvPr/>
        </p:nvSpPr>
        <p:spPr>
          <a:xfrm>
            <a:off x="548640" y="3931920"/>
            <a:ext cx="8138160" cy="411480"/>
          </a:xfrm>
          <a:prstGeom prst="rect">
            <a:avLst/>
          </a:prstGeom>
          <a:noFill/>
          <a:ln/>
        </p:spPr>
        <p:txBody>
          <a:bodyPr wrap="square" lIns="0" tIns="0" rIns="0" bIns="0" rtlCol="0" anchor="ctr"/>
          <a:lstStyle/>
          <a:p>
            <a:pPr indent="0" marL="0">
              <a:buNone/>
            </a:pPr>
            <a:r>
              <a:rPr lang="en-US" sz="1400" b="1" i="1" dirty="0">
                <a:solidFill>
                  <a:srgbClr val="0F2447"/>
                </a:solidFill>
                <a:latin typeface="Calibri" pitchFamily="34" charset="0"/>
                <a:ea typeface="Calibri" pitchFamily="34" charset="-122"/>
                <a:cs typeface="Calibri" pitchFamily="34" charset="-120"/>
              </a:rPr>
              <a:t>Đang chạy thử trên máy phát triển với dữ liệu giả. Chưa triển khai chính thức, chưa thí điểm với học sinh.</a:t>
            </a:r>
            <a:endParaRPr lang="en-US" sz="1400" dirty="0"/>
          </a:p>
        </p:txBody>
      </p:sp>
      <p:sp>
        <p:nvSpPr>
          <p:cNvPr id="13" name="Text 11"/>
          <p:cNvSpPr txBox="1"/>
          <p:nvPr/>
        </p:nvSpPr>
        <p:spPr>
          <a:xfrm>
            <a:off x="548640" y="4434840"/>
            <a:ext cx="1097280" cy="256032"/>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Cách đọc nhãn:</a:t>
            </a:r>
            <a:endParaRPr lang="en-US" sz="1100" dirty="0"/>
          </a:p>
        </p:txBody>
      </p:sp>
      <p:sp>
        <p:nvSpPr>
          <p:cNvPr id="14" name="Shape 12"/>
          <p:cNvSpPr/>
          <p:nvPr/>
        </p:nvSpPr>
        <p:spPr>
          <a:xfrm>
            <a:off x="1645920" y="4434840"/>
            <a:ext cx="662940" cy="256032"/>
          </a:xfrm>
          <a:prstGeom prst="roundRect">
            <a:avLst>
              <a:gd name="adj" fmla="val 50000"/>
            </a:avLst>
          </a:prstGeom>
          <a:solidFill>
            <a:srgbClr val="FFFFFF"/>
          </a:solidFill>
          <a:ln w="15875">
            <a:solidFill>
              <a:srgbClr val="0E8A7D"/>
            </a:solidFill>
            <a:prstDash val="solid"/>
          </a:ln>
        </p:spPr>
      </p:sp>
      <p:sp>
        <p:nvSpPr>
          <p:cNvPr id="15" name="Text 13"/>
          <p:cNvSpPr txBox="1"/>
          <p:nvPr/>
        </p:nvSpPr>
        <p:spPr>
          <a:xfrm>
            <a:off x="1645920" y="4434840"/>
            <a:ext cx="662940" cy="256032"/>
          </a:xfrm>
          <a:prstGeom prst="rect">
            <a:avLst/>
          </a:prstGeom>
          <a:noFill/>
          <a:ln/>
        </p:spPr>
        <p:txBody>
          <a:bodyPr wrap="square" lIns="0" tIns="0" rIns="0" bIns="0" rtlCol="0" anchor="ctr"/>
          <a:lstStyle/>
          <a:p>
            <a:pPr algn="ctr" indent="0" marL="0">
              <a:buNone/>
            </a:pPr>
            <a:r>
              <a:rPr lang="en-US" sz="1000" b="1" dirty="0">
                <a:solidFill>
                  <a:srgbClr val="0E8A7D"/>
                </a:solidFill>
                <a:latin typeface="Calibri" pitchFamily="34" charset="0"/>
                <a:ea typeface="Calibri" pitchFamily="34" charset="-122"/>
                <a:cs typeface="Calibri" pitchFamily="34" charset="-120"/>
              </a:rPr>
              <a:t>ĐÃ CÓ</a:t>
            </a:r>
            <a:endParaRPr lang="en-US" sz="1000" dirty="0"/>
          </a:p>
        </p:txBody>
      </p:sp>
      <p:sp>
        <p:nvSpPr>
          <p:cNvPr id="16" name="Shape 14"/>
          <p:cNvSpPr/>
          <p:nvPr/>
        </p:nvSpPr>
        <p:spPr>
          <a:xfrm>
            <a:off x="2446020" y="4434840"/>
            <a:ext cx="1207008" cy="256032"/>
          </a:xfrm>
          <a:prstGeom prst="roundRect">
            <a:avLst>
              <a:gd name="adj" fmla="val 50000"/>
            </a:avLst>
          </a:prstGeom>
          <a:solidFill>
            <a:srgbClr val="FFFFFF"/>
          </a:solidFill>
          <a:ln w="15875">
            <a:solidFill>
              <a:srgbClr val="9A7416"/>
            </a:solidFill>
            <a:prstDash val="solid"/>
          </a:ln>
        </p:spPr>
      </p:sp>
      <p:sp>
        <p:nvSpPr>
          <p:cNvPr id="17" name="Text 15"/>
          <p:cNvSpPr txBox="1"/>
          <p:nvPr/>
        </p:nvSpPr>
        <p:spPr>
          <a:xfrm>
            <a:off x="2446020" y="4434840"/>
            <a:ext cx="1207008" cy="256032"/>
          </a:xfrm>
          <a:prstGeom prst="rect">
            <a:avLst/>
          </a:prstGeom>
          <a:noFill/>
          <a:ln/>
        </p:spPr>
        <p:txBody>
          <a:bodyPr wrap="square" lIns="0" tIns="0" rIns="0" bIns="0" rtlCol="0" anchor="ctr"/>
          <a:lstStyle/>
          <a:p>
            <a:pPr algn="ctr" indent="0" marL="0">
              <a:buNone/>
            </a:pPr>
            <a:r>
              <a:rPr lang="en-US" sz="1000" b="1" dirty="0">
                <a:solidFill>
                  <a:srgbClr val="9A7416"/>
                </a:solidFill>
                <a:latin typeface="Calibri" pitchFamily="34" charset="0"/>
                <a:ea typeface="Calibri" pitchFamily="34" charset="-122"/>
                <a:cs typeface="Calibri" pitchFamily="34" charset="-120"/>
              </a:rPr>
              <a:t>BẢN CHƠI THỬ</a:t>
            </a:r>
            <a:endParaRPr lang="en-US" sz="1000" dirty="0"/>
          </a:p>
        </p:txBody>
      </p:sp>
      <p:sp>
        <p:nvSpPr>
          <p:cNvPr id="18" name="Shape 16"/>
          <p:cNvSpPr/>
          <p:nvPr/>
        </p:nvSpPr>
        <p:spPr>
          <a:xfrm>
            <a:off x="3790188" y="4434840"/>
            <a:ext cx="1440180" cy="256032"/>
          </a:xfrm>
          <a:prstGeom prst="roundRect">
            <a:avLst>
              <a:gd name="adj" fmla="val 50000"/>
            </a:avLst>
          </a:prstGeom>
          <a:solidFill>
            <a:srgbClr val="FFFFFF"/>
          </a:solidFill>
          <a:ln w="15875">
            <a:solidFill>
              <a:srgbClr val="B8561F"/>
            </a:solidFill>
            <a:prstDash val="solid"/>
          </a:ln>
        </p:spPr>
      </p:sp>
      <p:sp>
        <p:nvSpPr>
          <p:cNvPr id="19" name="Text 17"/>
          <p:cNvSpPr txBox="1"/>
          <p:nvPr/>
        </p:nvSpPr>
        <p:spPr>
          <a:xfrm>
            <a:off x="3790188" y="4434840"/>
            <a:ext cx="1440180" cy="256032"/>
          </a:xfrm>
          <a:prstGeom prst="rect">
            <a:avLst/>
          </a:prstGeom>
          <a:noFill/>
          <a:ln/>
        </p:spPr>
        <p:txBody>
          <a:bodyPr wrap="square" lIns="0" tIns="0" rIns="0" bIns="0" rtlCol="0" anchor="ctr"/>
          <a:lstStyle/>
          <a:p>
            <a:pPr algn="ctr" indent="0" marL="0">
              <a:buNone/>
            </a:pPr>
            <a:r>
              <a:rPr lang="en-US" sz="1000" b="1" dirty="0">
                <a:solidFill>
                  <a:srgbClr val="B8561F"/>
                </a:solidFill>
                <a:latin typeface="Calibri" pitchFamily="34" charset="0"/>
                <a:ea typeface="Calibri" pitchFamily="34" charset="-122"/>
                <a:cs typeface="Calibri" pitchFamily="34" charset="-120"/>
              </a:rPr>
              <a:t>ĐANG HOÀN THIỆN</a:t>
            </a:r>
            <a:endParaRPr lang="en-US" sz="1000" dirty="0"/>
          </a:p>
        </p:txBody>
      </p:sp>
      <p:sp>
        <p:nvSpPr>
          <p:cNvPr id="20" name="Shape 18"/>
          <p:cNvSpPr/>
          <p:nvPr/>
        </p:nvSpPr>
        <p:spPr>
          <a:xfrm>
            <a:off x="5367528" y="4434840"/>
            <a:ext cx="818388" cy="256032"/>
          </a:xfrm>
          <a:prstGeom prst="roundRect">
            <a:avLst>
              <a:gd name="adj" fmla="val 50000"/>
            </a:avLst>
          </a:prstGeom>
          <a:solidFill>
            <a:srgbClr val="FFFFFF"/>
          </a:solidFill>
          <a:ln w="15875">
            <a:solidFill>
              <a:srgbClr val="5B6678"/>
            </a:solidFill>
            <a:prstDash val="solid"/>
          </a:ln>
        </p:spPr>
      </p:sp>
      <p:sp>
        <p:nvSpPr>
          <p:cNvPr id="21" name="Text 19"/>
          <p:cNvSpPr txBox="1"/>
          <p:nvPr/>
        </p:nvSpPr>
        <p:spPr>
          <a:xfrm>
            <a:off x="5367528" y="4434840"/>
            <a:ext cx="818388" cy="256032"/>
          </a:xfrm>
          <a:prstGeom prst="rect">
            <a:avLst/>
          </a:prstGeom>
          <a:noFill/>
          <a:ln/>
        </p:spPr>
        <p:txBody>
          <a:bodyPr wrap="square" lIns="0" tIns="0" rIns="0" bIns="0" rtlCol="0" anchor="ctr"/>
          <a:lstStyle/>
          <a:p>
            <a:pPr algn="ctr" indent="0" marL="0">
              <a:buNone/>
            </a:pPr>
            <a:r>
              <a:rPr lang="en-US" sz="1000" b="1" dirty="0">
                <a:solidFill>
                  <a:srgbClr val="5B6678"/>
                </a:solidFill>
                <a:latin typeface="Calibri" pitchFamily="34" charset="0"/>
                <a:ea typeface="Calibri" pitchFamily="34" charset="-122"/>
                <a:cs typeface="Calibri" pitchFamily="34" charset="-120"/>
              </a:rPr>
              <a:t>DỰ KIẾN</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046720" cy="256032"/>
          </a:xfrm>
          <a:prstGeom prst="rect">
            <a:avLst/>
          </a:prstGeom>
          <a:noFill/>
          <a:ln/>
        </p:spPr>
        <p:txBody>
          <a:bodyPr wrap="square" lIns="0" tIns="0" rIns="0" bIns="0" rtlCol="0" anchor="ctr"/>
          <a:lstStyle/>
          <a:p>
            <a:pPr indent="0" marL="0">
              <a:buNone/>
            </a:pPr>
            <a:r>
              <a:rPr lang="en-US" sz="1200" b="1" spc="300" kern="0" dirty="0">
                <a:solidFill>
                  <a:srgbClr val="C9A24A"/>
                </a:solidFill>
                <a:latin typeface="Calibri" pitchFamily="34" charset="0"/>
                <a:ea typeface="Calibri" pitchFamily="34" charset="-122"/>
                <a:cs typeface="Calibri" pitchFamily="34" charset="-120"/>
              </a:rPr>
              <a:t>LỘ TRÌNH</a:t>
            </a:r>
            <a:endParaRPr lang="en-US" sz="1200" dirty="0"/>
          </a:p>
        </p:txBody>
      </p:sp>
      <p:sp>
        <p:nvSpPr>
          <p:cNvPr id="3" name="Text 1"/>
          <p:cNvSpPr txBox="1"/>
          <p:nvPr/>
        </p:nvSpPr>
        <p:spPr>
          <a:xfrm>
            <a:off x="548640" y="548640"/>
            <a:ext cx="8046720" cy="566928"/>
          </a:xfrm>
          <a:prstGeom prst="rect">
            <a:avLst/>
          </a:prstGeom>
          <a:noFill/>
          <a:ln/>
        </p:spPr>
        <p:txBody>
          <a:bodyPr wrap="square" lIns="0" tIns="0" rIns="0" bIns="0" rtlCol="0" anchor="ctr"/>
          <a:lstStyle/>
          <a:p>
            <a:pPr indent="0" marL="0">
              <a:buNone/>
            </a:pPr>
            <a:r>
              <a:rPr lang="en-US" sz="3000" b="1" dirty="0">
                <a:solidFill>
                  <a:srgbClr val="0F2447"/>
                </a:solidFill>
                <a:latin typeface="Cambria" pitchFamily="34" charset="0"/>
                <a:ea typeface="Cambria" pitchFamily="34" charset="-122"/>
                <a:cs typeface="Cambria" pitchFamily="34" charset="-120"/>
              </a:rPr>
              <a:t>Hướng phát triển tiếp theo</a:t>
            </a:r>
            <a:endParaRPr lang="en-US" sz="3000" dirty="0"/>
          </a:p>
        </p:txBody>
      </p:sp>
      <p:sp>
        <p:nvSpPr>
          <p:cNvPr id="4" name="Shape 2"/>
          <p:cNvSpPr/>
          <p:nvPr/>
        </p:nvSpPr>
        <p:spPr>
          <a:xfrm>
            <a:off x="548640" y="1371600"/>
            <a:ext cx="1901952" cy="1737360"/>
          </a:xfrm>
          <a:prstGeom prst="roundRect">
            <a:avLst>
              <a:gd name="adj" fmla="val 6316"/>
            </a:avLst>
          </a:prstGeom>
          <a:solidFill>
            <a:srgbClr val="DDF1EE"/>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5" name="Shape 3"/>
          <p:cNvSpPr/>
          <p:nvPr/>
        </p:nvSpPr>
        <p:spPr>
          <a:xfrm>
            <a:off x="704088" y="1508760"/>
            <a:ext cx="365760" cy="365760"/>
          </a:xfrm>
          <a:prstGeom prst="ellipse">
            <a:avLst/>
          </a:prstGeom>
          <a:solidFill>
            <a:srgbClr val="0E8A7D"/>
          </a:solidFill>
          <a:ln/>
        </p:spPr>
      </p:sp>
      <p:sp>
        <p:nvSpPr>
          <p:cNvPr id="6" name="Text 4"/>
          <p:cNvSpPr txBox="1"/>
          <p:nvPr/>
        </p:nvSpPr>
        <p:spPr>
          <a:xfrm>
            <a:off x="704088" y="15087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704088" y="1965960"/>
            <a:ext cx="1645920" cy="502920"/>
          </a:xfrm>
          <a:prstGeom prst="rect">
            <a:avLst/>
          </a:prstGeom>
          <a:noFill/>
          <a:ln/>
        </p:spPr>
        <p:txBody>
          <a:bodyPr wrap="square" lIns="0" tIns="0" rIns="0" bIns="0" rtlCol="0" anchor="t"/>
          <a:lstStyle/>
          <a:p>
            <a:pPr indent="0" marL="0">
              <a:buNone/>
            </a:pPr>
            <a:r>
              <a:rPr lang="en-US" sz="1400" b="1" dirty="0">
                <a:solidFill>
                  <a:srgbClr val="0F2447"/>
                </a:solidFill>
                <a:latin typeface="Cambria" pitchFamily="34" charset="0"/>
                <a:ea typeface="Cambria" pitchFamily="34" charset="-122"/>
                <a:cs typeface="Cambria" pitchFamily="34" charset="-120"/>
              </a:rPr>
              <a:t>Hoàn thiện Mê cung</a:t>
            </a:r>
            <a:endParaRPr lang="en-US" sz="1400" dirty="0"/>
          </a:p>
        </p:txBody>
      </p:sp>
      <p:sp>
        <p:nvSpPr>
          <p:cNvPr id="8" name="Text 6"/>
          <p:cNvSpPr txBox="1"/>
          <p:nvPr/>
        </p:nvSpPr>
        <p:spPr>
          <a:xfrm>
            <a:off x="704088" y="2487168"/>
            <a:ext cx="1645920" cy="548640"/>
          </a:xfrm>
          <a:prstGeom prst="rect">
            <a:avLst/>
          </a:prstGeom>
          <a:noFill/>
          <a:ln/>
        </p:spPr>
        <p:txBody>
          <a:bodyPr wrap="square" lIns="0" tIns="0" rIns="0" bIns="0" rtlCol="0" anchor="t"/>
          <a:lstStyle/>
          <a:p>
            <a:pPr indent="0" marL="0">
              <a:buNone/>
            </a:pPr>
            <a:r>
              <a:rPr lang="en-US" sz="1100" dirty="0">
                <a:solidFill>
                  <a:srgbClr val="566175"/>
                </a:solidFill>
                <a:latin typeface="Calibri" pitchFamily="34" charset="0"/>
                <a:ea typeface="Calibri" pitchFamily="34" charset="-122"/>
                <a:cs typeface="Calibri" pitchFamily="34" charset="-120"/>
              </a:rPr>
              <a:t>Chạm trán, chấm điểm, kho báu</a:t>
            </a:r>
            <a:endParaRPr lang="en-US" sz="1100" dirty="0"/>
          </a:p>
        </p:txBody>
      </p:sp>
      <p:sp>
        <p:nvSpPr>
          <p:cNvPr id="9" name="Shape 7"/>
          <p:cNvSpPr/>
          <p:nvPr/>
        </p:nvSpPr>
        <p:spPr>
          <a:xfrm rot="5400000">
            <a:off x="2468880" y="2148840"/>
            <a:ext cx="128016" cy="182880"/>
          </a:xfrm>
          <a:prstGeom prst="triangle">
            <a:avLst/>
          </a:prstGeom>
          <a:solidFill>
            <a:srgbClr val="C9A24A"/>
          </a:solidFill>
          <a:ln/>
        </p:spPr>
      </p:sp>
      <p:sp>
        <p:nvSpPr>
          <p:cNvPr id="10" name="Shape 8"/>
          <p:cNvSpPr/>
          <p:nvPr/>
        </p:nvSpPr>
        <p:spPr>
          <a:xfrm>
            <a:off x="2633472" y="1371600"/>
            <a:ext cx="1901952" cy="1737360"/>
          </a:xfrm>
          <a:prstGeom prst="roundRect">
            <a:avLst>
              <a:gd name="adj" fmla="val 631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1" name="Shape 9"/>
          <p:cNvSpPr/>
          <p:nvPr/>
        </p:nvSpPr>
        <p:spPr>
          <a:xfrm>
            <a:off x="2788920" y="1508760"/>
            <a:ext cx="365760" cy="365760"/>
          </a:xfrm>
          <a:prstGeom prst="ellipse">
            <a:avLst/>
          </a:prstGeom>
          <a:solidFill>
            <a:srgbClr val="1D3B6E"/>
          </a:solidFill>
          <a:ln/>
        </p:spPr>
      </p:sp>
      <p:sp>
        <p:nvSpPr>
          <p:cNvPr id="12" name="Text 10"/>
          <p:cNvSpPr txBox="1"/>
          <p:nvPr/>
        </p:nvSpPr>
        <p:spPr>
          <a:xfrm>
            <a:off x="2788920" y="15087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2788920" y="1965960"/>
            <a:ext cx="1645920" cy="502920"/>
          </a:xfrm>
          <a:prstGeom prst="rect">
            <a:avLst/>
          </a:prstGeom>
          <a:noFill/>
          <a:ln/>
        </p:spPr>
        <p:txBody>
          <a:bodyPr wrap="square" lIns="0" tIns="0" rIns="0" bIns="0" rtlCol="0" anchor="t"/>
          <a:lstStyle/>
          <a:p>
            <a:pPr indent="0" marL="0">
              <a:buNone/>
            </a:pPr>
            <a:r>
              <a:rPr lang="en-US" sz="1400" b="1" dirty="0">
                <a:solidFill>
                  <a:srgbClr val="0F2447"/>
                </a:solidFill>
                <a:latin typeface="Cambria" pitchFamily="34" charset="0"/>
                <a:ea typeface="Cambria" pitchFamily="34" charset="-122"/>
                <a:cs typeface="Cambria" pitchFamily="34" charset="-120"/>
              </a:rPr>
              <a:t>Âm thanh và học liệu</a:t>
            </a:r>
            <a:endParaRPr lang="en-US" sz="1400" dirty="0"/>
          </a:p>
        </p:txBody>
      </p:sp>
      <p:sp>
        <p:nvSpPr>
          <p:cNvPr id="14" name="Text 12"/>
          <p:cNvSpPr txBox="1"/>
          <p:nvPr/>
        </p:nvSpPr>
        <p:spPr>
          <a:xfrm>
            <a:off x="2788920" y="2487168"/>
            <a:ext cx="1645920" cy="548640"/>
          </a:xfrm>
          <a:prstGeom prst="rect">
            <a:avLst/>
          </a:prstGeom>
          <a:noFill/>
          <a:ln/>
        </p:spPr>
        <p:txBody>
          <a:bodyPr wrap="square" lIns="0" tIns="0" rIns="0" bIns="0" rtlCol="0" anchor="t"/>
          <a:lstStyle/>
          <a:p>
            <a:pPr indent="0" marL="0">
              <a:buNone/>
            </a:pPr>
            <a:r>
              <a:rPr lang="en-US" sz="1100" dirty="0">
                <a:solidFill>
                  <a:srgbClr val="566175"/>
                </a:solidFill>
                <a:latin typeface="Calibri" pitchFamily="34" charset="0"/>
                <a:ea typeface="Calibri" pitchFamily="34" charset="-122"/>
                <a:cs typeface="Calibri" pitchFamily="34" charset="-120"/>
              </a:rPr>
              <a:t>Âm thanh, duyệt học liệu, góc phụ huynh</a:t>
            </a:r>
            <a:endParaRPr lang="en-US" sz="1100" dirty="0"/>
          </a:p>
        </p:txBody>
      </p:sp>
      <p:sp>
        <p:nvSpPr>
          <p:cNvPr id="15" name="Shape 13"/>
          <p:cNvSpPr/>
          <p:nvPr/>
        </p:nvSpPr>
        <p:spPr>
          <a:xfrm rot="5400000">
            <a:off x="4553712" y="2148840"/>
            <a:ext cx="128016" cy="182880"/>
          </a:xfrm>
          <a:prstGeom prst="triangle">
            <a:avLst/>
          </a:prstGeom>
          <a:solidFill>
            <a:srgbClr val="C9A24A"/>
          </a:solidFill>
          <a:ln/>
        </p:spPr>
      </p:sp>
      <p:sp>
        <p:nvSpPr>
          <p:cNvPr id="16" name="Shape 14"/>
          <p:cNvSpPr/>
          <p:nvPr/>
        </p:nvSpPr>
        <p:spPr>
          <a:xfrm>
            <a:off x="4718304" y="1371600"/>
            <a:ext cx="1901952" cy="1737360"/>
          </a:xfrm>
          <a:prstGeom prst="roundRect">
            <a:avLst>
              <a:gd name="adj" fmla="val 631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17" name="Shape 15"/>
          <p:cNvSpPr/>
          <p:nvPr/>
        </p:nvSpPr>
        <p:spPr>
          <a:xfrm>
            <a:off x="4873752" y="1508760"/>
            <a:ext cx="365760" cy="365760"/>
          </a:xfrm>
          <a:prstGeom prst="ellipse">
            <a:avLst/>
          </a:prstGeom>
          <a:solidFill>
            <a:srgbClr val="1D3B6E"/>
          </a:solidFill>
          <a:ln/>
        </p:spPr>
      </p:sp>
      <p:sp>
        <p:nvSpPr>
          <p:cNvPr id="18" name="Text 16"/>
          <p:cNvSpPr txBox="1"/>
          <p:nvPr/>
        </p:nvSpPr>
        <p:spPr>
          <a:xfrm>
            <a:off x="4873752" y="15087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4873752" y="1965960"/>
            <a:ext cx="1645920" cy="502920"/>
          </a:xfrm>
          <a:prstGeom prst="rect">
            <a:avLst/>
          </a:prstGeom>
          <a:noFill/>
          <a:ln/>
        </p:spPr>
        <p:txBody>
          <a:bodyPr wrap="square" lIns="0" tIns="0" rIns="0" bIns="0" rtlCol="0" anchor="t"/>
          <a:lstStyle/>
          <a:p>
            <a:pPr indent="0" marL="0">
              <a:buNone/>
            </a:pPr>
            <a:r>
              <a:rPr lang="en-US" sz="1400" b="1" dirty="0">
                <a:solidFill>
                  <a:srgbClr val="0F2447"/>
                </a:solidFill>
                <a:latin typeface="Cambria" pitchFamily="34" charset="0"/>
                <a:ea typeface="Cambria" pitchFamily="34" charset="-122"/>
                <a:cs typeface="Cambria" pitchFamily="34" charset="-120"/>
              </a:rPr>
              <a:t>Kiểm thử tổng thể</a:t>
            </a:r>
            <a:endParaRPr lang="en-US" sz="1400" dirty="0"/>
          </a:p>
        </p:txBody>
      </p:sp>
      <p:sp>
        <p:nvSpPr>
          <p:cNvPr id="20" name="Text 18"/>
          <p:cNvSpPr txBox="1"/>
          <p:nvPr/>
        </p:nvSpPr>
        <p:spPr>
          <a:xfrm>
            <a:off x="4873752" y="2487168"/>
            <a:ext cx="1645920" cy="548640"/>
          </a:xfrm>
          <a:prstGeom prst="rect">
            <a:avLst/>
          </a:prstGeom>
          <a:noFill/>
          <a:ln/>
        </p:spPr>
        <p:txBody>
          <a:bodyPr wrap="square" lIns="0" tIns="0" rIns="0" bIns="0" rtlCol="0" anchor="t"/>
          <a:lstStyle/>
          <a:p>
            <a:pPr indent="0" marL="0">
              <a:buNone/>
            </a:pPr>
            <a:r>
              <a:rPr lang="en-US" sz="1100" dirty="0">
                <a:solidFill>
                  <a:srgbClr val="566175"/>
                </a:solidFill>
                <a:latin typeface="Calibri" pitchFamily="34" charset="0"/>
                <a:ea typeface="Calibri" pitchFamily="34" charset="-122"/>
                <a:cs typeface="Calibri" pitchFamily="34" charset="-120"/>
              </a:rPr>
              <a:t>Rà soát an toàn, giao diện, thiết bị</a:t>
            </a:r>
            <a:endParaRPr lang="en-US" sz="1100" dirty="0"/>
          </a:p>
        </p:txBody>
      </p:sp>
      <p:sp>
        <p:nvSpPr>
          <p:cNvPr id="21" name="Shape 19"/>
          <p:cNvSpPr/>
          <p:nvPr/>
        </p:nvSpPr>
        <p:spPr>
          <a:xfrm rot="5400000">
            <a:off x="6638544" y="2148840"/>
            <a:ext cx="128016" cy="182880"/>
          </a:xfrm>
          <a:prstGeom prst="triangle">
            <a:avLst/>
          </a:prstGeom>
          <a:solidFill>
            <a:srgbClr val="C9A24A"/>
          </a:solidFill>
          <a:ln/>
        </p:spPr>
      </p:sp>
      <p:sp>
        <p:nvSpPr>
          <p:cNvPr id="22" name="Shape 20"/>
          <p:cNvSpPr/>
          <p:nvPr/>
        </p:nvSpPr>
        <p:spPr>
          <a:xfrm>
            <a:off x="6803136" y="1371600"/>
            <a:ext cx="1901952" cy="1737360"/>
          </a:xfrm>
          <a:prstGeom prst="roundRect">
            <a:avLst>
              <a:gd name="adj" fmla="val 6316"/>
            </a:avLst>
          </a:prstGeom>
          <a:solidFill>
            <a:srgbClr val="FFFFFF"/>
          </a:solidFill>
          <a:ln w="9525">
            <a:solidFill>
              <a:srgbClr val="E7E1D3"/>
            </a:solidFill>
            <a:prstDash val="solid"/>
          </a:ln>
          <a:effectLst>
            <a:outerShdw sx="100000" sy="100000" kx="0" ky="0" algn="bl" rotWithShape="0" blurRad="101600" dist="25400" dir="5400000">
              <a:srgbClr val="1F2A3C">
                <a:alpha val="14000"/>
              </a:srgbClr>
            </a:outerShdw>
          </a:effectLst>
        </p:spPr>
      </p:sp>
      <p:sp>
        <p:nvSpPr>
          <p:cNvPr id="23" name="Shape 21"/>
          <p:cNvSpPr/>
          <p:nvPr/>
        </p:nvSpPr>
        <p:spPr>
          <a:xfrm>
            <a:off x="6958584" y="1508760"/>
            <a:ext cx="365760" cy="365760"/>
          </a:xfrm>
          <a:prstGeom prst="ellipse">
            <a:avLst/>
          </a:prstGeom>
          <a:solidFill>
            <a:srgbClr val="1D3B6E"/>
          </a:solidFill>
          <a:ln/>
        </p:spPr>
      </p:sp>
      <p:sp>
        <p:nvSpPr>
          <p:cNvPr id="24" name="Text 22"/>
          <p:cNvSpPr txBox="1"/>
          <p:nvPr/>
        </p:nvSpPr>
        <p:spPr>
          <a:xfrm>
            <a:off x="6958584" y="15087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6958584" y="1965960"/>
            <a:ext cx="1645920" cy="502920"/>
          </a:xfrm>
          <a:prstGeom prst="rect">
            <a:avLst/>
          </a:prstGeom>
          <a:noFill/>
          <a:ln/>
        </p:spPr>
        <p:txBody>
          <a:bodyPr wrap="square" lIns="0" tIns="0" rIns="0" bIns="0" rtlCol="0" anchor="t"/>
          <a:lstStyle/>
          <a:p>
            <a:pPr indent="0" marL="0">
              <a:buNone/>
            </a:pPr>
            <a:r>
              <a:rPr lang="en-US" sz="1400" b="1" dirty="0">
                <a:solidFill>
                  <a:srgbClr val="0F2447"/>
                </a:solidFill>
                <a:latin typeface="Cambria" pitchFamily="34" charset="0"/>
                <a:ea typeface="Cambria" pitchFamily="34" charset="-122"/>
                <a:cs typeface="Cambria" pitchFamily="34" charset="-120"/>
              </a:rPr>
              <a:t>Đưa vào sử dụng</a:t>
            </a:r>
            <a:endParaRPr lang="en-US" sz="1400" dirty="0"/>
          </a:p>
        </p:txBody>
      </p:sp>
      <p:sp>
        <p:nvSpPr>
          <p:cNvPr id="26" name="Text 24"/>
          <p:cNvSpPr txBox="1"/>
          <p:nvPr/>
        </p:nvSpPr>
        <p:spPr>
          <a:xfrm>
            <a:off x="6958584" y="2487168"/>
            <a:ext cx="1645920" cy="548640"/>
          </a:xfrm>
          <a:prstGeom prst="rect">
            <a:avLst/>
          </a:prstGeom>
          <a:noFill/>
          <a:ln/>
        </p:spPr>
        <p:txBody>
          <a:bodyPr wrap="square" lIns="0" tIns="0" rIns="0" bIns="0" rtlCol="0" anchor="t"/>
          <a:lstStyle/>
          <a:p>
            <a:pPr indent="0" marL="0">
              <a:buNone/>
            </a:pPr>
            <a:r>
              <a:rPr lang="en-US" sz="1100" dirty="0">
                <a:solidFill>
                  <a:srgbClr val="566175"/>
                </a:solidFill>
                <a:latin typeface="Calibri" pitchFamily="34" charset="0"/>
                <a:ea typeface="Calibri" pitchFamily="34" charset="-122"/>
                <a:cs typeface="Calibri" pitchFamily="34" charset="-120"/>
              </a:rPr>
              <a:t>Theo kế hoạch, từng bước</a:t>
            </a:r>
            <a:endParaRPr lang="en-US" sz="1100" dirty="0"/>
          </a:p>
        </p:txBody>
      </p:sp>
      <p:sp>
        <p:nvSpPr>
          <p:cNvPr id="27" name="Text 25"/>
          <p:cNvSpPr txBox="1"/>
          <p:nvPr/>
        </p:nvSpPr>
        <p:spPr>
          <a:xfrm>
            <a:off x="548640" y="3337560"/>
            <a:ext cx="4572000" cy="292608"/>
          </a:xfrm>
          <a:prstGeom prst="rect">
            <a:avLst/>
          </a:prstGeom>
          <a:noFill/>
          <a:ln/>
        </p:spPr>
        <p:txBody>
          <a:bodyPr wrap="square" lIns="0" tIns="0" rIns="0" bIns="0" rtlCol="0" anchor="ctr"/>
          <a:lstStyle/>
          <a:p>
            <a:pPr indent="0" marL="0">
              <a:buNone/>
            </a:pPr>
            <a:r>
              <a:rPr lang="en-US" sz="1500" b="1" dirty="0">
                <a:solidFill>
                  <a:srgbClr val="0F2447"/>
                </a:solidFill>
                <a:latin typeface="Cambria" pitchFamily="34" charset="0"/>
                <a:ea typeface="Cambria" pitchFamily="34" charset="-122"/>
                <a:cs typeface="Cambria" pitchFamily="34" charset="-120"/>
              </a:rPr>
              <a:t>Định hướng phát triển sau</a:t>
            </a:r>
            <a:endParaRPr lang="en-US" sz="1500" dirty="0"/>
          </a:p>
        </p:txBody>
      </p:sp>
      <p:sp>
        <p:nvSpPr>
          <p:cNvPr id="28" name="Shape 26"/>
          <p:cNvSpPr/>
          <p:nvPr/>
        </p:nvSpPr>
        <p:spPr>
          <a:xfrm>
            <a:off x="548640" y="3749040"/>
            <a:ext cx="2560320" cy="594360"/>
          </a:xfrm>
          <a:prstGeom prst="roundRect">
            <a:avLst>
              <a:gd name="adj" fmla="val 18462"/>
            </a:avLst>
          </a:prstGeom>
          <a:solidFill>
            <a:srgbClr val="ECE8F6"/>
          </a:solidFill>
          <a:ln w="12700">
            <a:solidFill>
              <a:srgbClr val="CFC6EA"/>
            </a:solidFill>
            <a:prstDash val="solid"/>
          </a:ln>
        </p:spPr>
      </p:sp>
      <p:sp>
        <p:nvSpPr>
          <p:cNvPr id="29" name="Text 27"/>
          <p:cNvSpPr txBox="1"/>
          <p:nvPr/>
        </p:nvSpPr>
        <p:spPr>
          <a:xfrm>
            <a:off x="548640" y="3749040"/>
            <a:ext cx="2560320" cy="594360"/>
          </a:xfrm>
          <a:prstGeom prst="rect">
            <a:avLst/>
          </a:prstGeom>
          <a:noFill/>
          <a:ln/>
        </p:spPr>
        <p:txBody>
          <a:bodyPr wrap="square" lIns="0" tIns="0" rIns="0" bIns="0" rtlCol="0" anchor="ctr"/>
          <a:lstStyle/>
          <a:p>
            <a:pPr algn="ctr" indent="0" marL="0">
              <a:buNone/>
            </a:pPr>
            <a:r>
              <a:rPr lang="en-US" sz="1400" b="1" dirty="0">
                <a:solidFill>
                  <a:srgbClr val="1D3B6E"/>
                </a:solidFill>
                <a:latin typeface="Cambria" pitchFamily="34" charset="0"/>
                <a:ea typeface="Cambria" pitchFamily="34" charset="-122"/>
                <a:cs typeface="Cambria" pitchFamily="34" charset="-120"/>
              </a:rPr>
              <a:t>Rừng chữ kỳ diệu</a:t>
            </a:r>
            <a:endParaRPr lang="en-US" sz="1400" dirty="0"/>
          </a:p>
        </p:txBody>
      </p:sp>
      <p:sp>
        <p:nvSpPr>
          <p:cNvPr id="30" name="Shape 28"/>
          <p:cNvSpPr/>
          <p:nvPr/>
        </p:nvSpPr>
        <p:spPr>
          <a:xfrm>
            <a:off x="3291840" y="3749040"/>
            <a:ext cx="2560320" cy="594360"/>
          </a:xfrm>
          <a:prstGeom prst="roundRect">
            <a:avLst>
              <a:gd name="adj" fmla="val 18462"/>
            </a:avLst>
          </a:prstGeom>
          <a:solidFill>
            <a:srgbClr val="ECE8F6"/>
          </a:solidFill>
          <a:ln w="12700">
            <a:solidFill>
              <a:srgbClr val="CFC6EA"/>
            </a:solidFill>
            <a:prstDash val="solid"/>
          </a:ln>
        </p:spPr>
      </p:sp>
      <p:sp>
        <p:nvSpPr>
          <p:cNvPr id="31" name="Text 29"/>
          <p:cNvSpPr txBox="1"/>
          <p:nvPr/>
        </p:nvSpPr>
        <p:spPr>
          <a:xfrm>
            <a:off x="3291840" y="3749040"/>
            <a:ext cx="2560320" cy="594360"/>
          </a:xfrm>
          <a:prstGeom prst="rect">
            <a:avLst/>
          </a:prstGeom>
          <a:noFill/>
          <a:ln/>
        </p:spPr>
        <p:txBody>
          <a:bodyPr wrap="square" lIns="0" tIns="0" rIns="0" bIns="0" rtlCol="0" anchor="ctr"/>
          <a:lstStyle/>
          <a:p>
            <a:pPr algn="ctr" indent="0" marL="0">
              <a:buNone/>
            </a:pPr>
            <a:r>
              <a:rPr lang="en-US" sz="1400" b="1" dirty="0">
                <a:solidFill>
                  <a:srgbClr val="1D3B6E"/>
                </a:solidFill>
                <a:latin typeface="Cambria" pitchFamily="34" charset="0"/>
                <a:ea typeface="Cambria" pitchFamily="34" charset="-122"/>
                <a:cs typeface="Cambria" pitchFamily="34" charset="-120"/>
              </a:rPr>
              <a:t>Đảo dấu thanh</a:t>
            </a:r>
            <a:endParaRPr lang="en-US" sz="1400" dirty="0"/>
          </a:p>
        </p:txBody>
      </p:sp>
      <p:sp>
        <p:nvSpPr>
          <p:cNvPr id="32" name="Shape 30"/>
          <p:cNvSpPr/>
          <p:nvPr/>
        </p:nvSpPr>
        <p:spPr>
          <a:xfrm>
            <a:off x="6035040" y="3749040"/>
            <a:ext cx="2560320" cy="594360"/>
          </a:xfrm>
          <a:prstGeom prst="roundRect">
            <a:avLst>
              <a:gd name="adj" fmla="val 18462"/>
            </a:avLst>
          </a:prstGeom>
          <a:solidFill>
            <a:srgbClr val="ECE8F6"/>
          </a:solidFill>
          <a:ln w="12700">
            <a:solidFill>
              <a:srgbClr val="CFC6EA"/>
            </a:solidFill>
            <a:prstDash val="solid"/>
          </a:ln>
        </p:spPr>
      </p:sp>
      <p:sp>
        <p:nvSpPr>
          <p:cNvPr id="33" name="Text 31"/>
          <p:cNvSpPr txBox="1"/>
          <p:nvPr/>
        </p:nvSpPr>
        <p:spPr>
          <a:xfrm>
            <a:off x="6035040" y="3749040"/>
            <a:ext cx="2560320" cy="594360"/>
          </a:xfrm>
          <a:prstGeom prst="rect">
            <a:avLst/>
          </a:prstGeom>
          <a:noFill/>
          <a:ln/>
        </p:spPr>
        <p:txBody>
          <a:bodyPr wrap="square" lIns="0" tIns="0" rIns="0" bIns="0" rtlCol="0" anchor="ctr"/>
          <a:lstStyle/>
          <a:p>
            <a:pPr algn="ctr" indent="0" marL="0">
              <a:buNone/>
            </a:pPr>
            <a:r>
              <a:rPr lang="en-US" sz="1400" b="1" dirty="0">
                <a:solidFill>
                  <a:srgbClr val="1D3B6E"/>
                </a:solidFill>
                <a:latin typeface="Cambria" pitchFamily="34" charset="0"/>
                <a:ea typeface="Cambria" pitchFamily="34" charset="-122"/>
                <a:cs typeface="Cambria" pitchFamily="34" charset="-120"/>
              </a:rPr>
              <a:t>Lâu đài ghép vần</a:t>
            </a:r>
            <a:endParaRPr lang="en-US" sz="1400" dirty="0"/>
          </a:p>
        </p:txBody>
      </p:sp>
      <p:sp>
        <p:nvSpPr>
          <p:cNvPr id="34" name="Shape 32"/>
          <p:cNvSpPr/>
          <p:nvPr/>
        </p:nvSpPr>
        <p:spPr>
          <a:xfrm>
            <a:off x="3246120" y="3374136"/>
            <a:ext cx="1595628" cy="256032"/>
          </a:xfrm>
          <a:prstGeom prst="roundRect">
            <a:avLst>
              <a:gd name="adj" fmla="val 50000"/>
            </a:avLst>
          </a:prstGeom>
          <a:solidFill>
            <a:srgbClr val="FFFFFF"/>
          </a:solidFill>
          <a:ln w="15875">
            <a:solidFill>
              <a:srgbClr val="5B6678"/>
            </a:solidFill>
            <a:prstDash val="solid"/>
          </a:ln>
        </p:spPr>
      </p:sp>
      <p:sp>
        <p:nvSpPr>
          <p:cNvPr id="35" name="Text 33"/>
          <p:cNvSpPr txBox="1"/>
          <p:nvPr/>
        </p:nvSpPr>
        <p:spPr>
          <a:xfrm>
            <a:off x="3246120" y="3374136"/>
            <a:ext cx="1595628" cy="256032"/>
          </a:xfrm>
          <a:prstGeom prst="rect">
            <a:avLst/>
          </a:prstGeom>
          <a:noFill/>
          <a:ln/>
        </p:spPr>
        <p:txBody>
          <a:bodyPr wrap="square" lIns="0" tIns="0" rIns="0" bIns="0" rtlCol="0" anchor="ctr"/>
          <a:lstStyle/>
          <a:p>
            <a:pPr algn="ctr" indent="0" marL="0">
              <a:buNone/>
            </a:pPr>
            <a:r>
              <a:rPr lang="en-US" sz="1000" b="1" dirty="0">
                <a:solidFill>
                  <a:srgbClr val="5B6678"/>
                </a:solidFill>
                <a:latin typeface="Calibri" pitchFamily="34" charset="0"/>
                <a:ea typeface="Calibri" pitchFamily="34" charset="-122"/>
                <a:cs typeface="Calibri" pitchFamily="34" charset="-120"/>
              </a:rPr>
              <a:t>SAU KHI NỘP DỰ ÁN</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6617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1371600" y="2377440"/>
            <a:ext cx="5486400" cy="5486400"/>
          </a:xfrm>
          <a:prstGeom prst="ellipse">
            <a:avLst/>
          </a:prstGeom>
          <a:solidFill>
            <a:srgbClr val="1D3B6E">
              <a:alpha val="55000"/>
            </a:srgbClr>
          </a:solidFill>
          <a:ln/>
        </p:spPr>
      </p:sp>
      <p:sp>
        <p:nvSpPr>
          <p:cNvPr id="3" name="Text 1"/>
          <p:cNvSpPr txBox="1"/>
          <p:nvPr/>
        </p:nvSpPr>
        <p:spPr>
          <a:xfrm>
            <a:off x="640080" y="548640"/>
            <a:ext cx="7863840" cy="320040"/>
          </a:xfrm>
          <a:prstGeom prst="rect">
            <a:avLst/>
          </a:prstGeom>
          <a:noFill/>
          <a:ln/>
        </p:spPr>
        <p:txBody>
          <a:bodyPr wrap="square" lIns="0" tIns="0" rIns="0" bIns="0" rtlCol="0" anchor="ctr"/>
          <a:lstStyle/>
          <a:p>
            <a:pPr algn="ctr" indent="0" marL="0">
              <a:buNone/>
            </a:pPr>
            <a:r>
              <a:rPr lang="en-US" sz="1400" b="1" spc="500" kern="0" dirty="0">
                <a:solidFill>
                  <a:srgbClr val="C9A24A"/>
                </a:solidFill>
                <a:latin typeface="Calibri" pitchFamily="34" charset="0"/>
                <a:ea typeface="Calibri" pitchFamily="34" charset="-122"/>
                <a:cs typeface="Calibri" pitchFamily="34" charset="-120"/>
              </a:rPr>
              <a:t>READMATE AI</a:t>
            </a:r>
            <a:endParaRPr lang="en-US" sz="1400" dirty="0"/>
          </a:p>
        </p:txBody>
      </p:sp>
      <p:sp>
        <p:nvSpPr>
          <p:cNvPr id="4" name="Text 2"/>
          <p:cNvSpPr txBox="1"/>
          <p:nvPr/>
        </p:nvSpPr>
        <p:spPr>
          <a:xfrm>
            <a:off x="1097280" y="960120"/>
            <a:ext cx="6949440" cy="12801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Để mỗi ngày luyện đọc là một hành trình thú vị</a:t>
            </a:r>
            <a:endParaRPr lang="en-US" sz="3400" dirty="0"/>
          </a:p>
        </p:txBody>
      </p:sp>
      <p:pic>
        <p:nvPicPr>
          <p:cNvPr id="5" name="Image 0" descr="Bạn nhỏ thám hiểm">    </p:cNvPr>
          <p:cNvPicPr>
            <a:picLocks noChangeAspect="1"/>
          </p:cNvPicPr>
          <p:nvPr/>
        </p:nvPicPr>
        <p:blipFill>
          <a:blip r:embed="rId1"/>
          <a:stretch>
            <a:fillRect/>
          </a:stretch>
        </p:blipFill>
        <p:spPr>
          <a:xfrm>
            <a:off x="1737360" y="2331720"/>
            <a:ext cx="1737360" cy="1737360"/>
          </a:xfrm>
          <a:prstGeom prst="rect">
            <a:avLst/>
          </a:prstGeom>
        </p:spPr>
      </p:pic>
      <p:pic>
        <p:nvPicPr>
          <p:cNvPr id="6" name="Image 1" descr="Cú Bông">    </p:cNvPr>
          <p:cNvPicPr>
            <a:picLocks noChangeAspect="1"/>
          </p:cNvPicPr>
          <p:nvPr/>
        </p:nvPicPr>
        <p:blipFill>
          <a:blip r:embed="rId2"/>
          <a:stretch>
            <a:fillRect/>
          </a:stretch>
        </p:blipFill>
        <p:spPr>
          <a:xfrm>
            <a:off x="3703320" y="2331720"/>
            <a:ext cx="1737360" cy="1737360"/>
          </a:xfrm>
          <a:prstGeom prst="rect">
            <a:avLst/>
          </a:prstGeom>
        </p:spPr>
      </p:pic>
      <p:pic>
        <p:nvPicPr>
          <p:cNvPr id="7" name="Image 2" descr="Bạn quái vật">    </p:cNvPr>
          <p:cNvPicPr>
            <a:picLocks noChangeAspect="1"/>
          </p:cNvPicPr>
          <p:nvPr/>
        </p:nvPicPr>
        <p:blipFill>
          <a:blip r:embed="rId3"/>
          <a:stretch>
            <a:fillRect/>
          </a:stretch>
        </p:blipFill>
        <p:spPr>
          <a:xfrm>
            <a:off x="5669280" y="2331720"/>
            <a:ext cx="1737360" cy="1737360"/>
          </a:xfrm>
          <a:prstGeom prst="rect">
            <a:avLst/>
          </a:prstGeom>
        </p:spPr>
      </p:pic>
      <p:sp>
        <p:nvSpPr>
          <p:cNvPr id="8" name="Text 3"/>
          <p:cNvSpPr txBox="1"/>
          <p:nvPr/>
        </p:nvSpPr>
        <p:spPr>
          <a:xfrm>
            <a:off x="1097280" y="4114800"/>
            <a:ext cx="6949440" cy="548640"/>
          </a:xfrm>
          <a:prstGeom prst="rect">
            <a:avLst/>
          </a:prstGeom>
          <a:noFill/>
          <a:ln/>
        </p:spPr>
        <p:txBody>
          <a:bodyPr wrap="square" lIns="0" tIns="0" rIns="0" bIns="0" rtlCol="0" anchor="ctr"/>
          <a:lstStyle/>
          <a:p>
            <a:pPr algn="ctr" indent="0" marL="0">
              <a:buNone/>
            </a:pPr>
            <a:r>
              <a:rPr lang="en-US" sz="2400" i="1" dirty="0">
                <a:solidFill>
                  <a:srgbClr val="C9A24A"/>
                </a:solidFill>
                <a:latin typeface="Cambria" pitchFamily="34" charset="0"/>
                <a:ea typeface="Cambria" pitchFamily="34" charset="-122"/>
                <a:cs typeface="Cambria" pitchFamily="34" charset="-120"/>
              </a:rPr>
              <a:t>Xin trân trọng cảm ơn!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ReadMate AI — Báo cáo dự án</dc:title>
  <dc:subject>Học Tiếng Việt qua hành trình khám phá</dc:subject>
  <dc:creator>Nhóm dự án ReadMate AI</dc:creator>
  <cp:lastModifiedBy>Nhóm dự án ReadMate AI</cp:lastModifiedBy>
  <cp:revision>1</cp:revision>
  <dcterms:created xsi:type="dcterms:W3CDTF">2026-10-22T12:19:32Z</dcterms:created>
  <dcterms:modified xsi:type="dcterms:W3CDTF">2026-10-22T12:19:32Z</dcterms:modified>
</cp:coreProperties>
</file>